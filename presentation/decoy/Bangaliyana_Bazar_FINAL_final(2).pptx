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FF00"/>
        </a:solidFill>
      </p:bgPr>
    </p:bg>
    <p:spTree>
      <p:nvGrpSpPr>
        <p:cNvPr id="1" name=""/>
        <p:cNvGrpSpPr/>
        <p:nvPr/>
      </p:nvGrpSpPr>
      <p:grpSpPr>
        <a:xfrm>
          <a:off x="0" y="0"/>
          <a:ext cx="0" cy="0"/>
          <a:chOff x="0" y="0"/>
          <a:chExt cx="0" cy="0"/>
        </a:xfrm>
      </p:grpSpPr>
      <p:sp>
        <p:nvSpPr>
          <p:cNvPr id="2" name="Shape 0"/>
          <p:cNvSpPr/>
          <p:nvPr/>
        </p:nvSpPr>
        <p:spPr>
          <a:xfrm>
            <a:off x="-914400" y="-914400"/>
            <a:ext cx="4572000" cy="4572000"/>
          </a:xfrm>
          <a:prstGeom prst="ellipse">
            <a:avLst/>
          </a:prstGeom>
          <a:solidFill>
            <a:srgbClr val="FFFF00"/>
          </a:solidFill>
          <a:ln w="101600">
            <a:solidFill>
              <a:srgbClr val="FF00FF"/>
            </a:solidFill>
            <a:prstDash val="solid"/>
          </a:ln>
        </p:spPr>
      </p:sp>
      <p:sp>
        <p:nvSpPr>
          <p:cNvPr id="3" name="Shape 1"/>
          <p:cNvSpPr/>
          <p:nvPr/>
        </p:nvSpPr>
        <p:spPr>
          <a:xfrm>
            <a:off x="6858000" y="4389120"/>
            <a:ext cx="2286000" cy="2286000"/>
          </a:xfrm>
          <a:prstGeom prst="star5">
            <a:avLst/>
          </a:prstGeom>
          <a:solidFill>
            <a:srgbClr val="FF0000"/>
          </a:solidFill>
          <a:ln/>
        </p:spPr>
      </p:sp>
      <p:sp>
        <p:nvSpPr>
          <p:cNvPr id="4" name="Text 2"/>
          <p:cNvSpPr txBox="1"/>
          <p:nvPr/>
        </p:nvSpPr>
        <p:spPr>
          <a:xfrm>
            <a:off x="182880" y="274320"/>
            <a:ext cx="8778240" cy="914400"/>
          </a:xfrm>
          <a:prstGeom prst="rect">
            <a:avLst/>
          </a:prstGeom>
          <a:noFill/>
          <a:ln/>
        </p:spPr>
        <p:txBody>
          <a:bodyPr wrap="square" rtlCol="0" anchor="ctr"/>
          <a:lstStyle/>
          <a:p>
            <a:pPr algn="ctr" indent="0" marL="0">
              <a:buNone/>
            </a:pPr>
            <a:r>
              <a:rPr lang="en-US" sz="3400" dirty="0">
                <a:solidFill>
                  <a:srgbClr val="FFFF00"/>
                </a:solidFill>
                <a:latin typeface="Papyrus" pitchFamily="34" charset="0"/>
                <a:ea typeface="Papyrus" pitchFamily="34" charset="-122"/>
                <a:cs typeface="Papyrus" pitchFamily="34" charset="-120"/>
              </a:rPr>
              <a:t>WELCOME TO OUR PRESENTATION!!!</a:t>
            </a:r>
            <a:endParaRPr lang="en-US" sz="3400" dirty="0"/>
          </a:p>
        </p:txBody>
      </p:sp>
      <p:sp>
        <p:nvSpPr>
          <p:cNvPr id="5" name="Text 3"/>
          <p:cNvSpPr txBox="1"/>
          <p:nvPr/>
        </p:nvSpPr>
        <p:spPr>
          <a:xfrm rot="-360000">
            <a:off x="0" y="1463040"/>
            <a:ext cx="9144000" cy="1463040"/>
          </a:xfrm>
          <a:prstGeom prst="rect">
            <a:avLst/>
          </a:prstGeom>
          <a:noFill/>
          <a:ln/>
          <a:effectLst>
            <a:outerShdw sx="100000" sy="100000" kx="0" ky="0" algn="bl" rotWithShape="0" blurRad="101600" dist="76200" dir="2700000">
              <a:srgbClr val="0000FF">
                <a:alpha val="100000"/>
              </a:srgbClr>
            </a:outerShdw>
          </a:effectLst>
        </p:spPr>
        <p:txBody>
          <a:bodyPr wrap="square" rtlCol="0" anchor="ctr"/>
          <a:lstStyle/>
          <a:p>
            <a:pPr algn="ctr" indent="0" marL="0">
              <a:buNone/>
            </a:pPr>
            <a:r>
              <a:rPr lang="en-US" sz="6600" dirty="0">
                <a:solidFill>
                  <a:srgbClr val="FF0000"/>
                </a:solidFill>
                <a:latin typeface="Impact" pitchFamily="34" charset="0"/>
                <a:ea typeface="Impact" pitchFamily="34" charset="-122"/>
                <a:cs typeface="Impact" pitchFamily="34" charset="-120"/>
              </a:rPr>
              <a:t>BANGALIYANA BAZAR</a:t>
            </a:r>
            <a:endParaRPr lang="en-US" sz="6600" dirty="0"/>
          </a:p>
        </p:txBody>
      </p:sp>
      <p:sp>
        <p:nvSpPr>
          <p:cNvPr id="6" name="Text 4"/>
          <p:cNvSpPr txBox="1"/>
          <p:nvPr/>
        </p:nvSpPr>
        <p:spPr>
          <a:xfrm>
            <a:off x="457200" y="3108960"/>
            <a:ext cx="8229600" cy="914400"/>
          </a:xfrm>
          <a:prstGeom prst="rect">
            <a:avLst/>
          </a:prstGeom>
          <a:noFill/>
          <a:ln/>
        </p:spPr>
        <p:txBody>
          <a:bodyPr wrap="square" rtlCol="0" anchor="ctr"/>
          <a:lstStyle/>
          <a:p>
            <a:pPr algn="ctr" indent="0" marL="0">
              <a:buNone/>
            </a:pPr>
            <a:r>
              <a:rPr lang="en-US" sz="2200" dirty="0">
                <a:solidFill>
                  <a:srgbClr val="33FF33"/>
                </a:solidFill>
                <a:latin typeface="Comic Sans MS" pitchFamily="34" charset="0"/>
                <a:ea typeface="Comic Sans MS" pitchFamily="34" charset="-122"/>
                <a:cs typeface="Comic Sans MS" pitchFamily="34" charset="-120"/>
              </a:rPr>
              <a:t>An E-Commerce Website Project For Selling Products Online Using Modern Web Technologies</a:t>
            </a:r>
            <a:endParaRPr lang="en-US" sz="2200" dirty="0"/>
          </a:p>
        </p:txBody>
      </p:sp>
      <p:sp>
        <p:nvSpPr>
          <p:cNvPr id="7" name="Text 5"/>
          <p:cNvSpPr txBox="1"/>
          <p:nvPr/>
        </p:nvSpPr>
        <p:spPr>
          <a:xfrm>
            <a:off x="457200" y="4206240"/>
            <a:ext cx="5943600" cy="2194560"/>
          </a:xfrm>
          <a:prstGeom prst="rect">
            <a:avLst/>
          </a:prstGeom>
          <a:noFill/>
          <a:ln/>
        </p:spPr>
        <p:txBody>
          <a:bodyPr wrap="square" rtlCol="0" anchor="ctr"/>
          <a:lstStyle/>
          <a:p>
            <a:pPr indent="0" marL="0">
              <a:buNone/>
            </a:pPr>
            <a:r>
              <a:rPr lang="en-US" sz="2000" dirty="0">
                <a:solidFill>
                  <a:srgbClr val="66FF66"/>
                </a:solidFill>
                <a:latin typeface="Times New Roman" pitchFamily="34" charset="0"/>
                <a:ea typeface="Times New Roman" pitchFamily="34" charset="-122"/>
                <a:cs typeface="Times New Roman" pitchFamily="34" charset="-120"/>
              </a:rPr>
              <a:t>Presented By: Group Members</a:t>
            </a:r>
            <a:endParaRPr lang="en-US" sz="2000" dirty="0"/>
          </a:p>
          <a:p>
            <a:pPr indent="0" marL="0">
              <a:buNone/>
            </a:pPr>
            <a:r>
              <a:rPr lang="en-US" sz="2000" dirty="0">
                <a:solidFill>
                  <a:srgbClr val="66FF66"/>
                </a:solidFill>
                <a:latin typeface="Times New Roman" pitchFamily="34" charset="0"/>
                <a:ea typeface="Times New Roman" pitchFamily="34" charset="-122"/>
                <a:cs typeface="Times New Roman" pitchFamily="34" charset="-120"/>
              </a:rPr>
              <a:t>Course Name • Course Code • Section • Semester</a:t>
            </a:r>
            <a:endParaRPr lang="en-US" sz="2000" dirty="0"/>
          </a:p>
          <a:p>
            <a:pPr indent="0" marL="0">
              <a:buNone/>
            </a:pPr>
            <a:r>
              <a:rPr lang="en-US" sz="2000" dirty="0">
                <a:solidFill>
                  <a:srgbClr val="66FF66"/>
                </a:solidFill>
                <a:latin typeface="Times New Roman" pitchFamily="34" charset="0"/>
                <a:ea typeface="Times New Roman" pitchFamily="34" charset="-122"/>
                <a:cs typeface="Times New Roman" pitchFamily="34" charset="-120"/>
              </a:rPr>
              <a:t>Submitted To: Honourable Course Instructor</a:t>
            </a:r>
            <a:endParaRPr lang="en-US" sz="2000" dirty="0"/>
          </a:p>
          <a:p>
            <a:pPr indent="0" marL="0">
              <a:buNone/>
            </a:pPr>
            <a:r>
              <a:rPr lang="en-US" sz="2000" dirty="0">
                <a:solidFill>
                  <a:srgbClr val="66FF66"/>
                </a:solidFill>
                <a:latin typeface="Times New Roman" pitchFamily="34" charset="0"/>
                <a:ea typeface="Times New Roman" pitchFamily="34" charset="-122"/>
                <a:cs typeface="Times New Roman" pitchFamily="34" charset="-120"/>
              </a:rPr>
              <a:t>Date: __/__/____</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99C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00FF"/>
          </a:solidFill>
          <a:ln w="76200">
            <a:solidFill>
              <a:srgbClr val="FF0000"/>
            </a:solidFill>
            <a:prstDash val="solid"/>
          </a:ln>
        </p:spPr>
      </p:sp>
      <p:sp>
        <p:nvSpPr>
          <p:cNvPr id="3" name="Text 1"/>
          <p:cNvSpPr txBox="1"/>
          <p:nvPr/>
        </p:nvSpPr>
        <p:spPr>
          <a:xfrm>
            <a:off x="91440" y="45720"/>
            <a:ext cx="8961120" cy="914400"/>
          </a:xfrm>
          <a:prstGeom prst="rect">
            <a:avLst/>
          </a:prstGeom>
          <a:noFill/>
          <a:ln/>
          <a:effectLst>
            <a:outerShdw sx="100000" sy="100000" kx="0" ky="0" algn="bl" rotWithShape="0" blurRad="101600" dist="50800" dir="2700000">
              <a:srgbClr val="FF00FF">
                <a:alpha val="100000"/>
              </a:srgbClr>
            </a:outerShdw>
          </a:effectLst>
        </p:spPr>
        <p:txBody>
          <a:bodyPr wrap="square" rtlCol="0" anchor="ctr"/>
          <a:lstStyle/>
          <a:p>
            <a:pPr algn="ctr" indent="0" marL="0">
              <a:buNone/>
            </a:pPr>
            <a:r>
              <a:rPr lang="en-US" sz="4000" dirty="0">
                <a:solidFill>
                  <a:srgbClr val="FFFF00"/>
                </a:solidFill>
                <a:latin typeface="Impact" pitchFamily="34" charset="0"/>
                <a:ea typeface="Impact" pitchFamily="34" charset="-122"/>
                <a:cs typeface="Impact" pitchFamily="34" charset="-120"/>
              </a:rPr>
              <a:t>TABLE OF CONTENTS</a:t>
            </a:r>
            <a:endParaRPr lang="en-US" sz="4000" dirty="0"/>
          </a:p>
        </p:txBody>
      </p:sp>
      <p:sp>
        <p:nvSpPr>
          <p:cNvPr id="4" name="Text 2"/>
          <p:cNvSpPr txBox="1"/>
          <p:nvPr/>
        </p:nvSpPr>
        <p:spPr>
          <a:xfrm>
            <a:off x="182880" y="1097280"/>
            <a:ext cx="8778240" cy="5669280"/>
          </a:xfrm>
          <a:prstGeom prst="rect">
            <a:avLst/>
          </a:prstGeom>
          <a:noFill/>
          <a:ln/>
        </p:spPr>
        <p:txBody>
          <a:bodyPr wrap="square" rtlCol="0" anchor="t"/>
          <a:lstStyle/>
          <a:p>
            <a:pPr marL="342900" indent="-342900">
              <a:buSzPct val="100000"/>
              <a:buChar char="•"/>
            </a:pPr>
            <a:r>
              <a:rPr lang="en-US" sz="1500" dirty="0">
                <a:solidFill>
                  <a:srgbClr val="FFCCFF"/>
                </a:solidFill>
                <a:latin typeface="Comic Sans MS" pitchFamily="34" charset="0"/>
                <a:ea typeface="Comic Sans MS" pitchFamily="34" charset="-122"/>
                <a:cs typeface="Comic Sans MS" pitchFamily="34" charset="-120"/>
              </a:rPr>
              <a:t>Introduction</a:t>
            </a:r>
            <a:endParaRPr lang="en-US" sz="1500" dirty="0"/>
          </a:p>
          <a:p>
            <a:pPr marL="342900" indent="-342900">
              <a:buSzPct val="100000"/>
              <a:buChar char="•"/>
            </a:pPr>
            <a:r>
              <a:rPr lang="en-US" sz="1500" dirty="0">
                <a:solidFill>
                  <a:srgbClr val="FFCCFF"/>
                </a:solidFill>
                <a:latin typeface="Comic Sans MS" pitchFamily="34" charset="0"/>
                <a:ea typeface="Comic Sans MS" pitchFamily="34" charset="-122"/>
                <a:cs typeface="Comic Sans MS" pitchFamily="34" charset="-120"/>
              </a:rPr>
              <a:t>Abstract</a:t>
            </a:r>
            <a:endParaRPr lang="en-US" sz="1500" dirty="0"/>
          </a:p>
          <a:p>
            <a:pPr marL="342900" indent="-342900">
              <a:buSzPct val="100000"/>
              <a:buChar char="•"/>
            </a:pPr>
            <a:r>
              <a:rPr lang="en-US" sz="1500" dirty="0">
                <a:solidFill>
                  <a:srgbClr val="FFCCFF"/>
                </a:solidFill>
                <a:latin typeface="Comic Sans MS" pitchFamily="34" charset="0"/>
                <a:ea typeface="Comic Sans MS" pitchFamily="34" charset="-122"/>
                <a:cs typeface="Comic Sans MS" pitchFamily="34" charset="-120"/>
              </a:rPr>
              <a:t>Objective of the Project</a:t>
            </a:r>
            <a:endParaRPr lang="en-US" sz="1500" dirty="0"/>
          </a:p>
          <a:p>
            <a:pPr marL="342900" indent="-342900">
              <a:buSzPct val="100000"/>
              <a:buChar char="•"/>
            </a:pPr>
            <a:r>
              <a:rPr lang="en-US" sz="1500" dirty="0">
                <a:solidFill>
                  <a:srgbClr val="FFCCFF"/>
                </a:solidFill>
                <a:latin typeface="Comic Sans MS" pitchFamily="34" charset="0"/>
                <a:ea typeface="Comic Sans MS" pitchFamily="34" charset="-122"/>
                <a:cs typeface="Comic Sans MS" pitchFamily="34" charset="-120"/>
              </a:rPr>
              <a:t>Motivation</a:t>
            </a:r>
            <a:endParaRPr lang="en-US" sz="1500" dirty="0"/>
          </a:p>
          <a:p>
            <a:pPr marL="342900" indent="-342900">
              <a:buSzPct val="100000"/>
              <a:buChar char="•"/>
            </a:pPr>
            <a:r>
              <a:rPr lang="en-US" sz="1500" dirty="0">
                <a:solidFill>
                  <a:srgbClr val="FFCCFF"/>
                </a:solidFill>
                <a:latin typeface="Comic Sans MS" pitchFamily="34" charset="0"/>
                <a:ea typeface="Comic Sans MS" pitchFamily="34" charset="-122"/>
                <a:cs typeface="Comic Sans MS" pitchFamily="34" charset="-120"/>
              </a:rPr>
              <a:t>Problem Statement</a:t>
            </a:r>
            <a:endParaRPr lang="en-US" sz="1500" dirty="0"/>
          </a:p>
          <a:p>
            <a:pPr marL="342900" indent="-342900">
              <a:buSzPct val="100000"/>
              <a:buChar char="•"/>
            </a:pPr>
            <a:r>
              <a:rPr lang="en-US" sz="1500" dirty="0">
                <a:solidFill>
                  <a:srgbClr val="FFCCFF"/>
                </a:solidFill>
                <a:latin typeface="Comic Sans MS" pitchFamily="34" charset="0"/>
                <a:ea typeface="Comic Sans MS" pitchFamily="34" charset="-122"/>
                <a:cs typeface="Comic Sans MS" pitchFamily="34" charset="-120"/>
              </a:rPr>
              <a:t>Literature Review</a:t>
            </a:r>
            <a:endParaRPr lang="en-US" sz="1500" dirty="0"/>
          </a:p>
          <a:p>
            <a:pPr marL="342900" indent="-342900">
              <a:buSzPct val="100000"/>
              <a:buChar char="•"/>
            </a:pPr>
            <a:r>
              <a:rPr lang="en-US" sz="1500" dirty="0">
                <a:solidFill>
                  <a:srgbClr val="FFCCFF"/>
                </a:solidFill>
                <a:latin typeface="Comic Sans MS" pitchFamily="34" charset="0"/>
                <a:ea typeface="Comic Sans MS" pitchFamily="34" charset="-122"/>
                <a:cs typeface="Comic Sans MS" pitchFamily="34" charset="-120"/>
              </a:rPr>
              <a:t>Existing System</a:t>
            </a:r>
            <a:endParaRPr lang="en-US" sz="1500" dirty="0"/>
          </a:p>
          <a:p>
            <a:pPr marL="342900" indent="-342900">
              <a:buSzPct val="100000"/>
              <a:buChar char="•"/>
            </a:pPr>
            <a:r>
              <a:rPr lang="en-US" sz="1500" dirty="0">
                <a:solidFill>
                  <a:srgbClr val="FFCCFF"/>
                </a:solidFill>
                <a:latin typeface="Comic Sans MS" pitchFamily="34" charset="0"/>
                <a:ea typeface="Comic Sans MS" pitchFamily="34" charset="-122"/>
                <a:cs typeface="Comic Sans MS" pitchFamily="34" charset="-120"/>
              </a:rPr>
              <a:t>Proposed System</a:t>
            </a:r>
            <a:endParaRPr lang="en-US" sz="1500" dirty="0"/>
          </a:p>
          <a:p>
            <a:pPr marL="342900" indent="-342900">
              <a:buSzPct val="100000"/>
              <a:buChar char="•"/>
            </a:pPr>
            <a:r>
              <a:rPr lang="en-US" sz="1500" dirty="0">
                <a:solidFill>
                  <a:srgbClr val="FFCCFF"/>
                </a:solidFill>
                <a:latin typeface="Comic Sans MS" pitchFamily="34" charset="0"/>
                <a:ea typeface="Comic Sans MS" pitchFamily="34" charset="-122"/>
                <a:cs typeface="Comic Sans MS" pitchFamily="34" charset="-120"/>
              </a:rPr>
              <a:t>Feasibility Study</a:t>
            </a:r>
            <a:endParaRPr lang="en-US" sz="1500" dirty="0"/>
          </a:p>
          <a:p>
            <a:pPr marL="342900" indent="-342900">
              <a:buSzPct val="100000"/>
              <a:buChar char="•"/>
            </a:pPr>
            <a:r>
              <a:rPr lang="en-US" sz="1500" dirty="0">
                <a:solidFill>
                  <a:srgbClr val="FFCCFF"/>
                </a:solidFill>
                <a:latin typeface="Comic Sans MS" pitchFamily="34" charset="0"/>
                <a:ea typeface="Comic Sans MS" pitchFamily="34" charset="-122"/>
                <a:cs typeface="Comic Sans MS" pitchFamily="34" charset="-120"/>
              </a:rPr>
              <a:t>Requirement Analysis</a:t>
            </a:r>
            <a:endParaRPr lang="en-US" sz="1500" dirty="0"/>
          </a:p>
          <a:p>
            <a:pPr marL="342900" indent="-342900">
              <a:buSzPct val="100000"/>
              <a:buChar char="•"/>
            </a:pPr>
            <a:r>
              <a:rPr lang="en-US" sz="1500" dirty="0">
                <a:solidFill>
                  <a:srgbClr val="FFCCFF"/>
                </a:solidFill>
                <a:latin typeface="Comic Sans MS" pitchFamily="34" charset="0"/>
                <a:ea typeface="Comic Sans MS" pitchFamily="34" charset="-122"/>
                <a:cs typeface="Comic Sans MS" pitchFamily="34" charset="-120"/>
              </a:rPr>
              <a:t>Hardware Requirements</a:t>
            </a:r>
            <a:endParaRPr lang="en-US" sz="1500" dirty="0"/>
          </a:p>
          <a:p>
            <a:pPr marL="342900" indent="-342900">
              <a:buSzPct val="100000"/>
              <a:buChar char="•"/>
            </a:pPr>
            <a:r>
              <a:rPr lang="en-US" sz="1500" dirty="0">
                <a:solidFill>
                  <a:srgbClr val="FFCCFF"/>
                </a:solidFill>
                <a:latin typeface="Comic Sans MS" pitchFamily="34" charset="0"/>
                <a:ea typeface="Comic Sans MS" pitchFamily="34" charset="-122"/>
                <a:cs typeface="Comic Sans MS" pitchFamily="34" charset="-120"/>
              </a:rPr>
              <a:t>Software Requirements</a:t>
            </a:r>
            <a:endParaRPr lang="en-US" sz="1500" dirty="0"/>
          </a:p>
          <a:p>
            <a:pPr marL="342900" indent="-342900">
              <a:buSzPct val="100000"/>
              <a:buChar char="•"/>
            </a:pPr>
            <a:r>
              <a:rPr lang="en-US" sz="1500" dirty="0">
                <a:solidFill>
                  <a:srgbClr val="FFCCFF"/>
                </a:solidFill>
                <a:latin typeface="Comic Sans MS" pitchFamily="34" charset="0"/>
                <a:ea typeface="Comic Sans MS" pitchFamily="34" charset="-122"/>
                <a:cs typeface="Comic Sans MS" pitchFamily="34" charset="-120"/>
              </a:rPr>
              <a:t>System Design</a:t>
            </a:r>
            <a:endParaRPr lang="en-US" sz="1500" dirty="0"/>
          </a:p>
          <a:p>
            <a:pPr marL="342900" indent="-342900">
              <a:buSzPct val="100000"/>
              <a:buChar char="•"/>
            </a:pPr>
            <a:r>
              <a:rPr lang="en-US" sz="1500" dirty="0">
                <a:solidFill>
                  <a:srgbClr val="FFCCFF"/>
                </a:solidFill>
                <a:latin typeface="Comic Sans MS" pitchFamily="34" charset="0"/>
                <a:ea typeface="Comic Sans MS" pitchFamily="34" charset="-122"/>
                <a:cs typeface="Comic Sans MS" pitchFamily="34" charset="-120"/>
              </a:rPr>
              <a:t>Use Case Diagram</a:t>
            </a:r>
            <a:endParaRPr lang="en-US" sz="1500" dirty="0"/>
          </a:p>
          <a:p>
            <a:pPr marL="342900" indent="-342900">
              <a:buSzPct val="100000"/>
              <a:buChar char="•"/>
            </a:pPr>
            <a:r>
              <a:rPr lang="en-US" sz="1500" dirty="0">
                <a:solidFill>
                  <a:srgbClr val="FFCCFF"/>
                </a:solidFill>
                <a:latin typeface="Comic Sans MS" pitchFamily="34" charset="0"/>
                <a:ea typeface="Comic Sans MS" pitchFamily="34" charset="-122"/>
                <a:cs typeface="Comic Sans MS" pitchFamily="34" charset="-120"/>
              </a:rPr>
              <a:t>ER Diagram</a:t>
            </a:r>
            <a:endParaRPr lang="en-US" sz="1500" dirty="0"/>
          </a:p>
          <a:p>
            <a:pPr marL="342900" indent="-342900">
              <a:buSzPct val="100000"/>
              <a:buChar char="•"/>
            </a:pPr>
            <a:r>
              <a:rPr lang="en-US" sz="1500" dirty="0">
                <a:solidFill>
                  <a:srgbClr val="FFCCFF"/>
                </a:solidFill>
                <a:latin typeface="Comic Sans MS" pitchFamily="34" charset="0"/>
                <a:ea typeface="Comic Sans MS" pitchFamily="34" charset="-122"/>
                <a:cs typeface="Comic Sans MS" pitchFamily="34" charset="-120"/>
              </a:rPr>
              <a:t>Implementation</a:t>
            </a:r>
            <a:endParaRPr lang="en-US" sz="1500" dirty="0"/>
          </a:p>
          <a:p>
            <a:pPr marL="342900" indent="-342900">
              <a:buSzPct val="100000"/>
              <a:buChar char="•"/>
            </a:pPr>
            <a:r>
              <a:rPr lang="en-US" sz="1500" dirty="0">
                <a:solidFill>
                  <a:srgbClr val="FFCCFF"/>
                </a:solidFill>
                <a:latin typeface="Comic Sans MS" pitchFamily="34" charset="0"/>
                <a:ea typeface="Comic Sans MS" pitchFamily="34" charset="-122"/>
                <a:cs typeface="Comic Sans MS" pitchFamily="34" charset="-120"/>
              </a:rPr>
              <a:t>Testing</a:t>
            </a:r>
            <a:endParaRPr lang="en-US" sz="1500" dirty="0"/>
          </a:p>
          <a:p>
            <a:pPr marL="342900" indent="-342900">
              <a:buSzPct val="100000"/>
              <a:buChar char="•"/>
            </a:pPr>
            <a:r>
              <a:rPr lang="en-US" sz="1500" dirty="0">
                <a:solidFill>
                  <a:srgbClr val="FFCCFF"/>
                </a:solidFill>
                <a:latin typeface="Comic Sans MS" pitchFamily="34" charset="0"/>
                <a:ea typeface="Comic Sans MS" pitchFamily="34" charset="-122"/>
                <a:cs typeface="Comic Sans MS" pitchFamily="34" charset="-120"/>
              </a:rPr>
              <a:t>Advantages</a:t>
            </a:r>
            <a:endParaRPr lang="en-US" sz="1500" dirty="0"/>
          </a:p>
          <a:p>
            <a:pPr marL="342900" indent="-342900">
              <a:buSzPct val="100000"/>
              <a:buChar char="•"/>
            </a:pPr>
            <a:r>
              <a:rPr lang="en-US" sz="1500" dirty="0">
                <a:solidFill>
                  <a:srgbClr val="FFCCFF"/>
                </a:solidFill>
                <a:latin typeface="Comic Sans MS" pitchFamily="34" charset="0"/>
                <a:ea typeface="Comic Sans MS" pitchFamily="34" charset="-122"/>
                <a:cs typeface="Comic Sans MS" pitchFamily="34" charset="-120"/>
              </a:rPr>
              <a:t>Disadvantages</a:t>
            </a:r>
            <a:endParaRPr lang="en-US" sz="1500" dirty="0"/>
          </a:p>
          <a:p>
            <a:pPr marL="342900" indent="-342900">
              <a:buSzPct val="100000"/>
              <a:buChar char="•"/>
            </a:pPr>
            <a:r>
              <a:rPr lang="en-US" sz="1500" dirty="0">
                <a:solidFill>
                  <a:srgbClr val="FFCCFF"/>
                </a:solidFill>
                <a:latin typeface="Comic Sans MS" pitchFamily="34" charset="0"/>
                <a:ea typeface="Comic Sans MS" pitchFamily="34" charset="-122"/>
                <a:cs typeface="Comic Sans MS" pitchFamily="34" charset="-120"/>
              </a:rPr>
              <a:t>Future Scope</a:t>
            </a:r>
            <a:endParaRPr lang="en-US" sz="1500" dirty="0"/>
          </a:p>
          <a:p>
            <a:pPr marL="342900" indent="-342900">
              <a:buSzPct val="100000"/>
              <a:buChar char="•"/>
            </a:pPr>
            <a:r>
              <a:rPr lang="en-US" sz="1500" dirty="0">
                <a:solidFill>
                  <a:srgbClr val="FFCCFF"/>
                </a:solidFill>
                <a:latin typeface="Comic Sans MS" pitchFamily="34" charset="0"/>
                <a:ea typeface="Comic Sans MS" pitchFamily="34" charset="-122"/>
                <a:cs typeface="Comic Sans MS" pitchFamily="34" charset="-120"/>
              </a:rPr>
              <a:t>Conclusion</a:t>
            </a:r>
            <a:endParaRPr lang="en-US" sz="1500" dirty="0"/>
          </a:p>
          <a:p>
            <a:pPr marL="342900" indent="-342900">
              <a:buSzPct val="100000"/>
              <a:buChar char="•"/>
            </a:pPr>
            <a:r>
              <a:rPr lang="en-US" sz="1500" dirty="0">
                <a:solidFill>
                  <a:srgbClr val="FFCCFF"/>
                </a:solidFill>
                <a:latin typeface="Comic Sans MS" pitchFamily="34" charset="0"/>
                <a:ea typeface="Comic Sans MS" pitchFamily="34" charset="-122"/>
                <a:cs typeface="Comic Sans MS" pitchFamily="34" charset="-120"/>
              </a:rPr>
              <a:t>References</a:t>
            </a:r>
            <a:endParaRPr lang="en-US" sz="1500" dirty="0"/>
          </a:p>
          <a:p>
            <a:pPr marL="342900" indent="-342900">
              <a:buSzPct val="100000"/>
              <a:buChar char="•"/>
            </a:pPr>
            <a:r>
              <a:rPr lang="en-US" sz="1500" dirty="0">
                <a:solidFill>
                  <a:srgbClr val="FFCCFF"/>
                </a:solidFill>
                <a:latin typeface="Comic Sans MS" pitchFamily="34" charset="0"/>
                <a:ea typeface="Comic Sans MS" pitchFamily="34" charset="-122"/>
                <a:cs typeface="Comic Sans MS" pitchFamily="34" charset="-120"/>
              </a:rPr>
              <a:t>Thank You</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80"/>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00FF"/>
          </a:solidFill>
          <a:ln w="76200">
            <a:solidFill>
              <a:srgbClr val="FF0000"/>
            </a:solidFill>
            <a:prstDash val="solid"/>
          </a:ln>
        </p:spPr>
      </p:sp>
      <p:sp>
        <p:nvSpPr>
          <p:cNvPr id="3" name="Text 1"/>
          <p:cNvSpPr txBox="1"/>
          <p:nvPr/>
        </p:nvSpPr>
        <p:spPr>
          <a:xfrm>
            <a:off x="91440" y="45720"/>
            <a:ext cx="8961120" cy="914400"/>
          </a:xfrm>
          <a:prstGeom prst="rect">
            <a:avLst/>
          </a:prstGeom>
          <a:noFill/>
          <a:ln/>
          <a:effectLst>
            <a:outerShdw sx="100000" sy="100000" kx="0" ky="0" algn="bl" rotWithShape="0" blurRad="101600" dist="50800" dir="2700000">
              <a:srgbClr val="FF00FF">
                <a:alpha val="100000"/>
              </a:srgbClr>
            </a:outerShdw>
          </a:effectLst>
        </p:spPr>
        <p:txBody>
          <a:bodyPr wrap="square" rtlCol="0" anchor="ctr"/>
          <a:lstStyle/>
          <a:p>
            <a:pPr algn="ctr" indent="0" marL="0">
              <a:buNone/>
            </a:pPr>
            <a:r>
              <a:rPr lang="en-US" sz="4000" dirty="0">
                <a:solidFill>
                  <a:srgbClr val="00FFFF"/>
                </a:solidFill>
                <a:latin typeface="Impact" pitchFamily="34" charset="0"/>
                <a:ea typeface="Impact" pitchFamily="34" charset="-122"/>
                <a:cs typeface="Impact" pitchFamily="34" charset="-120"/>
              </a:rPr>
              <a:t>INTRODUCTION</a:t>
            </a:r>
            <a:endParaRPr lang="en-US" sz="4000" dirty="0"/>
          </a:p>
        </p:txBody>
      </p:sp>
      <p:sp>
        <p:nvSpPr>
          <p:cNvPr id="4" name="Text 2"/>
          <p:cNvSpPr txBox="1"/>
          <p:nvPr/>
        </p:nvSpPr>
        <p:spPr>
          <a:xfrm>
            <a:off x="137160" y="1097280"/>
            <a:ext cx="8869680" cy="5669280"/>
          </a:xfrm>
          <a:prstGeom prst="rect">
            <a:avLst/>
          </a:prstGeom>
          <a:noFill/>
          <a:ln/>
        </p:spPr>
        <p:txBody>
          <a:bodyPr wrap="square" rtlCol="0" anchor="t"/>
          <a:lstStyle/>
          <a:p>
            <a:pPr algn="just" indent="0" marL="0">
              <a:buNone/>
            </a:pPr>
            <a:r>
              <a:rPr lang="en-US" sz="1700" dirty="0">
                <a:solidFill>
                  <a:srgbClr val="0000CC"/>
                </a:solidFill>
                <a:latin typeface="Times New Roman" pitchFamily="34" charset="0"/>
                <a:ea typeface="Times New Roman" pitchFamily="34" charset="-122"/>
                <a:cs typeface="Times New Roman" pitchFamily="34" charset="-120"/>
              </a:rPr>
              <a:t>In today's modern world of the 21st century, technology is advancing day by day and e-commerce is becoming very much popular among people of all ages. Online shopping has become an essential part of our daily life. Bangaliyana Bazar is an e-commerce website which is developed for selling products online. In this website users can see products, they can add products to cart and they can place order. The website is very user friendly and easy to use. It is made by using many modern technologies. The main purpose of this project is to make an online shop. This project was very helpful for us to learn many new things about web development, teamwork, and time management. We faced many problems while making this project but we solved them all by working hard. We hope that you will like our project and this presentation. In this presentation we will discuss about all the details of our project step by step.</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CC0000"/>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00FF"/>
          </a:solidFill>
          <a:ln w="76200">
            <a:solidFill>
              <a:srgbClr val="FF0000"/>
            </a:solidFill>
            <a:prstDash val="solid"/>
          </a:ln>
        </p:spPr>
      </p:sp>
      <p:sp>
        <p:nvSpPr>
          <p:cNvPr id="3" name="Text 1"/>
          <p:cNvSpPr txBox="1"/>
          <p:nvPr/>
        </p:nvSpPr>
        <p:spPr>
          <a:xfrm>
            <a:off x="91440" y="45720"/>
            <a:ext cx="8961120" cy="914400"/>
          </a:xfrm>
          <a:prstGeom prst="rect">
            <a:avLst/>
          </a:prstGeom>
          <a:noFill/>
          <a:ln/>
          <a:effectLst>
            <a:outerShdw sx="100000" sy="100000" kx="0" ky="0" algn="bl" rotWithShape="0" blurRad="101600" dist="50800" dir="2700000">
              <a:srgbClr val="FF00FF">
                <a:alpha val="100000"/>
              </a:srgbClr>
            </a:outerShdw>
          </a:effectLst>
        </p:spPr>
        <p:txBody>
          <a:bodyPr wrap="square" rtlCol="0" anchor="ctr"/>
          <a:lstStyle/>
          <a:p>
            <a:pPr algn="ctr" indent="0" marL="0">
              <a:buNone/>
            </a:pPr>
            <a:r>
              <a:rPr lang="en-US" sz="4000" dirty="0">
                <a:solidFill>
                  <a:srgbClr val="FF6666"/>
                </a:solidFill>
                <a:latin typeface="Impact" pitchFamily="34" charset="0"/>
                <a:ea typeface="Impact" pitchFamily="34" charset="-122"/>
                <a:cs typeface="Impact" pitchFamily="34" charset="-120"/>
              </a:rPr>
              <a:t>OBJECTIVES OF THE PROJECT</a:t>
            </a:r>
            <a:endParaRPr lang="en-US" sz="4000" dirty="0"/>
          </a:p>
        </p:txBody>
      </p:sp>
      <p:sp>
        <p:nvSpPr>
          <p:cNvPr id="4" name="Text 2"/>
          <p:cNvSpPr txBox="1"/>
          <p:nvPr/>
        </p:nvSpPr>
        <p:spPr>
          <a:xfrm>
            <a:off x="182880" y="1097280"/>
            <a:ext cx="8778240" cy="5486400"/>
          </a:xfrm>
          <a:prstGeom prst="rect">
            <a:avLst/>
          </a:prstGeom>
          <a:noFill/>
          <a:ln/>
        </p:spPr>
        <p:txBody>
          <a:bodyPr wrap="square" rtlCol="0" anchor="t"/>
          <a:lstStyle/>
          <a:p>
            <a:pPr marL="342900" indent="-342900">
              <a:buSzPct val="100000"/>
              <a:buChar char="•"/>
            </a:pPr>
            <a:r>
              <a:rPr lang="en-US" sz="2200" dirty="0">
                <a:solidFill>
                  <a:srgbClr val="990000"/>
                </a:solidFill>
                <a:latin typeface="Papyrus" pitchFamily="34" charset="0"/>
                <a:ea typeface="Papyrus" pitchFamily="34" charset="-122"/>
                <a:cs typeface="Papyrus" pitchFamily="34" charset="-120"/>
              </a:rPr>
              <a:t>To develop an e-commerce website.</a:t>
            </a:r>
            <a:endParaRPr lang="en-US" sz="2200" dirty="0"/>
          </a:p>
          <a:p>
            <a:pPr marL="342900" indent="-342900">
              <a:buSzPct val="100000"/>
              <a:buChar char="•"/>
            </a:pPr>
            <a:r>
              <a:rPr lang="en-US" sz="2200" dirty="0">
                <a:solidFill>
                  <a:srgbClr val="990000"/>
                </a:solidFill>
                <a:latin typeface="Papyrus" pitchFamily="34" charset="0"/>
                <a:ea typeface="Papyrus" pitchFamily="34" charset="-122"/>
                <a:cs typeface="Papyrus" pitchFamily="34" charset="-120"/>
              </a:rPr>
              <a:t>To sell products online.</a:t>
            </a:r>
            <a:endParaRPr lang="en-US" sz="2200" dirty="0"/>
          </a:p>
          <a:p>
            <a:pPr marL="342900" indent="-342900">
              <a:buSzPct val="100000"/>
              <a:buChar char="•"/>
            </a:pPr>
            <a:r>
              <a:rPr lang="en-US" sz="2200" dirty="0">
                <a:solidFill>
                  <a:srgbClr val="990000"/>
                </a:solidFill>
                <a:latin typeface="Papyrus" pitchFamily="34" charset="0"/>
                <a:ea typeface="Papyrus" pitchFamily="34" charset="-122"/>
                <a:cs typeface="Papyrus" pitchFamily="34" charset="-120"/>
              </a:rPr>
              <a:t>To make the website user friendly.</a:t>
            </a:r>
            <a:endParaRPr lang="en-US" sz="2200" dirty="0"/>
          </a:p>
          <a:p>
            <a:pPr marL="342900" indent="-342900">
              <a:buSzPct val="100000"/>
              <a:buChar char="•"/>
            </a:pPr>
            <a:r>
              <a:rPr lang="en-US" sz="2200" dirty="0">
                <a:solidFill>
                  <a:srgbClr val="990000"/>
                </a:solidFill>
                <a:latin typeface="Papyrus" pitchFamily="34" charset="0"/>
                <a:ea typeface="Papyrus" pitchFamily="34" charset="-122"/>
                <a:cs typeface="Papyrus" pitchFamily="34" charset="-120"/>
              </a:rPr>
              <a:t>To make the website easy to use.</a:t>
            </a:r>
            <a:endParaRPr lang="en-US" sz="2200" dirty="0"/>
          </a:p>
          <a:p>
            <a:pPr marL="342900" indent="-342900">
              <a:buSzPct val="100000"/>
              <a:buChar char="•"/>
            </a:pPr>
            <a:r>
              <a:rPr lang="en-US" sz="2200" dirty="0">
                <a:solidFill>
                  <a:srgbClr val="990000"/>
                </a:solidFill>
                <a:latin typeface="Papyrus" pitchFamily="34" charset="0"/>
                <a:ea typeface="Papyrus" pitchFamily="34" charset="-122"/>
                <a:cs typeface="Papyrus" pitchFamily="34" charset="-120"/>
              </a:rPr>
              <a:t>To learn web development.</a:t>
            </a:r>
            <a:endParaRPr lang="en-US" sz="2200" dirty="0"/>
          </a:p>
          <a:p>
            <a:pPr marL="342900" indent="-342900">
              <a:buSzPct val="100000"/>
              <a:buChar char="•"/>
            </a:pPr>
            <a:r>
              <a:rPr lang="en-US" sz="2200" dirty="0">
                <a:solidFill>
                  <a:srgbClr val="990000"/>
                </a:solidFill>
                <a:latin typeface="Papyrus" pitchFamily="34" charset="0"/>
                <a:ea typeface="Papyrus" pitchFamily="34" charset="-122"/>
                <a:cs typeface="Papyrus" pitchFamily="34" charset="-120"/>
              </a:rPr>
              <a:t>To learn how to work in a team.</a:t>
            </a:r>
            <a:endParaRPr lang="en-US" sz="2200" dirty="0"/>
          </a:p>
          <a:p>
            <a:pPr marL="342900" indent="-342900">
              <a:buSzPct val="100000"/>
              <a:buChar char="•"/>
            </a:pPr>
            <a:r>
              <a:rPr lang="en-US" sz="2200" dirty="0">
                <a:solidFill>
                  <a:srgbClr val="990000"/>
                </a:solidFill>
                <a:latin typeface="Papyrus" pitchFamily="34" charset="0"/>
                <a:ea typeface="Papyrus" pitchFamily="34" charset="-122"/>
                <a:cs typeface="Papyrus" pitchFamily="34" charset="-120"/>
              </a:rPr>
              <a:t>To complete the course requirement.</a:t>
            </a:r>
            <a:endParaRPr lang="en-US" sz="2200" dirty="0"/>
          </a:p>
          <a:p>
            <a:pPr marL="342900" indent="-342900">
              <a:buSzPct val="100000"/>
              <a:buChar char="•"/>
            </a:pPr>
            <a:r>
              <a:rPr lang="en-US" sz="2200" dirty="0">
                <a:solidFill>
                  <a:srgbClr val="990000"/>
                </a:solidFill>
                <a:latin typeface="Papyrus" pitchFamily="34" charset="0"/>
                <a:ea typeface="Papyrus" pitchFamily="34" charset="-122"/>
                <a:cs typeface="Papyrus" pitchFamily="34" charset="-120"/>
              </a:rPr>
              <a:t>To make the website responsive.</a:t>
            </a:r>
            <a:endParaRPr lang="en-US" sz="2200" dirty="0"/>
          </a:p>
          <a:p>
            <a:pPr marL="342900" indent="-342900">
              <a:buSzPct val="100000"/>
              <a:buChar char="•"/>
            </a:pPr>
            <a:r>
              <a:rPr lang="en-US" sz="2200" dirty="0">
                <a:solidFill>
                  <a:srgbClr val="990000"/>
                </a:solidFill>
                <a:latin typeface="Papyrus" pitchFamily="34" charset="0"/>
                <a:ea typeface="Papyrus" pitchFamily="34" charset="-122"/>
                <a:cs typeface="Papyrus" pitchFamily="34" charset="-120"/>
              </a:rPr>
              <a:t>To make a good design.</a:t>
            </a:r>
            <a:endParaRPr lang="en-US" sz="2200" dirty="0"/>
          </a:p>
          <a:p>
            <a:pPr marL="342900" indent="-342900">
              <a:buSzPct val="100000"/>
              <a:buChar char="•"/>
            </a:pPr>
            <a:r>
              <a:rPr lang="en-US" sz="2200" dirty="0">
                <a:solidFill>
                  <a:srgbClr val="990000"/>
                </a:solidFill>
                <a:latin typeface="Papyrus" pitchFamily="34" charset="0"/>
                <a:ea typeface="Papyrus" pitchFamily="34" charset="-122"/>
                <a:cs typeface="Papyrus" pitchFamily="34" charset="-120"/>
              </a:rPr>
              <a:t>To use modern technology.</a:t>
            </a:r>
            <a:endParaRPr lang="en-US" sz="2200" dirty="0"/>
          </a:p>
          <a:p>
            <a:pPr marL="342900" indent="-342900">
              <a:buSzPct val="100000"/>
              <a:buChar char="•"/>
            </a:pPr>
            <a:r>
              <a:rPr lang="en-US" sz="2200" dirty="0">
                <a:solidFill>
                  <a:srgbClr val="990000"/>
                </a:solidFill>
                <a:latin typeface="Papyrus" pitchFamily="34" charset="0"/>
                <a:ea typeface="Papyrus" pitchFamily="34" charset="-122"/>
                <a:cs typeface="Papyrus" pitchFamily="34" charset="-120"/>
              </a:rPr>
              <a:t>To get good marks.</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00"/>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00FF"/>
          </a:solidFill>
          <a:ln w="76200">
            <a:solidFill>
              <a:srgbClr val="FF0000"/>
            </a:solidFill>
            <a:prstDash val="solid"/>
          </a:ln>
        </p:spPr>
      </p:sp>
      <p:sp>
        <p:nvSpPr>
          <p:cNvPr id="3" name="Text 1"/>
          <p:cNvSpPr txBox="1"/>
          <p:nvPr/>
        </p:nvSpPr>
        <p:spPr>
          <a:xfrm>
            <a:off x="91440" y="45720"/>
            <a:ext cx="8961120" cy="914400"/>
          </a:xfrm>
          <a:prstGeom prst="rect">
            <a:avLst/>
          </a:prstGeom>
          <a:noFill/>
          <a:ln/>
          <a:effectLst>
            <a:outerShdw sx="100000" sy="100000" kx="0" ky="0" algn="bl" rotWithShape="0" blurRad="101600" dist="50800" dir="2700000">
              <a:srgbClr val="FF00FF">
                <a:alpha val="100000"/>
              </a:srgbClr>
            </a:outerShdw>
          </a:effectLst>
        </p:spPr>
        <p:txBody>
          <a:bodyPr wrap="square" rtlCol="0" anchor="ctr"/>
          <a:lstStyle/>
          <a:p>
            <a:pPr algn="ctr" indent="0" marL="0">
              <a:buNone/>
            </a:pPr>
            <a:r>
              <a:rPr lang="en-US" sz="4000" dirty="0">
                <a:solidFill>
                  <a:srgbClr val="FFFFFF"/>
                </a:solidFill>
                <a:latin typeface="Impact" pitchFamily="34" charset="0"/>
                <a:ea typeface="Impact" pitchFamily="34" charset="-122"/>
                <a:cs typeface="Impact" pitchFamily="34" charset="-120"/>
              </a:rPr>
              <a:t>TECHNOLOGIES USED</a:t>
            </a:r>
            <a:endParaRPr lang="en-US" sz="4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274320" y="1280160"/>
          <a:ext cx="8595360" cy="914400"/>
        </p:xfrm>
        <a:graphic>
          <a:graphicData uri="http://schemas.openxmlformats.org/drawingml/2006/table">
            <a:tbl>
              <a:tblPr/>
              <a:tblGrid>
                <a:gridCol w="2194560"/>
                <a:gridCol w="6400800"/>
              </a:tblGrid>
              <a:tr h="822960">
                <a:tc>
                  <a:txBody>
                    <a:bodyPr/>
                    <a:lstStyle/>
                    <a:p>
                      <a:pPr indent="0" marL="0">
                        <a:buNone/>
                      </a:pPr>
                      <a:r>
                        <a:rPr lang="en-US" sz="1600" dirty="0">
                          <a:solidFill>
                            <a:srgbClr val="FFFF00"/>
                          </a:solidFill>
                          <a:latin typeface="Comic Sans MS" pitchFamily="34" charset="0"/>
                          <a:ea typeface="Comic Sans MS" pitchFamily="34" charset="-122"/>
                          <a:cs typeface="Comic Sans MS" pitchFamily="34" charset="-120"/>
                        </a:rPr>
                        <a:t>Frontend</a:t>
                      </a:r>
                      <a:endParaRPr lang="en-US" sz="1600" dirty="0">
                        <a:latin typeface="Comic Sans MS" charset="0"/>
                        <a:ea typeface="Comic Sans MS" charset="0"/>
                        <a:cs typeface="Comic Sans MS" charset="0"/>
                      </a:endParaRPr>
                    </a:p>
                  </a:txBody>
                  <a:tcPr marL="91440" marR="91440" marT="45720" marB="45720">
                    <a:lnL w="50800" cap="flat" cmpd="sng" algn="ctr">
                      <a:solidFill>
                        <a:srgbClr val="000000"/>
                      </a:solidFill>
                      <a:prstDash val="solid"/>
                      <a:round/>
                      <a:headEnd type="none" w="med" len="med"/>
                      <a:tailEnd type="none" w="med" len="med"/>
                    </a:lnL>
                    <a:lnR w="50800" cap="flat" cmpd="sng" algn="ctr">
                      <a:solidFill>
                        <a:srgbClr val="000000"/>
                      </a:solidFill>
                      <a:prstDash val="solid"/>
                      <a:round/>
                      <a:headEnd type="none" w="med" len="med"/>
                      <a:tailEnd type="none" w="med" len="med"/>
                    </a:lnR>
                    <a:lnT w="50800" cap="flat" cmpd="sng" algn="ctr">
                      <a:solidFill>
                        <a:srgbClr val="000000"/>
                      </a:solidFill>
                      <a:prstDash val="solid"/>
                      <a:round/>
                      <a:headEnd type="none" w="med" len="med"/>
                      <a:tailEnd type="none" w="med" len="med"/>
                    </a:lnT>
                    <a:lnB w="50800" cap="flat" cmpd="sng" algn="ctr">
                      <a:solidFill>
                        <a:srgbClr val="000000"/>
                      </a:solidFill>
                      <a:prstDash val="solid"/>
                      <a:round/>
                      <a:headEnd type="none" w="med" len="med"/>
                      <a:tailEnd type="none" w="med" len="med"/>
                    </a:lnB>
                    <a:solidFill>
                      <a:srgbClr val="FF00FF"/>
                    </a:solidFill>
                  </a:tcPr>
                </a:tc>
                <a:tc>
                  <a:txBody>
                    <a:bodyPr/>
                    <a:lstStyle/>
                    <a:p>
                      <a:pPr indent="0" marL="0">
                        <a:buNone/>
                      </a:pPr>
                      <a:r>
                        <a:rPr lang="en-US" sz="1400" dirty="0">
                          <a:solidFill>
                            <a:srgbClr val="FFFFFF"/>
                          </a:solidFill>
                          <a:latin typeface="Courier New" pitchFamily="34" charset="0"/>
                          <a:ea typeface="Courier New" pitchFamily="34" charset="-122"/>
                          <a:cs typeface="Courier New" pitchFamily="34" charset="-120"/>
                        </a:rPr>
                        <a:t>HTML, CSS, JavaScript, React, TypeScript, Tailwind</a:t>
                      </a:r>
                      <a:endParaRPr lang="en-US" sz="1400" dirty="0">
                        <a:latin typeface="Courier New" charset="0"/>
                        <a:ea typeface="Courier New" charset="0"/>
                        <a:cs typeface="Courier New" charset="0"/>
                      </a:endParaRPr>
                    </a:p>
                  </a:txBody>
                  <a:tcPr marL="91440" marR="91440" marT="45720" marB="45720">
                    <a:lnL w="50800" cap="flat" cmpd="sng" algn="ctr">
                      <a:solidFill>
                        <a:srgbClr val="000000"/>
                      </a:solidFill>
                      <a:prstDash val="solid"/>
                      <a:round/>
                      <a:headEnd type="none" w="med" len="med"/>
                      <a:tailEnd type="none" w="med" len="med"/>
                    </a:lnL>
                    <a:lnR w="50800" cap="flat" cmpd="sng" algn="ctr">
                      <a:solidFill>
                        <a:srgbClr val="000000"/>
                      </a:solidFill>
                      <a:prstDash val="solid"/>
                      <a:round/>
                      <a:headEnd type="none" w="med" len="med"/>
                      <a:tailEnd type="none" w="med" len="med"/>
                    </a:lnR>
                    <a:lnT w="50800" cap="flat" cmpd="sng" algn="ctr">
                      <a:solidFill>
                        <a:srgbClr val="000000"/>
                      </a:solidFill>
                      <a:prstDash val="solid"/>
                      <a:round/>
                      <a:headEnd type="none" w="med" len="med"/>
                      <a:tailEnd type="none" w="med" len="med"/>
                    </a:lnT>
                    <a:lnB w="50800" cap="flat" cmpd="sng" algn="ctr">
                      <a:solidFill>
                        <a:srgbClr val="000000"/>
                      </a:solidFill>
                      <a:prstDash val="solid"/>
                      <a:round/>
                      <a:headEnd type="none" w="med" len="med"/>
                      <a:tailEnd type="none" w="med" len="med"/>
                    </a:lnB>
                    <a:solidFill>
                      <a:srgbClr val="00FFFF"/>
                    </a:solidFill>
                  </a:tcPr>
                </a:tc>
              </a:tr>
              <a:tr h="822960">
                <a:tc>
                  <a:txBody>
                    <a:bodyPr/>
                    <a:lstStyle/>
                    <a:p>
                      <a:pPr indent="0" marL="0">
                        <a:buNone/>
                      </a:pPr>
                      <a:r>
                        <a:rPr lang="en-US" sz="1600" dirty="0">
                          <a:solidFill>
                            <a:srgbClr val="FFFF00"/>
                          </a:solidFill>
                          <a:latin typeface="Comic Sans MS" pitchFamily="34" charset="0"/>
                          <a:ea typeface="Comic Sans MS" pitchFamily="34" charset="-122"/>
                          <a:cs typeface="Comic Sans MS" pitchFamily="34" charset="-120"/>
                        </a:rPr>
                        <a:t>Backend</a:t>
                      </a:r>
                      <a:endParaRPr lang="en-US" sz="1600" dirty="0">
                        <a:latin typeface="Comic Sans MS" charset="0"/>
                        <a:ea typeface="Comic Sans MS" charset="0"/>
                        <a:cs typeface="Comic Sans MS" charset="0"/>
                      </a:endParaRPr>
                    </a:p>
                  </a:txBody>
                  <a:tcPr marL="91440" marR="91440" marT="45720" marB="45720">
                    <a:lnL w="50800" cap="flat" cmpd="sng" algn="ctr">
                      <a:solidFill>
                        <a:srgbClr val="000000"/>
                      </a:solidFill>
                      <a:prstDash val="solid"/>
                      <a:round/>
                      <a:headEnd type="none" w="med" len="med"/>
                      <a:tailEnd type="none" w="med" len="med"/>
                    </a:lnL>
                    <a:lnR w="50800" cap="flat" cmpd="sng" algn="ctr">
                      <a:solidFill>
                        <a:srgbClr val="000000"/>
                      </a:solidFill>
                      <a:prstDash val="solid"/>
                      <a:round/>
                      <a:headEnd type="none" w="med" len="med"/>
                      <a:tailEnd type="none" w="med" len="med"/>
                    </a:lnR>
                    <a:lnT w="50800" cap="flat" cmpd="sng" algn="ctr">
                      <a:solidFill>
                        <a:srgbClr val="000000"/>
                      </a:solidFill>
                      <a:prstDash val="solid"/>
                      <a:round/>
                      <a:headEnd type="none" w="med" len="med"/>
                      <a:tailEnd type="none" w="med" len="med"/>
                    </a:lnT>
                    <a:lnB w="50800" cap="flat" cmpd="sng" algn="ctr">
                      <a:solidFill>
                        <a:srgbClr val="000000"/>
                      </a:solidFill>
                      <a:prstDash val="solid"/>
                      <a:round/>
                      <a:headEnd type="none" w="med" len="med"/>
                      <a:tailEnd type="none" w="med" len="med"/>
                    </a:lnB>
                    <a:solidFill>
                      <a:srgbClr val="FF00FF"/>
                    </a:solidFill>
                  </a:tcPr>
                </a:tc>
                <a:tc>
                  <a:txBody>
                    <a:bodyPr/>
                    <a:lstStyle/>
                    <a:p>
                      <a:pPr indent="0" marL="0">
                        <a:buNone/>
                      </a:pPr>
                      <a:r>
                        <a:rPr lang="en-US" sz="1400" dirty="0">
                          <a:solidFill>
                            <a:srgbClr val="FFFFFF"/>
                          </a:solidFill>
                          <a:latin typeface="Courier New" pitchFamily="34" charset="0"/>
                          <a:ea typeface="Courier New" pitchFamily="34" charset="-122"/>
                          <a:cs typeface="Courier New" pitchFamily="34" charset="-120"/>
                        </a:rPr>
                        <a:t>Node.js, Fastify</a:t>
                      </a:r>
                      <a:endParaRPr lang="en-US" sz="1400" dirty="0">
                        <a:latin typeface="Courier New" charset="0"/>
                        <a:ea typeface="Courier New" charset="0"/>
                        <a:cs typeface="Courier New" charset="0"/>
                      </a:endParaRPr>
                    </a:p>
                  </a:txBody>
                  <a:tcPr marL="91440" marR="91440" marT="45720" marB="45720">
                    <a:lnL w="50800" cap="flat" cmpd="sng" algn="ctr">
                      <a:solidFill>
                        <a:srgbClr val="000000"/>
                      </a:solidFill>
                      <a:prstDash val="solid"/>
                      <a:round/>
                      <a:headEnd type="none" w="med" len="med"/>
                      <a:tailEnd type="none" w="med" len="med"/>
                    </a:lnL>
                    <a:lnR w="50800" cap="flat" cmpd="sng" algn="ctr">
                      <a:solidFill>
                        <a:srgbClr val="000000"/>
                      </a:solidFill>
                      <a:prstDash val="solid"/>
                      <a:round/>
                      <a:headEnd type="none" w="med" len="med"/>
                      <a:tailEnd type="none" w="med" len="med"/>
                    </a:lnR>
                    <a:lnT w="50800" cap="flat" cmpd="sng" algn="ctr">
                      <a:solidFill>
                        <a:srgbClr val="000000"/>
                      </a:solidFill>
                      <a:prstDash val="solid"/>
                      <a:round/>
                      <a:headEnd type="none" w="med" len="med"/>
                      <a:tailEnd type="none" w="med" len="med"/>
                    </a:lnT>
                    <a:lnB w="50800" cap="flat" cmpd="sng" algn="ctr">
                      <a:solidFill>
                        <a:srgbClr val="000000"/>
                      </a:solidFill>
                      <a:prstDash val="solid"/>
                      <a:round/>
                      <a:headEnd type="none" w="med" len="med"/>
                      <a:tailEnd type="none" w="med" len="med"/>
                    </a:lnB>
                    <a:solidFill>
                      <a:srgbClr val="00FFFF"/>
                    </a:solidFill>
                  </a:tcPr>
                </a:tc>
              </a:tr>
              <a:tr h="822960">
                <a:tc>
                  <a:txBody>
                    <a:bodyPr/>
                    <a:lstStyle/>
                    <a:p>
                      <a:pPr indent="0" marL="0">
                        <a:buNone/>
                      </a:pPr>
                      <a:r>
                        <a:rPr lang="en-US" sz="1600" dirty="0">
                          <a:solidFill>
                            <a:srgbClr val="FFFF00"/>
                          </a:solidFill>
                          <a:latin typeface="Comic Sans MS" pitchFamily="34" charset="0"/>
                          <a:ea typeface="Comic Sans MS" pitchFamily="34" charset="-122"/>
                          <a:cs typeface="Comic Sans MS" pitchFamily="34" charset="-120"/>
                        </a:rPr>
                        <a:t>Tools</a:t>
                      </a:r>
                      <a:endParaRPr lang="en-US" sz="1600" dirty="0">
                        <a:latin typeface="Comic Sans MS" charset="0"/>
                        <a:ea typeface="Comic Sans MS" charset="0"/>
                        <a:cs typeface="Comic Sans MS" charset="0"/>
                      </a:endParaRPr>
                    </a:p>
                  </a:txBody>
                  <a:tcPr marL="91440" marR="91440" marT="45720" marB="45720">
                    <a:lnL w="50800" cap="flat" cmpd="sng" algn="ctr">
                      <a:solidFill>
                        <a:srgbClr val="000000"/>
                      </a:solidFill>
                      <a:prstDash val="solid"/>
                      <a:round/>
                      <a:headEnd type="none" w="med" len="med"/>
                      <a:tailEnd type="none" w="med" len="med"/>
                    </a:lnL>
                    <a:lnR w="50800" cap="flat" cmpd="sng" algn="ctr">
                      <a:solidFill>
                        <a:srgbClr val="000000"/>
                      </a:solidFill>
                      <a:prstDash val="solid"/>
                      <a:round/>
                      <a:headEnd type="none" w="med" len="med"/>
                      <a:tailEnd type="none" w="med" len="med"/>
                    </a:lnR>
                    <a:lnT w="50800" cap="flat" cmpd="sng" algn="ctr">
                      <a:solidFill>
                        <a:srgbClr val="000000"/>
                      </a:solidFill>
                      <a:prstDash val="solid"/>
                      <a:round/>
                      <a:headEnd type="none" w="med" len="med"/>
                      <a:tailEnd type="none" w="med" len="med"/>
                    </a:lnT>
                    <a:lnB w="50800" cap="flat" cmpd="sng" algn="ctr">
                      <a:solidFill>
                        <a:srgbClr val="000000"/>
                      </a:solidFill>
                      <a:prstDash val="solid"/>
                      <a:round/>
                      <a:headEnd type="none" w="med" len="med"/>
                      <a:tailEnd type="none" w="med" len="med"/>
                    </a:lnB>
                    <a:solidFill>
                      <a:srgbClr val="FF00FF"/>
                    </a:solidFill>
                  </a:tcPr>
                </a:tc>
                <a:tc>
                  <a:txBody>
                    <a:bodyPr/>
                    <a:lstStyle/>
                    <a:p>
                      <a:pPr indent="0" marL="0">
                        <a:buNone/>
                      </a:pPr>
                      <a:r>
                        <a:rPr lang="en-US" sz="1400" dirty="0">
                          <a:solidFill>
                            <a:srgbClr val="FFFFFF"/>
                          </a:solidFill>
                          <a:latin typeface="Courier New" pitchFamily="34" charset="0"/>
                          <a:ea typeface="Courier New" pitchFamily="34" charset="-122"/>
                          <a:cs typeface="Courier New" pitchFamily="34" charset="-120"/>
                        </a:rPr>
                        <a:t>VS Code, Git, GitHub, Google Chrome, Laptop</a:t>
                      </a:r>
                      <a:endParaRPr lang="en-US" sz="1400" dirty="0">
                        <a:latin typeface="Courier New" charset="0"/>
                        <a:ea typeface="Courier New" charset="0"/>
                        <a:cs typeface="Courier New" charset="0"/>
                      </a:endParaRPr>
                    </a:p>
                  </a:txBody>
                  <a:tcPr marL="91440" marR="91440" marT="45720" marB="45720">
                    <a:lnL w="50800" cap="flat" cmpd="sng" algn="ctr">
                      <a:solidFill>
                        <a:srgbClr val="000000"/>
                      </a:solidFill>
                      <a:prstDash val="solid"/>
                      <a:round/>
                      <a:headEnd type="none" w="med" len="med"/>
                      <a:tailEnd type="none" w="med" len="med"/>
                    </a:lnL>
                    <a:lnR w="50800" cap="flat" cmpd="sng" algn="ctr">
                      <a:solidFill>
                        <a:srgbClr val="000000"/>
                      </a:solidFill>
                      <a:prstDash val="solid"/>
                      <a:round/>
                      <a:headEnd type="none" w="med" len="med"/>
                      <a:tailEnd type="none" w="med" len="med"/>
                    </a:lnR>
                    <a:lnT w="50800" cap="flat" cmpd="sng" algn="ctr">
                      <a:solidFill>
                        <a:srgbClr val="000000"/>
                      </a:solidFill>
                      <a:prstDash val="solid"/>
                      <a:round/>
                      <a:headEnd type="none" w="med" len="med"/>
                      <a:tailEnd type="none" w="med" len="med"/>
                    </a:lnT>
                    <a:lnB w="50800" cap="flat" cmpd="sng" algn="ctr">
                      <a:solidFill>
                        <a:srgbClr val="000000"/>
                      </a:solidFill>
                      <a:prstDash val="solid"/>
                      <a:round/>
                      <a:headEnd type="none" w="med" len="med"/>
                      <a:tailEnd type="none" w="med" len="med"/>
                    </a:lnB>
                    <a:solidFill>
                      <a:srgbClr val="00FFFF"/>
                    </a:solidFill>
                  </a:tcPr>
                </a:tc>
              </a:tr>
              <a:tr h="822960">
                <a:tc>
                  <a:txBody>
                    <a:bodyPr/>
                    <a:lstStyle/>
                    <a:p>
                      <a:pPr indent="0" marL="0">
                        <a:buNone/>
                      </a:pPr>
                      <a:r>
                        <a:rPr lang="en-US" sz="1600" dirty="0">
                          <a:solidFill>
                            <a:srgbClr val="FFFF00"/>
                          </a:solidFill>
                          <a:latin typeface="Comic Sans MS" pitchFamily="34" charset="0"/>
                          <a:ea typeface="Comic Sans MS" pitchFamily="34" charset="-122"/>
                          <a:cs typeface="Comic Sans MS" pitchFamily="34" charset="-120"/>
                        </a:rPr>
                        <a:t>Hosting</a:t>
                      </a:r>
                      <a:endParaRPr lang="en-US" sz="1600" dirty="0">
                        <a:latin typeface="Comic Sans MS" charset="0"/>
                        <a:ea typeface="Comic Sans MS" charset="0"/>
                        <a:cs typeface="Comic Sans MS" charset="0"/>
                      </a:endParaRPr>
                    </a:p>
                  </a:txBody>
                  <a:tcPr marL="91440" marR="91440" marT="45720" marB="45720">
                    <a:lnL w="50800" cap="flat" cmpd="sng" algn="ctr">
                      <a:solidFill>
                        <a:srgbClr val="000000"/>
                      </a:solidFill>
                      <a:prstDash val="solid"/>
                      <a:round/>
                      <a:headEnd type="none" w="med" len="med"/>
                      <a:tailEnd type="none" w="med" len="med"/>
                    </a:lnL>
                    <a:lnR w="50800" cap="flat" cmpd="sng" algn="ctr">
                      <a:solidFill>
                        <a:srgbClr val="000000"/>
                      </a:solidFill>
                      <a:prstDash val="solid"/>
                      <a:round/>
                      <a:headEnd type="none" w="med" len="med"/>
                      <a:tailEnd type="none" w="med" len="med"/>
                    </a:lnR>
                    <a:lnT w="50800" cap="flat" cmpd="sng" algn="ctr">
                      <a:solidFill>
                        <a:srgbClr val="000000"/>
                      </a:solidFill>
                      <a:prstDash val="solid"/>
                      <a:round/>
                      <a:headEnd type="none" w="med" len="med"/>
                      <a:tailEnd type="none" w="med" len="med"/>
                    </a:lnT>
                    <a:lnB w="50800" cap="flat" cmpd="sng" algn="ctr">
                      <a:solidFill>
                        <a:srgbClr val="000000"/>
                      </a:solidFill>
                      <a:prstDash val="solid"/>
                      <a:round/>
                      <a:headEnd type="none" w="med" len="med"/>
                      <a:tailEnd type="none" w="med" len="med"/>
                    </a:lnB>
                    <a:solidFill>
                      <a:srgbClr val="FF00FF"/>
                    </a:solidFill>
                  </a:tcPr>
                </a:tc>
                <a:tc>
                  <a:txBody>
                    <a:bodyPr/>
                    <a:lstStyle/>
                    <a:p>
                      <a:pPr indent="0" marL="0">
                        <a:buNone/>
                      </a:pPr>
                      <a:r>
                        <a:rPr lang="en-US" sz="1400" dirty="0">
                          <a:solidFill>
                            <a:srgbClr val="FFFFFF"/>
                          </a:solidFill>
                          <a:latin typeface="Courier New" pitchFamily="34" charset="0"/>
                          <a:ea typeface="Courier New" pitchFamily="34" charset="-122"/>
                          <a:cs typeface="Courier New" pitchFamily="34" charset="-120"/>
                        </a:rPr>
                        <a:t>Vercel, Render</a:t>
                      </a:r>
                      <a:endParaRPr lang="en-US" sz="1400" dirty="0">
                        <a:latin typeface="Courier New" charset="0"/>
                        <a:ea typeface="Courier New" charset="0"/>
                        <a:cs typeface="Courier New" charset="0"/>
                      </a:endParaRPr>
                    </a:p>
                  </a:txBody>
                  <a:tcPr marL="91440" marR="91440" marT="45720" marB="45720">
                    <a:lnL w="50800" cap="flat" cmpd="sng" algn="ctr">
                      <a:solidFill>
                        <a:srgbClr val="000000"/>
                      </a:solidFill>
                      <a:prstDash val="solid"/>
                      <a:round/>
                      <a:headEnd type="none" w="med" len="med"/>
                      <a:tailEnd type="none" w="med" len="med"/>
                    </a:lnL>
                    <a:lnR w="50800" cap="flat" cmpd="sng" algn="ctr">
                      <a:solidFill>
                        <a:srgbClr val="000000"/>
                      </a:solidFill>
                      <a:prstDash val="solid"/>
                      <a:round/>
                      <a:headEnd type="none" w="med" len="med"/>
                      <a:tailEnd type="none" w="med" len="med"/>
                    </a:lnR>
                    <a:lnT w="50800" cap="flat" cmpd="sng" algn="ctr">
                      <a:solidFill>
                        <a:srgbClr val="000000"/>
                      </a:solidFill>
                      <a:prstDash val="solid"/>
                      <a:round/>
                      <a:headEnd type="none" w="med" len="med"/>
                      <a:tailEnd type="none" w="med" len="med"/>
                    </a:lnT>
                    <a:lnB w="50800" cap="flat" cmpd="sng" algn="ctr">
                      <a:solidFill>
                        <a:srgbClr val="000000"/>
                      </a:solidFill>
                      <a:prstDash val="solid"/>
                      <a:round/>
                      <a:headEnd type="none" w="med" len="med"/>
                      <a:tailEnd type="none" w="med" len="med"/>
                    </a:lnB>
                    <a:solidFill>
                      <a:srgbClr val="00FFFF"/>
                    </a:solidFill>
                  </a:tcPr>
                </a:tc>
              </a:tr>
              <a:tr h="822960">
                <a:tc>
                  <a:txBody>
                    <a:bodyPr/>
                    <a:lstStyle/>
                    <a:p>
                      <a:pPr indent="0" marL="0">
                        <a:buNone/>
                      </a:pPr>
                      <a:r>
                        <a:rPr lang="en-US" sz="1600" dirty="0">
                          <a:solidFill>
                            <a:srgbClr val="FFFF00"/>
                          </a:solidFill>
                          <a:latin typeface="Comic Sans MS" pitchFamily="34" charset="0"/>
                          <a:ea typeface="Comic Sans MS" pitchFamily="34" charset="-122"/>
                          <a:cs typeface="Comic Sans MS" pitchFamily="34" charset="-120"/>
                        </a:rPr>
                        <a:t>Other</a:t>
                      </a:r>
                      <a:endParaRPr lang="en-US" sz="1600" dirty="0">
                        <a:latin typeface="Comic Sans MS" charset="0"/>
                        <a:ea typeface="Comic Sans MS" charset="0"/>
                        <a:cs typeface="Comic Sans MS" charset="0"/>
                      </a:endParaRPr>
                    </a:p>
                  </a:txBody>
                  <a:tcPr marL="91440" marR="91440" marT="45720" marB="45720">
                    <a:lnL w="50800" cap="flat" cmpd="sng" algn="ctr">
                      <a:solidFill>
                        <a:srgbClr val="000000"/>
                      </a:solidFill>
                      <a:prstDash val="solid"/>
                      <a:round/>
                      <a:headEnd type="none" w="med" len="med"/>
                      <a:tailEnd type="none" w="med" len="med"/>
                    </a:lnL>
                    <a:lnR w="50800" cap="flat" cmpd="sng" algn="ctr">
                      <a:solidFill>
                        <a:srgbClr val="000000"/>
                      </a:solidFill>
                      <a:prstDash val="solid"/>
                      <a:round/>
                      <a:headEnd type="none" w="med" len="med"/>
                      <a:tailEnd type="none" w="med" len="med"/>
                    </a:lnR>
                    <a:lnT w="50800" cap="flat" cmpd="sng" algn="ctr">
                      <a:solidFill>
                        <a:srgbClr val="000000"/>
                      </a:solidFill>
                      <a:prstDash val="solid"/>
                      <a:round/>
                      <a:headEnd type="none" w="med" len="med"/>
                      <a:tailEnd type="none" w="med" len="med"/>
                    </a:lnT>
                    <a:lnB w="50800" cap="flat" cmpd="sng" algn="ctr">
                      <a:solidFill>
                        <a:srgbClr val="000000"/>
                      </a:solidFill>
                      <a:prstDash val="solid"/>
                      <a:round/>
                      <a:headEnd type="none" w="med" len="med"/>
                      <a:tailEnd type="none" w="med" len="med"/>
                    </a:lnB>
                    <a:solidFill>
                      <a:srgbClr val="FF00FF"/>
                    </a:solidFill>
                  </a:tcPr>
                </a:tc>
                <a:tc>
                  <a:txBody>
                    <a:bodyPr/>
                    <a:lstStyle/>
                    <a:p>
                      <a:pPr indent="0" marL="0">
                        <a:buNone/>
                      </a:pPr>
                      <a:r>
                        <a:rPr lang="en-US" sz="1400" dirty="0">
                          <a:solidFill>
                            <a:srgbClr val="FFFFFF"/>
                          </a:solidFill>
                          <a:latin typeface="Courier New" pitchFamily="34" charset="0"/>
                          <a:ea typeface="Courier New" pitchFamily="34" charset="-122"/>
                          <a:cs typeface="Courier New" pitchFamily="34" charset="-120"/>
                        </a:rPr>
                        <a:t>Internet, Electricity, Keyboard, Mouse</a:t>
                      </a:r>
                      <a:endParaRPr lang="en-US" sz="1400" dirty="0">
                        <a:latin typeface="Courier New" charset="0"/>
                        <a:ea typeface="Courier New" charset="0"/>
                        <a:cs typeface="Courier New" charset="0"/>
                      </a:endParaRPr>
                    </a:p>
                  </a:txBody>
                  <a:tcPr marL="91440" marR="91440" marT="45720" marB="45720">
                    <a:lnL w="50800" cap="flat" cmpd="sng" algn="ctr">
                      <a:solidFill>
                        <a:srgbClr val="000000"/>
                      </a:solidFill>
                      <a:prstDash val="solid"/>
                      <a:round/>
                      <a:headEnd type="none" w="med" len="med"/>
                      <a:tailEnd type="none" w="med" len="med"/>
                    </a:lnL>
                    <a:lnR w="50800" cap="flat" cmpd="sng" algn="ctr">
                      <a:solidFill>
                        <a:srgbClr val="000000"/>
                      </a:solidFill>
                      <a:prstDash val="solid"/>
                      <a:round/>
                      <a:headEnd type="none" w="med" len="med"/>
                      <a:tailEnd type="none" w="med" len="med"/>
                    </a:lnR>
                    <a:lnT w="50800" cap="flat" cmpd="sng" algn="ctr">
                      <a:solidFill>
                        <a:srgbClr val="000000"/>
                      </a:solidFill>
                      <a:prstDash val="solid"/>
                      <a:round/>
                      <a:headEnd type="none" w="med" len="med"/>
                      <a:tailEnd type="none" w="med" len="med"/>
                    </a:lnT>
                    <a:lnB w="50800" cap="flat" cmpd="sng" algn="ctr">
                      <a:solidFill>
                        <a:srgbClr val="000000"/>
                      </a:solidFill>
                      <a:prstDash val="solid"/>
                      <a:round/>
                      <a:headEnd type="none" w="med" len="med"/>
                      <a:tailEnd type="none" w="med" len="med"/>
                    </a:lnB>
                    <a:solidFill>
                      <a:srgbClr val="00FFFF"/>
                    </a:solidFill>
                  </a:tcPr>
                </a:tc>
              </a:tr>
            </a:tbl>
          </a:graphicData>
        </a:graphic>
      </p:graphicFrame>
      <p:sp>
        <p:nvSpPr>
          <p:cNvPr id="5" name="Text 2"/>
          <p:cNvSpPr txBox="1"/>
          <p:nvPr/>
        </p:nvSpPr>
        <p:spPr>
          <a:xfrm>
            <a:off x="274320" y="6035040"/>
            <a:ext cx="8229600" cy="457200"/>
          </a:xfrm>
          <a:prstGeom prst="rect">
            <a:avLst/>
          </a:prstGeom>
          <a:noFill/>
          <a:ln/>
        </p:spPr>
        <p:txBody>
          <a:bodyPr wrap="square" rtlCol="0" anchor="ctr"/>
          <a:lstStyle/>
          <a:p>
            <a:pPr indent="0" marL="0">
              <a:buNone/>
            </a:pPr>
            <a:r>
              <a:rPr lang="en-US" sz="1200" dirty="0">
                <a:solidFill>
                  <a:srgbClr val="FFFF99"/>
                </a:solidFill>
                <a:latin typeface="Comic Sans MS" pitchFamily="34" charset="0"/>
                <a:ea typeface="Comic Sans MS" pitchFamily="34" charset="-122"/>
                <a:cs typeface="Comic Sans MS" pitchFamily="34" charset="-120"/>
              </a:rPr>
              <a:t>* all technologies are latest version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808080"/>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00FF"/>
          </a:solidFill>
          <a:ln w="76200">
            <a:solidFill>
              <a:srgbClr val="FF0000"/>
            </a:solidFill>
            <a:prstDash val="solid"/>
          </a:ln>
        </p:spPr>
      </p:sp>
      <p:sp>
        <p:nvSpPr>
          <p:cNvPr id="3" name="Text 1"/>
          <p:cNvSpPr txBox="1"/>
          <p:nvPr/>
        </p:nvSpPr>
        <p:spPr>
          <a:xfrm>
            <a:off x="91440" y="45720"/>
            <a:ext cx="8961120" cy="914400"/>
          </a:xfrm>
          <a:prstGeom prst="rect">
            <a:avLst/>
          </a:prstGeom>
          <a:noFill/>
          <a:ln/>
          <a:effectLst>
            <a:outerShdw sx="100000" sy="100000" kx="0" ky="0" algn="bl" rotWithShape="0" blurRad="101600" dist="50800" dir="2700000">
              <a:srgbClr val="FF00FF">
                <a:alpha val="100000"/>
              </a:srgbClr>
            </a:outerShdw>
          </a:effectLst>
        </p:spPr>
        <p:txBody>
          <a:bodyPr wrap="square" rtlCol="0" anchor="ctr"/>
          <a:lstStyle/>
          <a:p>
            <a:pPr algn="ctr" indent="0" marL="0">
              <a:buNone/>
            </a:pPr>
            <a:r>
              <a:rPr lang="en-US" sz="4000" dirty="0">
                <a:solidFill>
                  <a:srgbClr val="A0A0A0"/>
                </a:solidFill>
                <a:latin typeface="Impact" pitchFamily="34" charset="0"/>
                <a:ea typeface="Impact" pitchFamily="34" charset="-122"/>
                <a:cs typeface="Impact" pitchFamily="34" charset="-120"/>
              </a:rPr>
              <a:t>FEATURES</a:t>
            </a:r>
            <a:endParaRPr lang="en-US" sz="4000" dirty="0"/>
          </a:p>
        </p:txBody>
      </p:sp>
      <p:sp>
        <p:nvSpPr>
          <p:cNvPr id="4" name="Text 2"/>
          <p:cNvSpPr txBox="1"/>
          <p:nvPr/>
        </p:nvSpPr>
        <p:spPr>
          <a:xfrm>
            <a:off x="182880" y="1097280"/>
            <a:ext cx="4297680" cy="5486400"/>
          </a:xfrm>
          <a:prstGeom prst="rect">
            <a:avLst/>
          </a:prstGeom>
          <a:noFill/>
          <a:ln/>
        </p:spPr>
        <p:txBody>
          <a:bodyPr wrap="square" rtlCol="0" anchor="t"/>
          <a:lstStyle/>
          <a:p>
            <a:pPr marL="342900" indent="-342900">
              <a:buSzPct val="100000"/>
              <a:buChar char="•"/>
            </a:pPr>
            <a:r>
              <a:rPr lang="en-US" sz="2000" dirty="0">
                <a:solidFill>
                  <a:srgbClr val="999999"/>
                </a:solidFill>
                <a:latin typeface="Courier New" pitchFamily="34" charset="0"/>
                <a:ea typeface="Courier New" pitchFamily="34" charset="-122"/>
                <a:cs typeface="Courier New" pitchFamily="34" charset="-120"/>
              </a:rPr>
              <a:t>Home Page</a:t>
            </a:r>
            <a:endParaRPr lang="en-US" sz="2000" dirty="0"/>
          </a:p>
          <a:p>
            <a:pPr marL="342900" indent="-342900">
              <a:buSzPct val="100000"/>
              <a:buChar char="•"/>
            </a:pPr>
            <a:r>
              <a:rPr lang="en-US" sz="2000" dirty="0">
                <a:solidFill>
                  <a:srgbClr val="999999"/>
                </a:solidFill>
                <a:latin typeface="Courier New" pitchFamily="34" charset="0"/>
                <a:ea typeface="Courier New" pitchFamily="34" charset="-122"/>
                <a:cs typeface="Courier New" pitchFamily="34" charset="-120"/>
              </a:rPr>
              <a:t>Product Page</a:t>
            </a:r>
            <a:endParaRPr lang="en-US" sz="2000" dirty="0"/>
          </a:p>
          <a:p>
            <a:pPr marL="342900" indent="-342900">
              <a:buSzPct val="100000"/>
              <a:buChar char="•"/>
            </a:pPr>
            <a:r>
              <a:rPr lang="en-US" sz="2000" dirty="0">
                <a:solidFill>
                  <a:srgbClr val="999999"/>
                </a:solidFill>
                <a:latin typeface="Courier New" pitchFamily="34" charset="0"/>
                <a:ea typeface="Courier New" pitchFamily="34" charset="-122"/>
                <a:cs typeface="Courier New" pitchFamily="34" charset="-120"/>
              </a:rPr>
              <a:t>Cart</a:t>
            </a:r>
            <a:endParaRPr lang="en-US" sz="2000" dirty="0"/>
          </a:p>
          <a:p>
            <a:pPr marL="342900" indent="-342900">
              <a:buSzPct val="100000"/>
              <a:buChar char="•"/>
            </a:pPr>
            <a:r>
              <a:rPr lang="en-US" sz="2000" dirty="0">
                <a:solidFill>
                  <a:srgbClr val="999999"/>
                </a:solidFill>
                <a:latin typeface="Courier New" pitchFamily="34" charset="0"/>
                <a:ea typeface="Courier New" pitchFamily="34" charset="-122"/>
                <a:cs typeface="Courier New" pitchFamily="34" charset="-120"/>
              </a:rPr>
              <a:t>Order</a:t>
            </a:r>
            <a:endParaRPr lang="en-US" sz="2000" dirty="0"/>
          </a:p>
          <a:p>
            <a:pPr marL="342900" indent="-342900">
              <a:buSzPct val="100000"/>
              <a:buChar char="•"/>
            </a:pPr>
            <a:r>
              <a:rPr lang="en-US" sz="2000" dirty="0">
                <a:solidFill>
                  <a:srgbClr val="999999"/>
                </a:solidFill>
                <a:latin typeface="Courier New" pitchFamily="34" charset="0"/>
                <a:ea typeface="Courier New" pitchFamily="34" charset="-122"/>
                <a:cs typeface="Courier New" pitchFamily="34" charset="-120"/>
              </a:rPr>
              <a:t>Search</a:t>
            </a:r>
            <a:endParaRPr lang="en-US" sz="2000" dirty="0"/>
          </a:p>
          <a:p>
            <a:pPr marL="342900" indent="-342900">
              <a:buSzPct val="100000"/>
              <a:buChar char="•"/>
            </a:pPr>
            <a:r>
              <a:rPr lang="en-US" sz="2000" dirty="0">
                <a:solidFill>
                  <a:srgbClr val="999999"/>
                </a:solidFill>
                <a:latin typeface="Courier New" pitchFamily="34" charset="0"/>
                <a:ea typeface="Courier New" pitchFamily="34" charset="-122"/>
                <a:cs typeface="Courier New" pitchFamily="34" charset="-120"/>
              </a:rPr>
              <a:t>Filter</a:t>
            </a:r>
            <a:endParaRPr lang="en-US" sz="2000" dirty="0"/>
          </a:p>
          <a:p>
            <a:pPr marL="342900" indent="-342900">
              <a:buSzPct val="100000"/>
              <a:buChar char="•"/>
            </a:pPr>
            <a:r>
              <a:rPr lang="en-US" sz="2000" dirty="0">
                <a:solidFill>
                  <a:srgbClr val="999999"/>
                </a:solidFill>
                <a:latin typeface="Courier New" pitchFamily="34" charset="0"/>
                <a:ea typeface="Courier New" pitchFamily="34" charset="-122"/>
                <a:cs typeface="Courier New" pitchFamily="34" charset="-120"/>
              </a:rPr>
              <a:t>Wishlist</a:t>
            </a:r>
            <a:endParaRPr lang="en-US" sz="2000" dirty="0"/>
          </a:p>
          <a:p>
            <a:pPr marL="342900" indent="-342900">
              <a:buSzPct val="100000"/>
              <a:buChar char="•"/>
            </a:pPr>
            <a:r>
              <a:rPr lang="en-US" sz="2000" dirty="0">
                <a:solidFill>
                  <a:srgbClr val="999999"/>
                </a:solidFill>
                <a:latin typeface="Courier New" pitchFamily="34" charset="0"/>
                <a:ea typeface="Courier New" pitchFamily="34" charset="-122"/>
                <a:cs typeface="Courier New" pitchFamily="34" charset="-120"/>
              </a:rPr>
              <a:t>Login</a:t>
            </a:r>
            <a:endParaRPr lang="en-US" sz="2000" dirty="0"/>
          </a:p>
          <a:p>
            <a:pPr marL="342900" indent="-342900">
              <a:buSzPct val="100000"/>
              <a:buChar char="•"/>
            </a:pPr>
            <a:r>
              <a:rPr lang="en-US" sz="2000" dirty="0">
                <a:solidFill>
                  <a:srgbClr val="999999"/>
                </a:solidFill>
                <a:latin typeface="Courier New" pitchFamily="34" charset="0"/>
                <a:ea typeface="Courier New" pitchFamily="34" charset="-122"/>
                <a:cs typeface="Courier New" pitchFamily="34" charset="-120"/>
              </a:rPr>
              <a:t>Signup</a:t>
            </a:r>
            <a:endParaRPr lang="en-US" sz="2000" dirty="0"/>
          </a:p>
          <a:p>
            <a:pPr marL="342900" indent="-342900">
              <a:buSzPct val="100000"/>
              <a:buChar char="•"/>
            </a:pPr>
            <a:r>
              <a:rPr lang="en-US" sz="2000" dirty="0">
                <a:solidFill>
                  <a:srgbClr val="999999"/>
                </a:solidFill>
                <a:latin typeface="Courier New" pitchFamily="34" charset="0"/>
                <a:ea typeface="Courier New" pitchFamily="34" charset="-122"/>
                <a:cs typeface="Courier New" pitchFamily="34" charset="-120"/>
              </a:rPr>
              <a:t>Logout</a:t>
            </a:r>
            <a:endParaRPr lang="en-US" sz="2000" dirty="0"/>
          </a:p>
          <a:p>
            <a:pPr marL="342900" indent="-342900">
              <a:buSzPct val="100000"/>
              <a:buChar char="•"/>
            </a:pPr>
            <a:r>
              <a:rPr lang="en-US" sz="2000" dirty="0">
                <a:solidFill>
                  <a:srgbClr val="999999"/>
                </a:solidFill>
                <a:latin typeface="Courier New" pitchFamily="34" charset="0"/>
                <a:ea typeface="Courier New" pitchFamily="34" charset="-122"/>
                <a:cs typeface="Courier New" pitchFamily="34" charset="-120"/>
              </a:rPr>
              <a:t>Profile</a:t>
            </a:r>
            <a:endParaRPr lang="en-US" sz="2000" dirty="0"/>
          </a:p>
          <a:p>
            <a:pPr marL="342900" indent="-342900">
              <a:buSzPct val="100000"/>
              <a:buChar char="•"/>
            </a:pPr>
            <a:r>
              <a:rPr lang="en-US" sz="2000" dirty="0">
                <a:solidFill>
                  <a:srgbClr val="999999"/>
                </a:solidFill>
                <a:latin typeface="Courier New" pitchFamily="34" charset="0"/>
                <a:ea typeface="Courier New" pitchFamily="34" charset="-122"/>
                <a:cs typeface="Courier New" pitchFamily="34" charset="-120"/>
              </a:rPr>
              <a:t>Seller</a:t>
            </a:r>
            <a:endParaRPr lang="en-US" sz="2000" dirty="0"/>
          </a:p>
        </p:txBody>
      </p:sp>
      <p:sp>
        <p:nvSpPr>
          <p:cNvPr id="5" name="Text 3"/>
          <p:cNvSpPr txBox="1"/>
          <p:nvPr/>
        </p:nvSpPr>
        <p:spPr>
          <a:xfrm>
            <a:off x="4663440" y="1097280"/>
            <a:ext cx="4297680" cy="5486400"/>
          </a:xfrm>
          <a:prstGeom prst="rect">
            <a:avLst/>
          </a:prstGeom>
          <a:noFill/>
          <a:ln/>
        </p:spPr>
        <p:txBody>
          <a:bodyPr wrap="square" rtlCol="0" anchor="t"/>
          <a:lstStyle/>
          <a:p>
            <a:pPr marL="342900" indent="-342900">
              <a:buSzPct val="100000"/>
              <a:buChar char="•"/>
            </a:pPr>
            <a:r>
              <a:rPr lang="en-US" sz="2000" dirty="0">
                <a:solidFill>
                  <a:srgbClr val="B0B0B0"/>
                </a:solidFill>
                <a:latin typeface="Courier New" pitchFamily="34" charset="0"/>
                <a:ea typeface="Courier New" pitchFamily="34" charset="-122"/>
                <a:cs typeface="Courier New" pitchFamily="34" charset="-120"/>
              </a:rPr>
              <a:t>Admin</a:t>
            </a:r>
            <a:endParaRPr lang="en-US" sz="2000" dirty="0"/>
          </a:p>
          <a:p>
            <a:pPr marL="342900" indent="-342900">
              <a:buSzPct val="100000"/>
              <a:buChar char="•"/>
            </a:pPr>
            <a:r>
              <a:rPr lang="en-US" sz="2000" dirty="0">
                <a:solidFill>
                  <a:srgbClr val="B0B0B0"/>
                </a:solidFill>
                <a:latin typeface="Courier New" pitchFamily="34" charset="0"/>
                <a:ea typeface="Courier New" pitchFamily="34" charset="-122"/>
                <a:cs typeface="Courier New" pitchFamily="34" charset="-120"/>
              </a:rPr>
              <a:t>Delivery</a:t>
            </a:r>
            <a:endParaRPr lang="en-US" sz="2000" dirty="0"/>
          </a:p>
          <a:p>
            <a:pPr marL="342900" indent="-342900">
              <a:buSzPct val="100000"/>
              <a:buChar char="•"/>
            </a:pPr>
            <a:r>
              <a:rPr lang="en-US" sz="2000" dirty="0">
                <a:solidFill>
                  <a:srgbClr val="B0B0B0"/>
                </a:solidFill>
                <a:latin typeface="Courier New" pitchFamily="34" charset="0"/>
                <a:ea typeface="Courier New" pitchFamily="34" charset="-122"/>
                <a:cs typeface="Courier New" pitchFamily="34" charset="-120"/>
              </a:rPr>
              <a:t>Responsive</a:t>
            </a:r>
            <a:endParaRPr lang="en-US" sz="2000" dirty="0"/>
          </a:p>
          <a:p>
            <a:pPr marL="342900" indent="-342900">
              <a:buSzPct val="100000"/>
              <a:buChar char="•"/>
            </a:pPr>
            <a:r>
              <a:rPr lang="en-US" sz="2000" dirty="0">
                <a:solidFill>
                  <a:srgbClr val="B0B0B0"/>
                </a:solidFill>
                <a:latin typeface="Courier New" pitchFamily="34" charset="0"/>
                <a:ea typeface="Courier New" pitchFamily="34" charset="-122"/>
                <a:cs typeface="Courier New" pitchFamily="34" charset="-120"/>
              </a:rPr>
              <a:t>Fast</a:t>
            </a:r>
            <a:endParaRPr lang="en-US" sz="2000" dirty="0"/>
          </a:p>
          <a:p>
            <a:pPr marL="342900" indent="-342900">
              <a:buSzPct val="100000"/>
              <a:buChar char="•"/>
            </a:pPr>
            <a:r>
              <a:rPr lang="en-US" sz="2000" dirty="0">
                <a:solidFill>
                  <a:srgbClr val="B0B0B0"/>
                </a:solidFill>
                <a:latin typeface="Courier New" pitchFamily="34" charset="0"/>
                <a:ea typeface="Courier New" pitchFamily="34" charset="-122"/>
                <a:cs typeface="Courier New" pitchFamily="34" charset="-120"/>
              </a:rPr>
              <a:t>Secure</a:t>
            </a:r>
            <a:endParaRPr lang="en-US" sz="2000" dirty="0"/>
          </a:p>
          <a:p>
            <a:pPr marL="342900" indent="-342900">
              <a:buSzPct val="100000"/>
              <a:buChar char="•"/>
            </a:pPr>
            <a:r>
              <a:rPr lang="en-US" sz="2000" dirty="0">
                <a:solidFill>
                  <a:srgbClr val="B0B0B0"/>
                </a:solidFill>
                <a:latin typeface="Courier New" pitchFamily="34" charset="0"/>
                <a:ea typeface="Courier New" pitchFamily="34" charset="-122"/>
                <a:cs typeface="Courier New" pitchFamily="34" charset="-120"/>
              </a:rPr>
              <a:t>Beautiful</a:t>
            </a:r>
            <a:endParaRPr lang="en-US" sz="2000" dirty="0"/>
          </a:p>
          <a:p>
            <a:pPr marL="342900" indent="-342900">
              <a:buSzPct val="100000"/>
              <a:buChar char="•"/>
            </a:pPr>
            <a:r>
              <a:rPr lang="en-US" sz="2000" dirty="0">
                <a:solidFill>
                  <a:srgbClr val="B0B0B0"/>
                </a:solidFill>
                <a:latin typeface="Courier New" pitchFamily="34" charset="0"/>
                <a:ea typeface="Courier New" pitchFamily="34" charset="-122"/>
                <a:cs typeface="Courier New" pitchFamily="34" charset="-120"/>
              </a:rPr>
              <a:t>Modern</a:t>
            </a:r>
            <a:endParaRPr lang="en-US" sz="2000" dirty="0"/>
          </a:p>
          <a:p>
            <a:pPr marL="342900" indent="-342900">
              <a:buSzPct val="100000"/>
              <a:buChar char="•"/>
            </a:pPr>
            <a:r>
              <a:rPr lang="en-US" sz="2000" dirty="0">
                <a:solidFill>
                  <a:srgbClr val="B0B0B0"/>
                </a:solidFill>
                <a:latin typeface="Courier New" pitchFamily="34" charset="0"/>
                <a:ea typeface="Courier New" pitchFamily="34" charset="-122"/>
                <a:cs typeface="Courier New" pitchFamily="34" charset="-120"/>
              </a:rPr>
              <a:t>Easy</a:t>
            </a:r>
            <a:endParaRPr lang="en-US" sz="2000" dirty="0"/>
          </a:p>
          <a:p>
            <a:pPr marL="342900" indent="-342900">
              <a:buSzPct val="100000"/>
              <a:buChar char="•"/>
            </a:pPr>
            <a:r>
              <a:rPr lang="en-US" sz="2000" dirty="0">
                <a:solidFill>
                  <a:srgbClr val="B0B0B0"/>
                </a:solidFill>
                <a:latin typeface="Courier New" pitchFamily="34" charset="0"/>
                <a:ea typeface="Courier New" pitchFamily="34" charset="-122"/>
                <a:cs typeface="Courier New" pitchFamily="34" charset="-120"/>
              </a:rPr>
              <a:t>Simple</a:t>
            </a:r>
            <a:endParaRPr lang="en-US" sz="2000" dirty="0"/>
          </a:p>
          <a:p>
            <a:pPr marL="342900" indent="-342900">
              <a:buSzPct val="100000"/>
              <a:buChar char="•"/>
            </a:pPr>
            <a:r>
              <a:rPr lang="en-US" sz="2000" dirty="0">
                <a:solidFill>
                  <a:srgbClr val="B0B0B0"/>
                </a:solidFill>
                <a:latin typeface="Courier New" pitchFamily="34" charset="0"/>
                <a:ea typeface="Courier New" pitchFamily="34" charset="-122"/>
                <a:cs typeface="Courier New" pitchFamily="34" charset="-120"/>
              </a:rPr>
              <a:t>Cheap</a:t>
            </a:r>
            <a:endParaRPr lang="en-US" sz="2000" dirty="0"/>
          </a:p>
          <a:p>
            <a:pPr marL="342900" indent="-342900">
              <a:buSzPct val="100000"/>
              <a:buChar char="•"/>
            </a:pPr>
            <a:r>
              <a:rPr lang="en-US" sz="2000" dirty="0">
                <a:solidFill>
                  <a:srgbClr val="B0B0B0"/>
                </a:solidFill>
                <a:latin typeface="Courier New" pitchFamily="34" charset="0"/>
                <a:ea typeface="Courier New" pitchFamily="34" charset="-122"/>
                <a:cs typeface="Courier New" pitchFamily="34" charset="-120"/>
              </a:rPr>
              <a:t>Bangla</a:t>
            </a:r>
            <a:endParaRPr lang="en-US" sz="2000" dirty="0"/>
          </a:p>
          <a:p>
            <a:pPr marL="342900" indent="-342900">
              <a:buSzPct val="100000"/>
              <a:buChar char="•"/>
            </a:pPr>
            <a:r>
              <a:rPr lang="en-US" sz="2000" dirty="0">
                <a:solidFill>
                  <a:srgbClr val="B0B0B0"/>
                </a:solidFill>
                <a:latin typeface="Courier New" pitchFamily="34" charset="0"/>
                <a:ea typeface="Courier New" pitchFamily="34" charset="-122"/>
                <a:cs typeface="Courier New" pitchFamily="34" charset="-120"/>
              </a:rPr>
              <a:t>Many More...</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6600"/>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00FF"/>
          </a:solidFill>
          <a:ln w="76200">
            <a:solidFill>
              <a:srgbClr val="FF0000"/>
            </a:solidFill>
            <a:prstDash val="solid"/>
          </a:ln>
        </p:spPr>
      </p:sp>
      <p:sp>
        <p:nvSpPr>
          <p:cNvPr id="3" name="Text 1"/>
          <p:cNvSpPr txBox="1"/>
          <p:nvPr/>
        </p:nvSpPr>
        <p:spPr>
          <a:xfrm>
            <a:off x="91440" y="45720"/>
            <a:ext cx="8961120" cy="914400"/>
          </a:xfrm>
          <a:prstGeom prst="rect">
            <a:avLst/>
          </a:prstGeom>
          <a:noFill/>
          <a:ln/>
          <a:effectLst>
            <a:outerShdw sx="100000" sy="100000" kx="0" ky="0" algn="bl" rotWithShape="0" blurRad="101600" dist="50800" dir="2700000">
              <a:srgbClr val="FF00FF">
                <a:alpha val="100000"/>
              </a:srgbClr>
            </a:outerShdw>
          </a:effectLst>
        </p:spPr>
        <p:txBody>
          <a:bodyPr wrap="square" rtlCol="0" anchor="ctr"/>
          <a:lstStyle/>
          <a:p>
            <a:pPr algn="ctr" indent="0" marL="0">
              <a:buNone/>
            </a:pPr>
            <a:r>
              <a:rPr lang="en-US" sz="4000" dirty="0">
                <a:solidFill>
                  <a:srgbClr val="00FF00"/>
                </a:solidFill>
                <a:latin typeface="Impact" pitchFamily="34" charset="0"/>
                <a:ea typeface="Impact" pitchFamily="34" charset="-122"/>
                <a:cs typeface="Impact" pitchFamily="34" charset="-120"/>
              </a:rPr>
              <a:t>ADVANTAGES &amp; DISADVANTAGES</a:t>
            </a:r>
            <a:endParaRPr lang="en-US" sz="4000" dirty="0"/>
          </a:p>
        </p:txBody>
      </p:sp>
      <p:sp>
        <p:nvSpPr>
          <p:cNvPr id="4" name="Text 2"/>
          <p:cNvSpPr txBox="1"/>
          <p:nvPr/>
        </p:nvSpPr>
        <p:spPr>
          <a:xfrm>
            <a:off x="182880" y="1097280"/>
            <a:ext cx="4297680" cy="548640"/>
          </a:xfrm>
          <a:prstGeom prst="rect">
            <a:avLst/>
          </a:prstGeom>
          <a:noFill/>
          <a:ln/>
        </p:spPr>
        <p:txBody>
          <a:bodyPr wrap="square" rtlCol="0" anchor="ctr"/>
          <a:lstStyle/>
          <a:p>
            <a:pPr indent="0" marL="0">
              <a:buNone/>
            </a:pPr>
            <a:r>
              <a:rPr lang="en-US" sz="2400" u="wavy" dirty="0">
                <a:solidFill>
                  <a:srgbClr val="FFFF00"/>
                </a:solidFill>
                <a:latin typeface="Impact" pitchFamily="34" charset="0"/>
                <a:ea typeface="Impact" pitchFamily="34" charset="-122"/>
                <a:cs typeface="Impact" pitchFamily="34" charset="-120"/>
              </a:rPr>
              <a:t>ADVANTAGES:</a:t>
            </a:r>
            <a:endParaRPr lang="en-US" sz="2400" dirty="0"/>
          </a:p>
        </p:txBody>
      </p:sp>
      <p:sp>
        <p:nvSpPr>
          <p:cNvPr id="5" name="Text 3"/>
          <p:cNvSpPr txBox="1"/>
          <p:nvPr/>
        </p:nvSpPr>
        <p:spPr>
          <a:xfrm>
            <a:off x="182880" y="1645920"/>
            <a:ext cx="4297680" cy="5486400"/>
          </a:xfrm>
          <a:prstGeom prst="rect">
            <a:avLst/>
          </a:prstGeom>
          <a:noFill/>
          <a:ln/>
        </p:spPr>
        <p:txBody>
          <a:bodyPr wrap="square" rtlCol="0" anchor="t"/>
          <a:lstStyle/>
          <a:p>
            <a:pPr marL="342900" indent="-342900">
              <a:buSzPct val="100000"/>
              <a:buChar char="•"/>
            </a:pPr>
            <a:r>
              <a:rPr lang="en-US" sz="2000" dirty="0">
                <a:solidFill>
                  <a:srgbClr val="FFCC00"/>
                </a:solidFill>
                <a:latin typeface="Comic Sans MS" pitchFamily="34" charset="0"/>
                <a:ea typeface="Comic Sans MS" pitchFamily="34" charset="-122"/>
                <a:cs typeface="Comic Sans MS" pitchFamily="34" charset="-120"/>
              </a:rPr>
              <a:t>Saves time</a:t>
            </a:r>
            <a:endParaRPr lang="en-US" sz="2000" dirty="0"/>
          </a:p>
          <a:p>
            <a:pPr marL="342900" indent="-342900">
              <a:buSzPct val="100000"/>
              <a:buChar char="•"/>
            </a:pPr>
            <a:r>
              <a:rPr lang="en-US" sz="2000" dirty="0">
                <a:solidFill>
                  <a:srgbClr val="FFCC00"/>
                </a:solidFill>
                <a:latin typeface="Comic Sans MS" pitchFamily="34" charset="0"/>
                <a:ea typeface="Comic Sans MS" pitchFamily="34" charset="-122"/>
                <a:cs typeface="Comic Sans MS" pitchFamily="34" charset="-120"/>
              </a:rPr>
              <a:t>Saves money</a:t>
            </a:r>
            <a:endParaRPr lang="en-US" sz="2000" dirty="0"/>
          </a:p>
          <a:p>
            <a:pPr marL="342900" indent="-342900">
              <a:buSzPct val="100000"/>
              <a:buChar char="•"/>
            </a:pPr>
            <a:r>
              <a:rPr lang="en-US" sz="2000" dirty="0">
                <a:solidFill>
                  <a:srgbClr val="FFCC00"/>
                </a:solidFill>
                <a:latin typeface="Comic Sans MS" pitchFamily="34" charset="0"/>
                <a:ea typeface="Comic Sans MS" pitchFamily="34" charset="-122"/>
                <a:cs typeface="Comic Sans MS" pitchFamily="34" charset="-120"/>
              </a:rPr>
              <a:t>Available 24/7</a:t>
            </a:r>
            <a:endParaRPr lang="en-US" sz="2000" dirty="0"/>
          </a:p>
          <a:p>
            <a:pPr marL="342900" indent="-342900">
              <a:buSzPct val="100000"/>
              <a:buChar char="•"/>
            </a:pPr>
            <a:r>
              <a:rPr lang="en-US" sz="2000" dirty="0">
                <a:solidFill>
                  <a:srgbClr val="FFCC00"/>
                </a:solidFill>
                <a:latin typeface="Comic Sans MS" pitchFamily="34" charset="0"/>
                <a:ea typeface="Comic Sans MS" pitchFamily="34" charset="-122"/>
                <a:cs typeface="Comic Sans MS" pitchFamily="34" charset="-120"/>
              </a:rPr>
              <a:t>Easy to use</a:t>
            </a:r>
            <a:endParaRPr lang="en-US" sz="2000" dirty="0"/>
          </a:p>
          <a:p>
            <a:pPr marL="342900" indent="-342900">
              <a:buSzPct val="100000"/>
              <a:buChar char="•"/>
            </a:pPr>
            <a:r>
              <a:rPr lang="en-US" sz="2000" dirty="0">
                <a:solidFill>
                  <a:srgbClr val="FFCC00"/>
                </a:solidFill>
                <a:latin typeface="Comic Sans MS" pitchFamily="34" charset="0"/>
                <a:ea typeface="Comic Sans MS" pitchFamily="34" charset="-122"/>
                <a:cs typeface="Comic Sans MS" pitchFamily="34" charset="-120"/>
              </a:rPr>
              <a:t>No need to go outside</a:t>
            </a:r>
            <a:endParaRPr lang="en-US" sz="2000" dirty="0"/>
          </a:p>
        </p:txBody>
      </p:sp>
      <p:sp>
        <p:nvSpPr>
          <p:cNvPr id="6" name="Text 4"/>
          <p:cNvSpPr txBox="1"/>
          <p:nvPr/>
        </p:nvSpPr>
        <p:spPr>
          <a:xfrm>
            <a:off x="4663440" y="1097280"/>
            <a:ext cx="4297680" cy="548640"/>
          </a:xfrm>
          <a:prstGeom prst="rect">
            <a:avLst/>
          </a:prstGeom>
          <a:noFill/>
          <a:ln/>
        </p:spPr>
        <p:txBody>
          <a:bodyPr wrap="square" rtlCol="0" anchor="ctr"/>
          <a:lstStyle/>
          <a:p>
            <a:pPr indent="0" marL="0">
              <a:buNone/>
            </a:pPr>
            <a:r>
              <a:rPr lang="en-US" sz="2400" u="wavy" dirty="0">
                <a:solidFill>
                  <a:srgbClr val="FF3300"/>
                </a:solidFill>
                <a:latin typeface="Impact" pitchFamily="34" charset="0"/>
                <a:ea typeface="Impact" pitchFamily="34" charset="-122"/>
                <a:cs typeface="Impact" pitchFamily="34" charset="-120"/>
              </a:rPr>
              <a:t>DISADVANTAGES:</a:t>
            </a:r>
            <a:endParaRPr lang="en-US" sz="2400" dirty="0"/>
          </a:p>
        </p:txBody>
      </p:sp>
      <p:sp>
        <p:nvSpPr>
          <p:cNvPr id="7" name="Text 5"/>
          <p:cNvSpPr txBox="1"/>
          <p:nvPr/>
        </p:nvSpPr>
        <p:spPr>
          <a:xfrm>
            <a:off x="4663440" y="1645920"/>
            <a:ext cx="4297680" cy="5486400"/>
          </a:xfrm>
          <a:prstGeom prst="rect">
            <a:avLst/>
          </a:prstGeom>
          <a:noFill/>
          <a:ln/>
        </p:spPr>
        <p:txBody>
          <a:bodyPr wrap="square" rtlCol="0" anchor="t"/>
          <a:lstStyle/>
          <a:p>
            <a:pPr marL="342900" indent="-342900">
              <a:buSzPct val="100000"/>
              <a:buChar char="•"/>
            </a:pPr>
            <a:r>
              <a:rPr lang="en-US" sz="2000" dirty="0">
                <a:solidFill>
                  <a:srgbClr val="FF0000"/>
                </a:solidFill>
                <a:latin typeface="Comic Sans MS" pitchFamily="34" charset="0"/>
                <a:ea typeface="Comic Sans MS" pitchFamily="34" charset="-122"/>
                <a:cs typeface="Comic Sans MS" pitchFamily="34" charset="-120"/>
              </a:rPr>
              <a:t>Needs internet</a:t>
            </a:r>
            <a:endParaRPr lang="en-US" sz="2000" dirty="0"/>
          </a:p>
          <a:p>
            <a:pPr marL="342900" indent="-342900">
              <a:buSzPct val="100000"/>
              <a:buChar char="•"/>
            </a:pPr>
            <a:r>
              <a:rPr lang="en-US" sz="2000" dirty="0">
                <a:solidFill>
                  <a:srgbClr val="FF0000"/>
                </a:solidFill>
                <a:latin typeface="Comic Sans MS" pitchFamily="34" charset="0"/>
                <a:ea typeface="Comic Sans MS" pitchFamily="34" charset="-122"/>
                <a:cs typeface="Comic Sans MS" pitchFamily="34" charset="-120"/>
              </a:rPr>
              <a:t>Needs electricity</a:t>
            </a:r>
            <a:endParaRPr lang="en-US" sz="2000" dirty="0"/>
          </a:p>
          <a:p>
            <a:pPr marL="342900" indent="-342900">
              <a:buSzPct val="100000"/>
              <a:buChar char="•"/>
            </a:pPr>
            <a:r>
              <a:rPr lang="en-US" sz="2000" dirty="0">
                <a:solidFill>
                  <a:srgbClr val="FF0000"/>
                </a:solidFill>
                <a:latin typeface="Comic Sans MS" pitchFamily="34" charset="0"/>
                <a:ea typeface="Comic Sans MS" pitchFamily="34" charset="-122"/>
                <a:cs typeface="Comic Sans MS" pitchFamily="34" charset="-120"/>
              </a:rPr>
              <a:t>Cannot touch product</a:t>
            </a:r>
            <a:endParaRPr lang="en-US" sz="2000" dirty="0"/>
          </a:p>
          <a:p>
            <a:pPr marL="342900" indent="-342900">
              <a:buSzPct val="100000"/>
              <a:buChar char="•"/>
            </a:pPr>
            <a:r>
              <a:rPr lang="en-US" sz="2000" dirty="0">
                <a:solidFill>
                  <a:srgbClr val="FF0000"/>
                </a:solidFill>
                <a:latin typeface="Comic Sans MS" pitchFamily="34" charset="0"/>
                <a:ea typeface="Comic Sans MS" pitchFamily="34" charset="-122"/>
                <a:cs typeface="Comic Sans MS" pitchFamily="34" charset="-120"/>
              </a:rPr>
              <a:t>Website can be slow</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6600C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00FF"/>
          </a:solidFill>
          <a:ln w="76200">
            <a:solidFill>
              <a:srgbClr val="FF0000"/>
            </a:solidFill>
            <a:prstDash val="solid"/>
          </a:ln>
        </p:spPr>
      </p:sp>
      <p:sp>
        <p:nvSpPr>
          <p:cNvPr id="3" name="Text 1"/>
          <p:cNvSpPr txBox="1"/>
          <p:nvPr/>
        </p:nvSpPr>
        <p:spPr>
          <a:xfrm>
            <a:off x="91440" y="45720"/>
            <a:ext cx="8961120" cy="914400"/>
          </a:xfrm>
          <a:prstGeom prst="rect">
            <a:avLst/>
          </a:prstGeom>
          <a:noFill/>
          <a:ln/>
          <a:effectLst>
            <a:outerShdw sx="100000" sy="100000" kx="0" ky="0" algn="bl" rotWithShape="0" blurRad="101600" dist="50800" dir="2700000">
              <a:srgbClr val="FF00FF">
                <a:alpha val="100000"/>
              </a:srgbClr>
            </a:outerShdw>
          </a:effectLst>
        </p:spPr>
        <p:txBody>
          <a:bodyPr wrap="square" rtlCol="0" anchor="ctr"/>
          <a:lstStyle/>
          <a:p>
            <a:pPr algn="ctr" indent="0" marL="0">
              <a:buNone/>
            </a:pPr>
            <a:r>
              <a:rPr lang="en-US" sz="4000" dirty="0">
                <a:solidFill>
                  <a:srgbClr val="CC66FF"/>
                </a:solidFill>
                <a:latin typeface="Impact" pitchFamily="34" charset="0"/>
                <a:ea typeface="Impact" pitchFamily="34" charset="-122"/>
                <a:cs typeface="Impact" pitchFamily="34" charset="-120"/>
              </a:rPr>
              <a:t>CONCLUSION</a:t>
            </a:r>
            <a:endParaRPr lang="en-US" sz="4000" dirty="0"/>
          </a:p>
        </p:txBody>
      </p:sp>
      <p:sp>
        <p:nvSpPr>
          <p:cNvPr id="4" name="Text 2"/>
          <p:cNvSpPr txBox="1"/>
          <p:nvPr/>
        </p:nvSpPr>
        <p:spPr>
          <a:xfrm>
            <a:off x="274320" y="1188720"/>
            <a:ext cx="8595360" cy="5303520"/>
          </a:xfrm>
          <a:prstGeom prst="rect">
            <a:avLst/>
          </a:prstGeom>
          <a:noFill/>
          <a:ln/>
        </p:spPr>
        <p:txBody>
          <a:bodyPr wrap="square" rtlCol="0" anchor="ctr"/>
          <a:lstStyle/>
          <a:p>
            <a:pPr algn="ctr" indent="0" marL="0">
              <a:buNone/>
            </a:pPr>
            <a:r>
              <a:rPr lang="en-US" sz="2200" dirty="0">
                <a:solidFill>
                  <a:srgbClr val="9933FF"/>
                </a:solidFill>
                <a:latin typeface="Papyrus" pitchFamily="34" charset="0"/>
                <a:ea typeface="Papyrus" pitchFamily="34" charset="-122"/>
                <a:cs typeface="Papyrus" pitchFamily="34" charset="-120"/>
              </a:rPr>
              <a:t>In conclusion we can say that our project Bangaliyana Bazar is a very good e-commerce website. We have successfully completed our project. We learned many things from this project. In future we will add more features to make it better. Thank you to our honourable course instructor for giving us this opportunity.</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rot="480000">
            <a:off x="0" y="1097280"/>
            <a:ext cx="9144000" cy="1828800"/>
          </a:xfrm>
          <a:prstGeom prst="rect">
            <a:avLst/>
          </a:prstGeom>
          <a:noFill/>
          <a:ln/>
          <a:effectLst>
            <a:outerShdw sx="100000" sy="100000" kx="0" ky="0" algn="bl" rotWithShape="0" blurRad="25400" dist="38100" dir="2700000">
              <a:srgbClr val="EEEEEE">
                <a:alpha val="100000"/>
              </a:srgbClr>
            </a:outerShdw>
          </a:effectLst>
        </p:spPr>
        <p:txBody>
          <a:bodyPr wrap="square" rtlCol="0" anchor="ctr"/>
          <a:lstStyle/>
          <a:p>
            <a:pPr algn="ctr" indent="0" marL="0">
              <a:buNone/>
            </a:pPr>
            <a:r>
              <a:rPr lang="en-US" sz="9000" dirty="0">
                <a:solidFill>
                  <a:srgbClr val="FFFF66"/>
                </a:solidFill>
                <a:latin typeface="Impact" pitchFamily="34" charset="0"/>
                <a:ea typeface="Impact" pitchFamily="34" charset="-122"/>
                <a:cs typeface="Impact" pitchFamily="34" charset="-120"/>
              </a:rPr>
              <a:t>THANK YOU!!!</a:t>
            </a:r>
            <a:endParaRPr lang="en-US" sz="9000" dirty="0"/>
          </a:p>
        </p:txBody>
      </p:sp>
      <p:sp>
        <p:nvSpPr>
          <p:cNvPr id="3" name="Text 1"/>
          <p:cNvSpPr txBox="1"/>
          <p:nvPr/>
        </p:nvSpPr>
        <p:spPr>
          <a:xfrm>
            <a:off x="0" y="3657600"/>
            <a:ext cx="9144000" cy="1097280"/>
          </a:xfrm>
          <a:prstGeom prst="rect">
            <a:avLst/>
          </a:prstGeom>
          <a:noFill/>
          <a:ln/>
        </p:spPr>
        <p:txBody>
          <a:bodyPr wrap="square" rtlCol="0" anchor="ctr"/>
          <a:lstStyle/>
          <a:p>
            <a:pPr algn="ctr" indent="0" marL="0">
              <a:buNone/>
            </a:pPr>
            <a:r>
              <a:rPr lang="en-US" sz="4000" dirty="0">
                <a:solidFill>
                  <a:srgbClr val="CCFFFF"/>
                </a:solidFill>
                <a:latin typeface="Comic Sans MS" pitchFamily="34" charset="0"/>
                <a:ea typeface="Comic Sans MS" pitchFamily="34" charset="-122"/>
                <a:cs typeface="Comic Sans MS" pitchFamily="34" charset="-120"/>
              </a:rPr>
              <a:t>ANY QUESTIONS???</a:t>
            </a:r>
            <a:endParaRPr lang="en-US" sz="4000" dirty="0"/>
          </a:p>
        </p:txBody>
      </p:sp>
      <p:sp>
        <p:nvSpPr>
          <p:cNvPr id="4" name="Text 2"/>
          <p:cNvSpPr txBox="1"/>
          <p:nvPr/>
        </p:nvSpPr>
        <p:spPr>
          <a:xfrm>
            <a:off x="0" y="4937760"/>
            <a:ext cx="9144000" cy="914400"/>
          </a:xfrm>
          <a:prstGeom prst="rect">
            <a:avLst/>
          </a:prstGeom>
          <a:noFill/>
          <a:ln/>
        </p:spPr>
        <p:txBody>
          <a:bodyPr wrap="square" rtlCol="0" anchor="ctr"/>
          <a:lstStyle/>
          <a:p>
            <a:pPr algn="ctr" indent="0" marL="0">
              <a:buNone/>
            </a:pPr>
            <a:r>
              <a:rPr lang="en-US" sz="4000" dirty="0">
                <a:solidFill>
                  <a:srgbClr val="FF00FF"/>
                </a:solidFill>
                <a:latin typeface="Comic Sans MS" pitchFamily="34" charset="0"/>
                <a:ea typeface="Comic Sans MS" pitchFamily="34" charset="-122"/>
                <a:cs typeface="Comic Sans MS" pitchFamily="34" charset="-120"/>
              </a:rPr>
              <a:t>☺ ☺ ☺</a:t>
            </a:r>
            <a:endParaRPr lang="en-US" sz="4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Bangaliyana Bazar Presentation FINAL</dc:title>
  <dc:subject>PptxGenJS Presentation</dc:subject>
  <dc:creator>PptxGenJS</dc:creator>
  <cp:lastModifiedBy>PptxGenJS</cp:lastModifiedBy>
  <cp:revision>1</cp:revision>
  <dcterms:created xsi:type="dcterms:W3CDTF">2026-10-28T17:14:25Z</dcterms:created>
  <dcterms:modified xsi:type="dcterms:W3CDTF">2026-10-28T17:14:25Z</dcterms:modified>
</cp:coreProperties>
</file>