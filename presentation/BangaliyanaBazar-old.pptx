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শুরু" id="{d04f3047-94d7-c710-648b-829f19fba003}">
          <p14:sldIdLst>
            <p14:sldId id="256"/>
          </p14:sldIdLst>
        </p14:section>
        <p14:section name="ভূমিকা" id="{83830da3-e82c-654e-1cf6-d31e32dc2406}">
          <p14:sldIdLst>
            <p14:sldId id="257"/>
            <p14:sldId id="258"/>
            <p14:sldId id="259"/>
          </p14:sldIdLst>
        </p14:section>
        <p14:section name="ব্যবহারকারী ও ফিচার" id="{d761984a-a845-f51e-a6ca-fdb21c420f23}">
          <p14:sldIdLst>
            <p14:sldId id="260"/>
            <p14:sldId id="261"/>
            <p14:sldId id="262"/>
            <p14:sldId id="263"/>
          </p14:sldIdLst>
        </p14:section>
        <p14:section name="ডিজাইন ও প্রযুক্তি" id="{e5794021-5ed9-404f-26f7-6ed76f6fe2a7}">
          <p14:sldIdLst>
            <p14:sldId id="264"/>
            <p14:sldId id="265"/>
            <p14:sldId id="266"/>
          </p14:sldIdLst>
        </p14:section>
        <p14:section name="প্রভাব ও ভবিষ্যৎ" id="{718e5b58-d627-4423-d066-8ea0e3830fb5}">
          <p14:sldIdLst>
            <p14:sldId id="267"/>
            <p14:sldId id="268"/>
            <p14:sldId id="269"/>
          </p14:sldIdLst>
        </p14:section>
        <p14:section name="শেষ" id="{b485821a-aeac-9d60-3562-523970a7c5b0}">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সবাইকে শুভেচ্ছা। আমাদের প্রজেক্টের নাম বাঙালিয়ানা বাজার, স্থানীয় পণ্যের ডিজিটাল বাজার। আমাদের দলে আছেন নুসরাত জাহান, জাহির শেখ, শানজিদা নিশাত আর নাসিম। আমাদের শিক্ষক মোঃ নাহিদ হাসান।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বাঙালিয়ানা বাজার একটা অনলাইন বাজার। এখানে গ্রামের কারিগর আর ছোট ব্যবসায়ীরা নিজের হাতে বানানো জিনিস বিক্রি করেন। প্রতিটি পণ্যের সাথে থাকে কারিগরের নাম, জেলা আর গল্প। ক্রেতা ঘরে বসে অর্ডার দেন, পণ্য হাতে পেয়ে টাকা দেন।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তিনটা সমস্যা দেখে আমরা এটা বানিয়েছি। এক, কারিগরের পণ্য ফেসবুক পেজ আর হাটে ছড়িয়ে থাকে, ক্রেতা খুঁজে পান না। দুই, মাঝের লোকের হাতে দামের বড় অংশ চলে যায়। তিন, কে বানালেন, কোথায়, কীভাবে, ক্রেতা জানতে পারেন না। তাই বাঙালিয়ানা বাজার, যেখানে কারিগর নিজেই অনলাইনে দোকান খোলেন।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আমাদের তিনটা লক্ষ্য। কারিগরকে মাঝের লোক ছাড়া সরাসরি ক্রেতার কাছে আনা। প্রতিটি পণ্যের পেছনের মানুষটাকে চেনানো। আর সহজ বাংলায়, মোবাইলে কেনাকাটা। ৬৪ জেলায় ডেলিভারি, পুরো সাইট বাংলায়, আর ক্যাশ অন ডেলিভারি, তাই আগে টাকা দিতে হয় 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দুই ধরনের মানুষের জন্য বাঙালিয়ানা বাজার। ক্রেতা: শহরের মানুষ যাঁরা দেশি হাতের কাজ ভালোবাসেন, বিয়ে-ঈদ-পূজায় উপহার খোঁজেন যাঁরা, আর প্রবাসী বাঙালি। বিক্রেতা: গ্রামের তাঁতি, কুমার, কাঁথার শিল্পী, ঘরে বসে কাজ করা নারী উদ্যোক্তা, আর ছোট ব্যবসায়ী যাঁদের নিজের ওয়েবসাইট নেই।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ক্রেতার জন্য ছয়টা মূল ফিচার। জেলা, ধরন আর দাম দিয়ে খোঁজা। প্রতিটি পণ্যের পেছনের গল্প। ভালো লাগলে পছন্দের তালিকায় রাখা। ঝুড়ি থেকে এক পাতায় অর্ডার। এক চাপে WhatsApp-এ বিক্রেতাকে অর্ডার পাঠানো। আর ফোন নম্বরে লগইন করে আগের অর্ডার দেখা।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বাঙালিয়ানা বাজার মাল্টিভেন্ডর। যেকোনো কারিগর নিবন্ধন করেন, আমরা যাচাই করে অনুমোদন দিই, তারপর তিনি নিজের পণ্য তোলেন আর অর্ডার পান। প্রত্যেকের আছে নাম, এলাকা আর গল্পসহ নিজের দোকান; পণ্য, ছবি, দাম আর স্টক ঠিক করার ড্যাশবোর্ড। ক্রেতা এক ঝুড়িতে অনেক বিক্রেতার পণ্য নিলে অর্ডার ভাগ হয়ে যার যার কাছে যায়।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অর্ডার হয় এক পাতায়, চার ধাপে: ঝুড়ি, ঠিকানা, হিসাব, হয়ে গেল। নিচে একজন চাচা হাট থেকে বাড়ির পথে হাঁটেন। প্রতিটি ধাপে তিনি এগিয়ে যান, ঝুড়ি যত ভরে তত খুশি হন, আর পণ্য সরালে মন খারাপ করেন। ফোনের ব্যাক বাটনেও আগের ধাপে ফেরা যায়।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আমরা চেয়েছি সাইটটা দেখতে খাঁটি বাঙালি হোক। রং নিয়েছি লাল, হলুদ, জামদানির নীল, কলাপাতা আর শাপলা থেকে। শিরোনামে Tiro Bangla, বাকি লেখায় Baloo Da 2। কার্ডের চারপাশে নকশি কাঁথার সেলাই, কোণে আলপনা, পণ্যের ছবি হাতে আঁকা, আর সব সংখ্যা বাংলায়, যেমন ৳৮,৫০০।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সাইটটা রেসপন্সিভ। কম্পিউটারে যেমন চলে, মোবাইলেও তেমন। মোবাইলে মেনু, খোঁজা আর ঝুড়ি সব হাতের নাগালে থাকে।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ফ্রন্টএন্ড React, TypeScript আর Tailwind CSS দিয়ে বানানো, Vercel-এ চলে। সার্ভার Node.js আর Fastify, Render-এ চলে, লগইনের জন্য JWT। ডাটাবেস PostgreSQL। নিরাপত্তার জন্য দাম সব সময় সার্ভারে হিসাব হয়, ব্রাউজারের পাঠানো দাম বিশ্বাস করা হয় 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বানাতে গিয়ে চারটা বড় সমস্যা। সব সংখ্যা বাংলায় দেখাতে নিজেদের ছোট ফাংশন লিখেছি, আর ফোন নম্বরে বাংলা-ইংরেজি দুই অঙ্কই চলে। কেউ যেন দাম বদলে অর্ডার না দিতে পারে, তাই সার্ভার নিজে দাম হিসাব করে। ব্যাক বাটনে আগের ধাপে ফিরতে ধাপটা লিংকে রাখি। আর অনেক বিক্রেতার পণ্য এক ঝুড়িতে থাকলে অর্ডার ভাগ করে যার যার কাছে পাঠাই।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বাঙালিয়ানা বাজার শুধু একটা দোকান না। মাঝের লোক না থাকায় কারিগরের আয় বাড়ে। গ্রামের নারীরা ঘরে বসেই নিজের কাজ বিক্রি করে আয় করতে পারেন। জামদানি, নকশি কাঁথা, মাটির কাজের মতো ঐতিহ্য টিকে থাকে, কারণ এগুলোর ক্রেতা বাড়ে। আর শহরের টাকা সরাসরি গ্রামে পৌঁছায়। তাই প্রতিটি কেনা মানে একজন কারিগরের পাশে দাঁড়ানো।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সামনে আমরা আরও কিছু করতে চাই। শীঘ্রই: SMS-এ অর্ডারের খবর, ক্রেতার রিভিউ, আর মানচিত্রে কোন জেলায় কোন কারিগর। পরের ধাপে: বৈশাখ, নবান্ন, ঈদ, পূজায় সাইটের নতুন সাজ; হাটের মতো দরদাম করার মজা; আর প্রবাসীদের জন্য ইংরেজি। বড় স্বপ্ন: মোবাইল অ্যাপ, কারিগরদের অনলাইনে বিক্রির প্রশিক্ষণ, আর দেশের বাইরে পণ্য পাঠানো।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আমাদের কথা শোনার জন্য ধন্যবাদ। কোনো প্রশ্ন থাকলে জিজ্ঞেস করুন।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image" Target="../media/LH_DARK_MAROON-image-5.png"/><Relationship Id="rId6"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image" Target="../media/LH_DARK_NIL-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H_DARK_MAROON">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228600" y="228600"/>
            <a:ext cx="822960" cy="822960"/>
          </a:xfrm>
          <a:prstGeom prst="rect">
            <a:avLst/>
          </a:prstGeom>
        </p:spPr>
      </p:pic>
      <p:pic>
        <p:nvPicPr>
          <p:cNvPr id="3" name="Image 1" descr="preencoded.png">    </p:cNvPr>
          <p:cNvPicPr>
            <a:picLocks noChangeAspect="1"/>
          </p:cNvPicPr>
          <p:nvPr/>
        </p:nvPicPr>
        <p:blipFill>
          <a:blip r:embed="rId2"/>
          <a:stretch>
            <a:fillRect/>
          </a:stretch>
        </p:blipFill>
        <p:spPr>
          <a:xfrm>
            <a:off x="11140135" y="228600"/>
            <a:ext cx="822960" cy="822960"/>
          </a:xfrm>
          <a:prstGeom prst="rect">
            <a:avLst/>
          </a:prstGeom>
        </p:spPr>
      </p:pic>
      <p:pic>
        <p:nvPicPr>
          <p:cNvPr id="4" name="Image 2" descr="preencoded.png">    </p:cNvPr>
          <p:cNvPicPr>
            <a:picLocks noChangeAspect="1"/>
          </p:cNvPicPr>
          <p:nvPr/>
        </p:nvPicPr>
        <p:blipFill>
          <a:blip r:embed="rId3"/>
          <a:stretch>
            <a:fillRect/>
          </a:stretch>
        </p:blipFill>
        <p:spPr>
          <a:xfrm>
            <a:off x="228600" y="5806440"/>
            <a:ext cx="822960" cy="822960"/>
          </a:xfrm>
          <a:prstGeom prst="rect">
            <a:avLst/>
          </a:prstGeom>
        </p:spPr>
      </p:pic>
      <p:pic>
        <p:nvPicPr>
          <p:cNvPr id="5" name="Image 3" descr="preencoded.png">    </p:cNvPr>
          <p:cNvPicPr>
            <a:picLocks noChangeAspect="1"/>
          </p:cNvPicPr>
          <p:nvPr/>
        </p:nvPicPr>
        <p:blipFill>
          <a:blip r:embed="rId4"/>
          <a:stretch>
            <a:fillRect/>
          </a:stretch>
        </p:blipFill>
        <p:spPr>
          <a:xfrm>
            <a:off x="11140135" y="5806440"/>
            <a:ext cx="822960" cy="82296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H_CONTENT">
    <p:bg>
      <p:bgPr>
        <a:solidFill>
          <a:srgbClr val="FFF7E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57200"/>
            <a:ext cx="502920" cy="502920"/>
          </a:xfrm>
          <a:prstGeom prst="rect">
            <a:avLst/>
          </a:prstGeom>
        </p:spPr>
      </p:pic>
      <p:pic>
        <p:nvPicPr>
          <p:cNvPr id="3" name="Image 1" descr="preencoded.png">    </p:cNvPr>
          <p:cNvPicPr>
            <a:picLocks noChangeAspect="1"/>
          </p:cNvPicPr>
          <p:nvPr/>
        </p:nvPicPr>
        <p:blipFill>
          <a:blip r:embed="rId2"/>
          <a:stretch>
            <a:fillRect/>
          </a:stretch>
        </p:blipFill>
        <p:spPr>
          <a:xfrm>
            <a:off x="11277295" y="5943600"/>
            <a:ext cx="685800" cy="685800"/>
          </a:xfrm>
          <a:prstGeom prst="rect">
            <a:avLst/>
          </a:prstGeom>
        </p:spPr>
      </p:pic>
      <p:sp>
        <p:nvSpPr>
          <p:cNvPr id="4" name="Text 0"/>
          <p:cNvSpPr/>
          <p:nvPr>
            <p:ph idx="102" type="title" hasCustomPrompt="1"/>
          </p:nvPr>
        </p:nvSpPr>
        <p:spPr>
          <a:xfrm>
            <a:off x="1188720" y="320040"/>
            <a:ext cx="10424160" cy="777240"/>
          </a:xfrm>
          <a:prstGeom prst="rect">
            <a:avLst/>
          </a:prstGeom>
          <a:noFill/>
          <a:ln/>
        </p:spPr>
        <p:txBody>
          <a:bodyPr wrap="square" rtlCol="0"/>
          <a:lstStyle>
            <a:lvl1pPr algn="l" indent="0" marL="0">
              <a:buNone/>
              <a:defRPr lang="en-US" sz="3400" dirty="0">
                <a:solidFill>
                  <a:srgbClr val="7F1D1D"/>
                </a:solidFill>
                <a:latin typeface="Tiro Bangla" pitchFamily="34" charset="0"/>
                <a:ea typeface="Tiro Bangla" pitchFamily="34" charset="-122"/>
                <a:cs typeface="Tiro Bangla" pitchFamily="34" charset="-120"/>
              </a:defRPr>
            </a:lvl1pPr>
          </a:lstStyle>
          <a:p>
            <a:pPr algn="l" indent="0" marL="0">
              <a:buNone/>
            </a:pP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H_DARK_NIL">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57200"/>
            <a:ext cx="502920" cy="502920"/>
          </a:xfrm>
          <a:prstGeom prst="rect">
            <a:avLst/>
          </a:prstGeom>
        </p:spPr>
      </p:pic>
      <p:pic>
        <p:nvPicPr>
          <p:cNvPr id="3" name="Image 1" descr="preencoded.png">    </p:cNvPr>
          <p:cNvPicPr>
            <a:picLocks noChangeAspect="1"/>
          </p:cNvPicPr>
          <p:nvPr/>
        </p:nvPicPr>
        <p:blipFill>
          <a:blip r:embed="rId2"/>
          <a:stretch>
            <a:fillRect/>
          </a:stretch>
        </p:blipFill>
        <p:spPr>
          <a:xfrm>
            <a:off x="11277295" y="5943600"/>
            <a:ext cx="685800" cy="685800"/>
          </a:xfrm>
          <a:prstGeom prst="rect">
            <a:avLst/>
          </a:prstGeom>
        </p:spPr>
      </p:pic>
      <p:sp>
        <p:nvSpPr>
          <p:cNvPr id="4" name="Text 0"/>
          <p:cNvSpPr/>
          <p:nvPr>
            <p:ph idx="102" type="title" hasCustomPrompt="1"/>
          </p:nvPr>
        </p:nvSpPr>
        <p:spPr>
          <a:xfrm>
            <a:off x="1188720" y="320040"/>
            <a:ext cx="10424160" cy="777240"/>
          </a:xfrm>
          <a:prstGeom prst="rect">
            <a:avLst/>
          </a:prstGeom>
          <a:noFill/>
          <a:ln/>
        </p:spPr>
        <p:txBody>
          <a:bodyPr wrap="square" rtlCol="0"/>
          <a:lstStyle>
            <a:lvl1pPr algn="l" indent="0" marL="0">
              <a:buNone/>
              <a:defRPr lang="en-US" sz="3400" dirty="0">
                <a:solidFill>
                  <a:srgbClr val="FFF7E6"/>
                </a:solidFill>
                <a:latin typeface="Tiro Bangla" pitchFamily="34" charset="0"/>
                <a:ea typeface="Tiro Bangla" pitchFamily="34" charset="-122"/>
                <a:cs typeface="Tiro Bangla" pitchFamily="34" charset="-120"/>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4.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3.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 y="868680"/>
            <a:ext cx="868680" cy="868680"/>
          </a:xfrm>
          <a:prstGeom prst="rect">
            <a:avLst/>
          </a:prstGeom>
        </p:spPr>
      </p:pic>
      <p:sp>
        <p:nvSpPr>
          <p:cNvPr id="3" name="Text 0"/>
          <p:cNvSpPr txBox="1"/>
          <p:nvPr/>
        </p:nvSpPr>
        <p:spPr>
          <a:xfrm>
            <a:off x="1938528" y="1097280"/>
            <a:ext cx="5029200" cy="411480"/>
          </a:xfrm>
          <a:prstGeom prst="rect">
            <a:avLst/>
          </a:prstGeom>
          <a:noFill/>
          <a:ln/>
        </p:spPr>
        <p:txBody>
          <a:bodyPr wrap="square" lIns="0" tIns="0" rIns="0" bIns="0" rtlCol="0" anchor="t"/>
          <a:lstStyle/>
          <a:p>
            <a:pPr indent="0" marL="0">
              <a:buNone/>
            </a:pPr>
            <a:r>
              <a:rPr lang="en-US" sz="1800" spc="300" kern="0" dirty="0">
                <a:solidFill>
                  <a:srgbClr val="F59E0B"/>
                </a:solidFill>
                <a:latin typeface="Baloo Da 2" pitchFamily="34" charset="0"/>
                <a:ea typeface="Baloo Da 2" pitchFamily="34" charset="-122"/>
                <a:cs typeface="Baloo Da 2" pitchFamily="34" charset="-120"/>
              </a:rPr>
              <a:t>Bangaliyana Bazar</a:t>
            </a:r>
            <a:endParaRPr lang="en-US" sz="1800" dirty="0"/>
          </a:p>
        </p:txBody>
      </p:sp>
      <p:sp>
        <p:nvSpPr>
          <p:cNvPr id="4" name="Text 1"/>
          <p:cNvSpPr txBox="1"/>
          <p:nvPr/>
        </p:nvSpPr>
        <p:spPr>
          <a:xfrm>
            <a:off x="914400" y="1783080"/>
            <a:ext cx="6583680" cy="1325880"/>
          </a:xfrm>
          <a:prstGeom prst="rect">
            <a:avLst/>
          </a:prstGeom>
          <a:noFill/>
          <a:ln/>
        </p:spPr>
        <p:txBody>
          <a:bodyPr wrap="square" lIns="0" tIns="0" rIns="0" bIns="0" rtlCol="0" anchor="ctr"/>
          <a:lstStyle/>
          <a:p>
            <a:pPr indent="0" marL="0">
              <a:buNone/>
            </a:pPr>
            <a:r>
              <a:rPr lang="en-US" sz="6000" dirty="0">
                <a:solidFill>
                  <a:srgbClr val="FFF7E6"/>
                </a:solidFill>
                <a:latin typeface="Tiro Bangla" pitchFamily="34" charset="0"/>
                <a:ea typeface="Tiro Bangla" pitchFamily="34" charset="-122"/>
                <a:cs typeface="Tiro Bangla" pitchFamily="34" charset="-120"/>
              </a:rPr>
              <a:t>বাঙালিয়ানা বাজার</a:t>
            </a:r>
            <a:endParaRPr lang="en-US" sz="6000" dirty="0"/>
          </a:p>
        </p:txBody>
      </p:sp>
      <p:sp>
        <p:nvSpPr>
          <p:cNvPr id="5" name="Text 2"/>
          <p:cNvSpPr txBox="1"/>
          <p:nvPr/>
        </p:nvSpPr>
        <p:spPr>
          <a:xfrm>
            <a:off x="914400" y="3108960"/>
            <a:ext cx="6583680" cy="548640"/>
          </a:xfrm>
          <a:prstGeom prst="rect">
            <a:avLst/>
          </a:prstGeom>
          <a:noFill/>
          <a:ln/>
        </p:spPr>
        <p:txBody>
          <a:bodyPr wrap="square" lIns="0" tIns="0" rIns="0" bIns="0" rtlCol="0" anchor="t"/>
          <a:lstStyle/>
          <a:p>
            <a:pPr indent="0" marL="0">
              <a:buNone/>
            </a:pPr>
            <a:r>
              <a:rPr lang="en-US" sz="2600" dirty="0">
                <a:solidFill>
                  <a:srgbClr val="FDE68A"/>
                </a:solidFill>
                <a:latin typeface="Baloo Da 2" pitchFamily="34" charset="0"/>
                <a:ea typeface="Baloo Da 2" pitchFamily="34" charset="-122"/>
                <a:cs typeface="Baloo Da 2" pitchFamily="34" charset="-120"/>
              </a:rPr>
              <a:t>স্থানীয় পণ্যের ডিজিটাল বাজার</a:t>
            </a:r>
            <a:endParaRPr lang="en-US" sz="2600" dirty="0"/>
          </a:p>
        </p:txBody>
      </p:sp>
      <p:sp>
        <p:nvSpPr>
          <p:cNvPr id="6" name="Shape 3"/>
          <p:cNvSpPr/>
          <p:nvPr/>
        </p:nvSpPr>
        <p:spPr>
          <a:xfrm>
            <a:off x="914400" y="3931920"/>
            <a:ext cx="6217920" cy="0"/>
          </a:xfrm>
          <a:prstGeom prst="line">
            <a:avLst/>
          </a:prstGeom>
          <a:noFill/>
          <a:ln w="25400">
            <a:solidFill>
              <a:srgbClr val="F59E0B"/>
            </a:solidFill>
            <a:prstDash val="dash"/>
          </a:ln>
        </p:spPr>
      </p:sp>
      <p:sp>
        <p:nvSpPr>
          <p:cNvPr id="7" name="Shape 4"/>
          <p:cNvSpPr/>
          <p:nvPr/>
        </p:nvSpPr>
        <p:spPr>
          <a:xfrm>
            <a:off x="987552" y="4014216"/>
            <a:ext cx="6144768" cy="0"/>
          </a:xfrm>
          <a:prstGeom prst="line">
            <a:avLst/>
          </a:prstGeom>
          <a:noFill/>
          <a:ln w="25400">
            <a:solidFill>
              <a:srgbClr val="FFF7E6"/>
            </a:solidFill>
            <a:prstDash val="dash"/>
          </a:ln>
        </p:spPr>
      </p:sp>
      <p:sp>
        <p:nvSpPr>
          <p:cNvPr id="8" name="Text 5"/>
          <p:cNvSpPr txBox="1"/>
          <p:nvPr/>
        </p:nvSpPr>
        <p:spPr>
          <a:xfrm>
            <a:off x="914400" y="4251960"/>
            <a:ext cx="3291840" cy="365760"/>
          </a:xfrm>
          <a:prstGeom prst="rect">
            <a:avLst/>
          </a:prstGeom>
          <a:noFill/>
          <a:ln/>
        </p:spPr>
        <p:txBody>
          <a:bodyPr wrap="square" lIns="0" tIns="0" rIns="0" bIns="0" rtlCol="0" anchor="t"/>
          <a:lstStyle/>
          <a:p>
            <a:pPr indent="0" marL="0">
              <a:buNone/>
            </a:pPr>
            <a:r>
              <a:rPr lang="en-US" sz="1500" dirty="0">
                <a:solidFill>
                  <a:srgbClr val="F59E0B"/>
                </a:solidFill>
                <a:latin typeface="Baloo Da 2" pitchFamily="34" charset="0"/>
                <a:ea typeface="Baloo Da 2" pitchFamily="34" charset="-122"/>
                <a:cs typeface="Baloo Da 2" pitchFamily="34" charset="-120"/>
              </a:rPr>
              <a:t>দলের সদস্য</a:t>
            </a:r>
            <a:endParaRPr lang="en-US" sz="1500" dirty="0"/>
          </a:p>
        </p:txBody>
      </p:sp>
      <p:sp>
        <p:nvSpPr>
          <p:cNvPr id="9" name="Team names"/>
          <p:cNvSpPr txBox="1"/>
          <p:nvPr/>
        </p:nvSpPr>
        <p:spPr>
          <a:xfrm>
            <a:off x="914400" y="4617720"/>
            <a:ext cx="3566160" cy="1508760"/>
          </a:xfrm>
          <a:prstGeom prst="rect">
            <a:avLst/>
          </a:prstGeom>
          <a:noFill/>
          <a:ln/>
        </p:spPr>
        <p:txBody>
          <a:bodyPr wrap="square" lIns="0" tIns="0" rIns="0" bIns="0" rtlCol="0" anchor="t"/>
          <a:lstStyle/>
          <a:p>
            <a:pPr indent="0" marL="0">
              <a:spcAft>
                <a:spcPts val="200"/>
              </a:spcAft>
              <a:buNone/>
            </a:pPr>
            <a:r>
              <a:rPr lang="en-US" sz="1800" dirty="0">
                <a:solidFill>
                  <a:srgbClr val="FFF7E6"/>
                </a:solidFill>
                <a:latin typeface="Baloo Da 2" pitchFamily="34" charset="0"/>
                <a:ea typeface="Baloo Da 2" pitchFamily="34" charset="-122"/>
                <a:cs typeface="Baloo Da 2" pitchFamily="34" charset="-120"/>
              </a:rPr>
              <a:t>Nusrat Jahan</a:t>
            </a:r>
            <a:pPr indent="0" marL="0">
              <a:spcAft>
                <a:spcPts val="200"/>
              </a:spcAft>
              <a:buNone/>
            </a:pPr>
            <a:r>
              <a:rPr lang="en-US" sz="1300" dirty="0">
                <a:solidFill>
                  <a:srgbClr val="FDE68A"/>
                </a:solidFill>
                <a:latin typeface="Baloo Da 2" pitchFamily="34" charset="0"/>
                <a:ea typeface="Baloo Da 2" pitchFamily="34" charset="-122"/>
                <a:cs typeface="Baloo Da 2" pitchFamily="34" charset="-120"/>
              </a:rPr>
              <a:t>  22500831</a:t>
            </a:r>
            <a:endParaRPr lang="en-US" sz="1800" dirty="0"/>
          </a:p>
          <a:p>
            <a:pPr indent="0" marL="0">
              <a:spcAft>
                <a:spcPts val="200"/>
              </a:spcAft>
              <a:buNone/>
            </a:pPr>
            <a:r>
              <a:rPr lang="en-US" sz="1800" dirty="0">
                <a:solidFill>
                  <a:srgbClr val="FFF7E6"/>
                </a:solidFill>
                <a:latin typeface="Baloo Da 2" pitchFamily="34" charset="0"/>
                <a:ea typeface="Baloo Da 2" pitchFamily="34" charset="-122"/>
                <a:cs typeface="Baloo Da 2" pitchFamily="34" charset="-120"/>
              </a:rPr>
              <a:t>Zahir Sheikh</a:t>
            </a:r>
            <a:pPr indent="0" marL="0">
              <a:spcAft>
                <a:spcPts val="200"/>
              </a:spcAft>
              <a:buNone/>
            </a:pPr>
            <a:r>
              <a:rPr lang="en-US" sz="1300" dirty="0">
                <a:solidFill>
                  <a:srgbClr val="FDE68A"/>
                </a:solidFill>
                <a:latin typeface="Baloo Da 2" pitchFamily="34" charset="0"/>
                <a:ea typeface="Baloo Da 2" pitchFamily="34" charset="-122"/>
                <a:cs typeface="Baloo Da 2" pitchFamily="34" charset="-120"/>
              </a:rPr>
              <a:t>  22500039</a:t>
            </a:r>
            <a:endParaRPr lang="en-US" sz="1800" dirty="0"/>
          </a:p>
          <a:p>
            <a:pPr indent="0" marL="0">
              <a:spcAft>
                <a:spcPts val="200"/>
              </a:spcAft>
              <a:buNone/>
            </a:pPr>
            <a:r>
              <a:rPr lang="en-US" sz="1800" dirty="0">
                <a:solidFill>
                  <a:srgbClr val="FFF7E6"/>
                </a:solidFill>
                <a:latin typeface="Baloo Da 2" pitchFamily="34" charset="0"/>
                <a:ea typeface="Baloo Da 2" pitchFamily="34" charset="-122"/>
                <a:cs typeface="Baloo Da 2" pitchFamily="34" charset="-120"/>
              </a:rPr>
              <a:t>Shanzida Nishat</a:t>
            </a:r>
            <a:pPr indent="0" marL="0">
              <a:spcAft>
                <a:spcPts val="200"/>
              </a:spcAft>
              <a:buNone/>
            </a:pPr>
            <a:r>
              <a:rPr lang="en-US" sz="1300" dirty="0">
                <a:solidFill>
                  <a:srgbClr val="FDE68A"/>
                </a:solidFill>
                <a:latin typeface="Baloo Da 2" pitchFamily="34" charset="0"/>
                <a:ea typeface="Baloo Da 2" pitchFamily="34" charset="-122"/>
                <a:cs typeface="Baloo Da 2" pitchFamily="34" charset="-120"/>
              </a:rPr>
              <a:t>  22500709</a:t>
            </a:r>
            <a:endParaRPr lang="en-US" sz="1800" dirty="0"/>
          </a:p>
          <a:p>
            <a:pPr indent="0" marL="0">
              <a:spcAft>
                <a:spcPts val="200"/>
              </a:spcAft>
              <a:buNone/>
            </a:pPr>
            <a:r>
              <a:rPr lang="en-US" sz="1800" dirty="0">
                <a:solidFill>
                  <a:srgbClr val="FFF7E6"/>
                </a:solidFill>
                <a:latin typeface="Baloo Da 2" pitchFamily="34" charset="0"/>
                <a:ea typeface="Baloo Da 2" pitchFamily="34" charset="-122"/>
                <a:cs typeface="Baloo Da 2" pitchFamily="34" charset="-120"/>
              </a:rPr>
              <a:t>Nasim</a:t>
            </a:r>
            <a:pPr indent="0" marL="0">
              <a:spcAft>
                <a:spcPts val="200"/>
              </a:spcAft>
              <a:buNone/>
            </a:pPr>
            <a:r>
              <a:rPr lang="en-US" sz="1300" dirty="0">
                <a:solidFill>
                  <a:srgbClr val="FDE68A"/>
                </a:solidFill>
                <a:latin typeface="Baloo Da 2" pitchFamily="34" charset="0"/>
                <a:ea typeface="Baloo Da 2" pitchFamily="34" charset="-122"/>
                <a:cs typeface="Baloo Da 2" pitchFamily="34" charset="-120"/>
              </a:rPr>
              <a:t>  22501283</a:t>
            </a:r>
            <a:endParaRPr lang="en-US" sz="1800" dirty="0"/>
          </a:p>
        </p:txBody>
      </p:sp>
      <p:sp>
        <p:nvSpPr>
          <p:cNvPr id="10" name="Text 7"/>
          <p:cNvSpPr txBox="1"/>
          <p:nvPr/>
        </p:nvSpPr>
        <p:spPr>
          <a:xfrm>
            <a:off x="4663440" y="4251960"/>
            <a:ext cx="2743200" cy="365760"/>
          </a:xfrm>
          <a:prstGeom prst="rect">
            <a:avLst/>
          </a:prstGeom>
          <a:noFill/>
          <a:ln/>
        </p:spPr>
        <p:txBody>
          <a:bodyPr wrap="square" lIns="0" tIns="0" rIns="0" bIns="0" rtlCol="0" anchor="t"/>
          <a:lstStyle/>
          <a:p>
            <a:pPr indent="0" marL="0">
              <a:buNone/>
            </a:pPr>
            <a:r>
              <a:rPr lang="en-US" sz="1500" dirty="0">
                <a:solidFill>
                  <a:srgbClr val="F59E0B"/>
                </a:solidFill>
                <a:latin typeface="Baloo Da 2" pitchFamily="34" charset="0"/>
                <a:ea typeface="Baloo Da 2" pitchFamily="34" charset="-122"/>
                <a:cs typeface="Baloo Da 2" pitchFamily="34" charset="-120"/>
              </a:rPr>
              <a:t>শিক্ষক</a:t>
            </a:r>
            <a:endParaRPr lang="en-US" sz="1500" dirty="0"/>
          </a:p>
        </p:txBody>
      </p:sp>
      <p:sp>
        <p:nvSpPr>
          <p:cNvPr id="11" name="Instructor names"/>
          <p:cNvSpPr txBox="1"/>
          <p:nvPr/>
        </p:nvSpPr>
        <p:spPr>
          <a:xfrm>
            <a:off x="4663440" y="4617720"/>
            <a:ext cx="2743200" cy="731520"/>
          </a:xfrm>
          <a:prstGeom prst="rect">
            <a:avLst/>
          </a:prstGeom>
          <a:noFill/>
          <a:ln/>
        </p:spPr>
        <p:txBody>
          <a:bodyPr wrap="square" lIns="0" tIns="0" rIns="0" bIns="0" rtlCol="0" anchor="t"/>
          <a:lstStyle/>
          <a:p>
            <a:pPr indent="0" marL="0">
              <a:spcAft>
                <a:spcPts val="200"/>
              </a:spcAft>
              <a:buNone/>
            </a:pPr>
            <a:r>
              <a:rPr lang="en-US" sz="1800" dirty="0">
                <a:solidFill>
                  <a:srgbClr val="FFF7E6"/>
                </a:solidFill>
                <a:latin typeface="Baloo Da 2" pitchFamily="34" charset="0"/>
                <a:ea typeface="Baloo Da 2" pitchFamily="34" charset="-122"/>
                <a:cs typeface="Baloo Da 2" pitchFamily="34" charset="-120"/>
              </a:rPr>
              <a:t>Md Nahid Hasan</a:t>
            </a:r>
            <a:endParaRPr lang="en-US" sz="1800" dirty="0"/>
          </a:p>
          <a:p>
            <a:pPr indent="0" marL="0">
              <a:spcAft>
                <a:spcPts val="200"/>
              </a:spcAft>
              <a:buNone/>
            </a:pPr>
            <a:r>
              <a:rPr lang="en-US" sz="1300" dirty="0">
                <a:solidFill>
                  <a:srgbClr val="FDE68A"/>
                </a:solidFill>
                <a:latin typeface="Baloo Da 2" pitchFamily="34" charset="0"/>
                <a:ea typeface="Baloo Da 2" pitchFamily="34" charset="-122"/>
                <a:cs typeface="Baloo Da 2" pitchFamily="34" charset="-120"/>
              </a:rPr>
              <a:t>dydaiproject</a:t>
            </a:r>
            <a:endParaRPr lang="en-US" sz="1800" dirty="0"/>
          </a:p>
        </p:txBody>
      </p:sp>
      <p:sp>
        <p:nvSpPr>
          <p:cNvPr id="12" name="Date"/>
          <p:cNvSpPr txBox="1"/>
          <p:nvPr/>
        </p:nvSpPr>
        <p:spPr>
          <a:xfrm>
            <a:off x="4663440" y="5669280"/>
            <a:ext cx="2743200" cy="411480"/>
          </a:xfrm>
          <a:prstGeom prst="rect">
            <a:avLst/>
          </a:prstGeom>
          <a:noFill/>
          <a:ln/>
        </p:spPr>
        <p:txBody>
          <a:bodyPr wrap="square" lIns="0" tIns="0" rIns="0" bIns="0" rtlCol="0" anchor="t"/>
          <a:lstStyle/>
          <a:p>
            <a:pPr indent="0" marL="0">
              <a:buNone/>
            </a:pPr>
            <a:r>
              <a:rPr lang="en-US" sz="1500" dirty="0">
                <a:solidFill>
                  <a:srgbClr val="F59E0B"/>
                </a:solidFill>
                <a:latin typeface="Baloo Da 2" pitchFamily="34" charset="0"/>
                <a:ea typeface="Baloo Da 2" pitchFamily="34" charset="-122"/>
                <a:cs typeface="Baloo Da 2" pitchFamily="34" charset="-120"/>
              </a:rPr>
              <a:t>২৯ অক্টোবর ২০২৬</a:t>
            </a:r>
            <a:endParaRPr lang="en-US" sz="1500" dirty="0"/>
          </a:p>
        </p:txBody>
      </p:sp>
      <p:pic>
        <p:nvPicPr>
          <p:cNvPr id="13" name="Image 1" descr="preencoded.png">    </p:cNvPr>
          <p:cNvPicPr>
            <a:picLocks noChangeAspect="1"/>
          </p:cNvPicPr>
          <p:nvPr/>
        </p:nvPicPr>
        <p:blipFill>
          <a:blip r:embed="rId2">
            <a:alphaModFix amt="90000"/>
          </a:blip>
          <a:stretch>
            <a:fillRect/>
          </a:stretch>
        </p:blipFill>
        <p:spPr>
          <a:xfrm>
            <a:off x="7543800" y="640080"/>
            <a:ext cx="3566160" cy="3566160"/>
          </a:xfrm>
          <a:prstGeom prst="rect">
            <a:avLst/>
          </a:prstGeom>
        </p:spPr>
      </p:pic>
      <p:pic>
        <p:nvPicPr>
          <p:cNvPr id="14" name="Image 2" descr="/home/naseem/projects/bangaliyana-bazar/presentation/shots/mascot.png">    </p:cNvPr>
          <p:cNvPicPr>
            <a:picLocks noChangeAspect="1"/>
          </p:cNvPicPr>
          <p:nvPr/>
        </p:nvPicPr>
        <p:blipFill>
          <a:blip r:embed="rId3"/>
          <a:stretch>
            <a:fillRect/>
          </a:stretch>
        </p:blipFill>
        <p:spPr>
          <a:xfrm>
            <a:off x="8366760" y="1417320"/>
            <a:ext cx="2462035" cy="5120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বাঙালিয়ানা বাজার কী</a:t>
            </a:r>
            <a:endParaRPr lang="en-US" sz="3400" dirty="0"/>
          </a:p>
        </p:txBody>
      </p:sp>
      <p:sp>
        <p:nvSpPr>
          <p:cNvPr id="3" name="Text 1"/>
          <p:cNvSpPr txBox="1"/>
          <p:nvPr/>
        </p:nvSpPr>
        <p:spPr>
          <a:xfrm>
            <a:off x="548640" y="1737360"/>
            <a:ext cx="5029200" cy="1554480"/>
          </a:xfrm>
          <a:prstGeom prst="rect">
            <a:avLst/>
          </a:prstGeom>
          <a:noFill/>
          <a:ln/>
        </p:spPr>
        <p:txBody>
          <a:bodyPr wrap="square" lIns="0" tIns="0" rIns="0" bIns="0" rtlCol="0" anchor="t"/>
          <a:lstStyle/>
          <a:p>
            <a:pPr indent="0" marL="0">
              <a:buNone/>
            </a:pPr>
            <a:r>
              <a:rPr lang="en-US" sz="3000" dirty="0">
                <a:solidFill>
                  <a:srgbClr val="2A1A14"/>
                </a:solidFill>
                <a:latin typeface="Baloo Da 2" pitchFamily="34" charset="0"/>
                <a:ea typeface="Baloo Da 2" pitchFamily="34" charset="-122"/>
                <a:cs typeface="Baloo Da 2" pitchFamily="34" charset="-120"/>
              </a:rPr>
              <a:t>স্থানীয় কারিগরের হাতের কাজ, এক জায়গায়, অনলাইনে।</a:t>
            </a:r>
            <a:endParaRPr lang="en-US" sz="3000" dirty="0"/>
          </a:p>
        </p:txBody>
      </p:sp>
      <p:sp>
        <p:nvSpPr>
          <p:cNvPr id="4" name="Shape 2"/>
          <p:cNvSpPr/>
          <p:nvPr/>
        </p:nvSpPr>
        <p:spPr>
          <a:xfrm>
            <a:off x="548640" y="3611880"/>
            <a:ext cx="640080" cy="640080"/>
          </a:xfrm>
          <a:prstGeom prst="ellipse">
            <a:avLst/>
          </a:prstGeom>
          <a:solidFill>
            <a:srgbClr val="FDE68A"/>
          </a:solidFill>
          <a:ln w="12700">
            <a:solidFill>
              <a:srgbClr val="FDE68A"/>
            </a:solidFill>
            <a:prstDash val="solid"/>
          </a:ln>
        </p:spPr>
      </p:sp>
      <p:pic>
        <p:nvPicPr>
          <p:cNvPr id="5" name="Image 0" descr="preencoded.png">    </p:cNvPr>
          <p:cNvPicPr>
            <a:picLocks noChangeAspect="1"/>
          </p:cNvPicPr>
          <p:nvPr/>
        </p:nvPicPr>
        <p:blipFill>
          <a:blip r:embed="rId1"/>
          <a:stretch>
            <a:fillRect/>
          </a:stretch>
        </p:blipFill>
        <p:spPr>
          <a:xfrm>
            <a:off x="689458" y="3752698"/>
            <a:ext cx="358445" cy="358445"/>
          </a:xfrm>
          <a:prstGeom prst="rect">
            <a:avLst/>
          </a:prstGeom>
        </p:spPr>
      </p:pic>
      <p:sp>
        <p:nvSpPr>
          <p:cNvPr id="6" name="Text 3"/>
          <p:cNvSpPr txBox="1"/>
          <p:nvPr/>
        </p:nvSpPr>
        <p:spPr>
          <a:xfrm>
            <a:off x="1371600" y="3611880"/>
            <a:ext cx="4114800" cy="64008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হাতে তৈরি</a:t>
            </a:r>
            <a:endParaRPr lang="en-US" sz="2100" dirty="0"/>
          </a:p>
        </p:txBody>
      </p:sp>
      <p:sp>
        <p:nvSpPr>
          <p:cNvPr id="7" name="Shape 4"/>
          <p:cNvSpPr/>
          <p:nvPr/>
        </p:nvSpPr>
        <p:spPr>
          <a:xfrm>
            <a:off x="548640" y="4480560"/>
            <a:ext cx="640080" cy="640080"/>
          </a:xfrm>
          <a:prstGeom prst="ellipse">
            <a:avLst/>
          </a:prstGeom>
          <a:solidFill>
            <a:srgbClr val="FDE68A"/>
          </a:solidFill>
          <a:ln w="12700">
            <a:solidFill>
              <a:srgbClr val="FDE68A"/>
            </a:solidFill>
            <a:prstDash val="solid"/>
          </a:ln>
        </p:spPr>
      </p:sp>
      <p:pic>
        <p:nvPicPr>
          <p:cNvPr id="8" name="Image 1" descr="preencoded.png">    </p:cNvPr>
          <p:cNvPicPr>
            <a:picLocks noChangeAspect="1"/>
          </p:cNvPicPr>
          <p:nvPr/>
        </p:nvPicPr>
        <p:blipFill>
          <a:blip r:embed="rId2"/>
          <a:stretch>
            <a:fillRect/>
          </a:stretch>
        </p:blipFill>
        <p:spPr>
          <a:xfrm>
            <a:off x="689458" y="4621378"/>
            <a:ext cx="358445" cy="358445"/>
          </a:xfrm>
          <a:prstGeom prst="rect">
            <a:avLst/>
          </a:prstGeom>
        </p:spPr>
      </p:pic>
      <p:sp>
        <p:nvSpPr>
          <p:cNvPr id="9" name="Text 5"/>
          <p:cNvSpPr txBox="1"/>
          <p:nvPr/>
        </p:nvSpPr>
        <p:spPr>
          <a:xfrm>
            <a:off x="1371600" y="4480560"/>
            <a:ext cx="4114800" cy="64008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কারিগরের গল্প</a:t>
            </a:r>
            <a:endParaRPr lang="en-US" sz="2100" dirty="0"/>
          </a:p>
        </p:txBody>
      </p:sp>
      <p:sp>
        <p:nvSpPr>
          <p:cNvPr id="10" name="Shape 6"/>
          <p:cNvSpPr/>
          <p:nvPr/>
        </p:nvSpPr>
        <p:spPr>
          <a:xfrm>
            <a:off x="548640" y="5349240"/>
            <a:ext cx="640080" cy="640080"/>
          </a:xfrm>
          <a:prstGeom prst="ellipse">
            <a:avLst/>
          </a:prstGeom>
          <a:solidFill>
            <a:srgbClr val="FDE68A"/>
          </a:solidFill>
          <a:ln w="12700">
            <a:solidFill>
              <a:srgbClr val="FDE68A"/>
            </a:solidFill>
            <a:prstDash val="solid"/>
          </a:ln>
        </p:spPr>
      </p:sp>
      <p:pic>
        <p:nvPicPr>
          <p:cNvPr id="11" name="Image 2" descr="preencoded.png">    </p:cNvPr>
          <p:cNvPicPr>
            <a:picLocks noChangeAspect="1"/>
          </p:cNvPicPr>
          <p:nvPr/>
        </p:nvPicPr>
        <p:blipFill>
          <a:blip r:embed="rId3"/>
          <a:stretch>
            <a:fillRect/>
          </a:stretch>
        </p:blipFill>
        <p:spPr>
          <a:xfrm>
            <a:off x="689458" y="5490058"/>
            <a:ext cx="358445" cy="358445"/>
          </a:xfrm>
          <a:prstGeom prst="rect">
            <a:avLst/>
          </a:prstGeom>
        </p:spPr>
      </p:pic>
      <p:sp>
        <p:nvSpPr>
          <p:cNvPr id="12" name="Text 7"/>
          <p:cNvSpPr txBox="1"/>
          <p:nvPr/>
        </p:nvSpPr>
        <p:spPr>
          <a:xfrm>
            <a:off x="1371600" y="5349240"/>
            <a:ext cx="4114800" cy="64008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ঘরে ডেলিভারি</a:t>
            </a:r>
            <a:endParaRPr lang="en-US" sz="2100" dirty="0"/>
          </a:p>
        </p:txBody>
      </p:sp>
      <p:sp>
        <p:nvSpPr>
          <p:cNvPr id="13" name="Shape 8"/>
          <p:cNvSpPr/>
          <p:nvPr/>
        </p:nvSpPr>
        <p:spPr>
          <a:xfrm>
            <a:off x="5952744" y="1883664"/>
            <a:ext cx="5742432" cy="3340626"/>
          </a:xfrm>
          <a:prstGeom prst="roundRect">
            <a:avLst>
              <a:gd name="adj" fmla="val 2737"/>
            </a:avLst>
          </a:prstGeom>
          <a:solidFill>
            <a:srgbClr val="FFFBF2"/>
          </a:solidFill>
          <a:ln w="22225">
            <a:solidFill>
              <a:srgbClr val="B91C1C"/>
            </a:solidFill>
            <a:prstDash val="dash"/>
          </a:ln>
        </p:spPr>
      </p:sp>
      <p:pic>
        <p:nvPicPr>
          <p:cNvPr id="14" name="Image 3" descr="/home/naseem/projects/bangaliyana-bazar/presentation/shots/home-desk.png">    </p:cNvPr>
          <p:cNvPicPr>
            <a:picLocks noChangeAspect="1"/>
          </p:cNvPicPr>
          <p:nvPr/>
        </p:nvPicPr>
        <p:blipFill>
          <a:blip r:embed="rId4"/>
          <a:stretch>
            <a:fillRect/>
          </a:stretch>
        </p:blipFill>
        <p:spPr>
          <a:xfrm>
            <a:off x="6080760" y="2011680"/>
            <a:ext cx="5486400" cy="308459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কেন বানালাম</a:t>
            </a:r>
            <a:endParaRPr lang="en-US" sz="3400" dirty="0"/>
          </a:p>
        </p:txBody>
      </p:sp>
      <p:sp>
        <p:nvSpPr>
          <p:cNvPr id="3" name="Shape 1"/>
          <p:cNvSpPr/>
          <p:nvPr/>
        </p:nvSpPr>
        <p:spPr>
          <a:xfrm>
            <a:off x="548640" y="1463040"/>
            <a:ext cx="3520440" cy="2743200"/>
          </a:xfrm>
          <a:prstGeom prst="roundRect">
            <a:avLst>
              <a:gd name="adj" fmla="val 4000"/>
            </a:avLst>
          </a:prstGeom>
          <a:solidFill>
            <a:srgbClr val="FFFBF2"/>
          </a:solidFill>
          <a:ln w="22225">
            <a:solidFill>
              <a:srgbClr val="B91C1C"/>
            </a:solidFill>
            <a:prstDash val="dash"/>
          </a:ln>
        </p:spPr>
      </p:sp>
      <p:sp>
        <p:nvSpPr>
          <p:cNvPr id="4" name="Shape 2"/>
          <p:cNvSpPr/>
          <p:nvPr/>
        </p:nvSpPr>
        <p:spPr>
          <a:xfrm>
            <a:off x="1847088" y="1737360"/>
            <a:ext cx="914400" cy="914400"/>
          </a:xfrm>
          <a:prstGeom prst="ellipse">
            <a:avLst/>
          </a:prstGeom>
          <a:solidFill>
            <a:srgbClr val="FDEECB"/>
          </a:solidFill>
          <a:ln w="12700">
            <a:solidFill>
              <a:srgbClr val="FDEECB"/>
            </a:solidFill>
            <a:prstDash val="solid"/>
          </a:ln>
        </p:spPr>
      </p:sp>
      <p:pic>
        <p:nvPicPr>
          <p:cNvPr id="5" name="Image 0" descr="preencoded.png">    </p:cNvPr>
          <p:cNvPicPr>
            <a:picLocks noChangeAspect="1"/>
          </p:cNvPicPr>
          <p:nvPr/>
        </p:nvPicPr>
        <p:blipFill>
          <a:blip r:embed="rId1"/>
          <a:stretch>
            <a:fillRect/>
          </a:stretch>
        </p:blipFill>
        <p:spPr>
          <a:xfrm>
            <a:off x="2048256" y="1938528"/>
            <a:ext cx="512064" cy="512064"/>
          </a:xfrm>
          <a:prstGeom prst="rect">
            <a:avLst/>
          </a:prstGeom>
        </p:spPr>
      </p:pic>
      <p:sp>
        <p:nvSpPr>
          <p:cNvPr id="6" name="Text 3"/>
          <p:cNvSpPr txBox="1"/>
          <p:nvPr/>
        </p:nvSpPr>
        <p:spPr>
          <a:xfrm>
            <a:off x="731520" y="2834640"/>
            <a:ext cx="3154680" cy="502920"/>
          </a:xfrm>
          <a:prstGeom prst="rect">
            <a:avLst/>
          </a:prstGeom>
          <a:noFill/>
          <a:ln/>
        </p:spPr>
        <p:txBody>
          <a:bodyPr wrap="square" lIns="0" tIns="0" rIns="0" bIns="0" rtlCol="0" anchor="t"/>
          <a:lstStyle/>
          <a:p>
            <a:pPr algn="ctr" indent="0" marL="0">
              <a:buNone/>
            </a:pPr>
            <a:r>
              <a:rPr lang="en-US" sz="2300" dirty="0">
                <a:solidFill>
                  <a:srgbClr val="7F1D1D"/>
                </a:solidFill>
                <a:latin typeface="Baloo Da 2" pitchFamily="34" charset="0"/>
                <a:ea typeface="Baloo Da 2" pitchFamily="34" charset="-122"/>
                <a:cs typeface="Baloo Da 2" pitchFamily="34" charset="-120"/>
              </a:rPr>
              <a:t>বিক্রি ছড়িয়ে আছে</a:t>
            </a:r>
            <a:endParaRPr lang="en-US" sz="2300" dirty="0"/>
          </a:p>
        </p:txBody>
      </p:sp>
      <p:sp>
        <p:nvSpPr>
          <p:cNvPr id="7" name="Text 4"/>
          <p:cNvSpPr txBox="1"/>
          <p:nvPr/>
        </p:nvSpPr>
        <p:spPr>
          <a:xfrm>
            <a:off x="731520" y="3383280"/>
            <a:ext cx="3154680" cy="457200"/>
          </a:xfrm>
          <a:prstGeom prst="rect">
            <a:avLst/>
          </a:prstGeom>
          <a:noFill/>
          <a:ln/>
        </p:spPr>
        <p:txBody>
          <a:bodyPr wrap="square" lIns="0" tIns="0" rIns="0" bIns="0" rtlCol="0" anchor="t"/>
          <a:lstStyle/>
          <a:p>
            <a:pPr algn="ctr" indent="0" marL="0">
              <a:buNone/>
            </a:pPr>
            <a:r>
              <a:rPr lang="en-US" sz="1700" dirty="0">
                <a:solidFill>
                  <a:srgbClr val="6B5446"/>
                </a:solidFill>
                <a:latin typeface="Baloo Da 2" pitchFamily="34" charset="0"/>
                <a:ea typeface="Baloo Da 2" pitchFamily="34" charset="-122"/>
                <a:cs typeface="Baloo Da 2" pitchFamily="34" charset="-120"/>
              </a:rPr>
              <a:t>ক্রেতা খুঁজে পান না</a:t>
            </a:r>
            <a:endParaRPr lang="en-US" sz="1700" dirty="0"/>
          </a:p>
        </p:txBody>
      </p:sp>
      <p:sp>
        <p:nvSpPr>
          <p:cNvPr id="8" name="Shape 5"/>
          <p:cNvSpPr/>
          <p:nvPr/>
        </p:nvSpPr>
        <p:spPr>
          <a:xfrm>
            <a:off x="4306824" y="1463040"/>
            <a:ext cx="3520440" cy="2743200"/>
          </a:xfrm>
          <a:prstGeom prst="roundRect">
            <a:avLst>
              <a:gd name="adj" fmla="val 4000"/>
            </a:avLst>
          </a:prstGeom>
          <a:solidFill>
            <a:srgbClr val="FFFBF2"/>
          </a:solidFill>
          <a:ln w="22225">
            <a:solidFill>
              <a:srgbClr val="B91C1C"/>
            </a:solidFill>
            <a:prstDash val="dash"/>
          </a:ln>
        </p:spPr>
      </p:sp>
      <p:sp>
        <p:nvSpPr>
          <p:cNvPr id="9" name="Shape 6"/>
          <p:cNvSpPr/>
          <p:nvPr/>
        </p:nvSpPr>
        <p:spPr>
          <a:xfrm>
            <a:off x="5605272" y="1737360"/>
            <a:ext cx="914400" cy="914400"/>
          </a:xfrm>
          <a:prstGeom prst="ellipse">
            <a:avLst/>
          </a:prstGeom>
          <a:solidFill>
            <a:srgbClr val="FDEECB"/>
          </a:solidFill>
          <a:ln w="12700">
            <a:solidFill>
              <a:srgbClr val="FDEECB"/>
            </a:solidFill>
            <a:prstDash val="solid"/>
          </a:ln>
        </p:spPr>
      </p:sp>
      <p:pic>
        <p:nvPicPr>
          <p:cNvPr id="10" name="Image 1" descr="preencoded.png">    </p:cNvPr>
          <p:cNvPicPr>
            <a:picLocks noChangeAspect="1"/>
          </p:cNvPicPr>
          <p:nvPr/>
        </p:nvPicPr>
        <p:blipFill>
          <a:blip r:embed="rId2"/>
          <a:stretch>
            <a:fillRect/>
          </a:stretch>
        </p:blipFill>
        <p:spPr>
          <a:xfrm>
            <a:off x="5806440" y="1938528"/>
            <a:ext cx="512064" cy="512064"/>
          </a:xfrm>
          <a:prstGeom prst="rect">
            <a:avLst/>
          </a:prstGeom>
        </p:spPr>
      </p:pic>
      <p:sp>
        <p:nvSpPr>
          <p:cNvPr id="11" name="Text 7"/>
          <p:cNvSpPr txBox="1"/>
          <p:nvPr/>
        </p:nvSpPr>
        <p:spPr>
          <a:xfrm>
            <a:off x="4489704" y="2834640"/>
            <a:ext cx="3154680" cy="502920"/>
          </a:xfrm>
          <a:prstGeom prst="rect">
            <a:avLst/>
          </a:prstGeom>
          <a:noFill/>
          <a:ln/>
        </p:spPr>
        <p:txBody>
          <a:bodyPr wrap="square" lIns="0" tIns="0" rIns="0" bIns="0" rtlCol="0" anchor="t"/>
          <a:lstStyle/>
          <a:p>
            <a:pPr algn="ctr" indent="0" marL="0">
              <a:buNone/>
            </a:pPr>
            <a:r>
              <a:rPr lang="en-US" sz="2300" dirty="0">
                <a:solidFill>
                  <a:srgbClr val="7F1D1D"/>
                </a:solidFill>
                <a:latin typeface="Baloo Da 2" pitchFamily="34" charset="0"/>
                <a:ea typeface="Baloo Da 2" pitchFamily="34" charset="-122"/>
                <a:cs typeface="Baloo Da 2" pitchFamily="34" charset="-120"/>
              </a:rPr>
              <a:t>লাভ যায় মাঝখানে</a:t>
            </a:r>
            <a:endParaRPr lang="en-US" sz="2300" dirty="0"/>
          </a:p>
        </p:txBody>
      </p:sp>
      <p:sp>
        <p:nvSpPr>
          <p:cNvPr id="12" name="Text 8"/>
          <p:cNvSpPr txBox="1"/>
          <p:nvPr/>
        </p:nvSpPr>
        <p:spPr>
          <a:xfrm>
            <a:off x="4489704" y="3383280"/>
            <a:ext cx="3154680" cy="457200"/>
          </a:xfrm>
          <a:prstGeom prst="rect">
            <a:avLst/>
          </a:prstGeom>
          <a:noFill/>
          <a:ln/>
        </p:spPr>
        <p:txBody>
          <a:bodyPr wrap="square" lIns="0" tIns="0" rIns="0" bIns="0" rtlCol="0" anchor="t"/>
          <a:lstStyle/>
          <a:p>
            <a:pPr algn="ctr" indent="0" marL="0">
              <a:buNone/>
            </a:pPr>
            <a:r>
              <a:rPr lang="en-US" sz="1700" dirty="0">
                <a:solidFill>
                  <a:srgbClr val="6B5446"/>
                </a:solidFill>
                <a:latin typeface="Baloo Da 2" pitchFamily="34" charset="0"/>
                <a:ea typeface="Baloo Da 2" pitchFamily="34" charset="-122"/>
                <a:cs typeface="Baloo Da 2" pitchFamily="34" charset="-120"/>
              </a:rPr>
              <a:t>কারিগর পান কম</a:t>
            </a:r>
            <a:endParaRPr lang="en-US" sz="1700" dirty="0"/>
          </a:p>
        </p:txBody>
      </p:sp>
      <p:sp>
        <p:nvSpPr>
          <p:cNvPr id="13" name="Shape 9"/>
          <p:cNvSpPr/>
          <p:nvPr/>
        </p:nvSpPr>
        <p:spPr>
          <a:xfrm>
            <a:off x="8065008" y="1463040"/>
            <a:ext cx="3520440" cy="2743200"/>
          </a:xfrm>
          <a:prstGeom prst="roundRect">
            <a:avLst>
              <a:gd name="adj" fmla="val 4000"/>
            </a:avLst>
          </a:prstGeom>
          <a:solidFill>
            <a:srgbClr val="FFFBF2"/>
          </a:solidFill>
          <a:ln w="22225">
            <a:solidFill>
              <a:srgbClr val="B91C1C"/>
            </a:solidFill>
            <a:prstDash val="dash"/>
          </a:ln>
        </p:spPr>
      </p:sp>
      <p:sp>
        <p:nvSpPr>
          <p:cNvPr id="14" name="Shape 10"/>
          <p:cNvSpPr/>
          <p:nvPr/>
        </p:nvSpPr>
        <p:spPr>
          <a:xfrm>
            <a:off x="9363456" y="1737360"/>
            <a:ext cx="914400" cy="914400"/>
          </a:xfrm>
          <a:prstGeom prst="ellipse">
            <a:avLst/>
          </a:prstGeom>
          <a:solidFill>
            <a:srgbClr val="FDEECB"/>
          </a:solidFill>
          <a:ln w="12700">
            <a:solidFill>
              <a:srgbClr val="FDEECB"/>
            </a:solidFill>
            <a:prstDash val="solid"/>
          </a:ln>
        </p:spPr>
      </p:sp>
      <p:pic>
        <p:nvPicPr>
          <p:cNvPr id="15" name="Image 2" descr="preencoded.png">    </p:cNvPr>
          <p:cNvPicPr>
            <a:picLocks noChangeAspect="1"/>
          </p:cNvPicPr>
          <p:nvPr/>
        </p:nvPicPr>
        <p:blipFill>
          <a:blip r:embed="rId3"/>
          <a:stretch>
            <a:fillRect/>
          </a:stretch>
        </p:blipFill>
        <p:spPr>
          <a:xfrm>
            <a:off x="9564624" y="1938528"/>
            <a:ext cx="512064" cy="512064"/>
          </a:xfrm>
          <a:prstGeom prst="rect">
            <a:avLst/>
          </a:prstGeom>
        </p:spPr>
      </p:pic>
      <p:sp>
        <p:nvSpPr>
          <p:cNvPr id="16" name="Text 11"/>
          <p:cNvSpPr txBox="1"/>
          <p:nvPr/>
        </p:nvSpPr>
        <p:spPr>
          <a:xfrm>
            <a:off x="8247888" y="2834640"/>
            <a:ext cx="3154680" cy="502920"/>
          </a:xfrm>
          <a:prstGeom prst="rect">
            <a:avLst/>
          </a:prstGeom>
          <a:noFill/>
          <a:ln/>
        </p:spPr>
        <p:txBody>
          <a:bodyPr wrap="square" lIns="0" tIns="0" rIns="0" bIns="0" rtlCol="0" anchor="t"/>
          <a:lstStyle/>
          <a:p>
            <a:pPr algn="ctr" indent="0" marL="0">
              <a:buNone/>
            </a:pPr>
            <a:r>
              <a:rPr lang="en-US" sz="2300" dirty="0">
                <a:solidFill>
                  <a:srgbClr val="7F1D1D"/>
                </a:solidFill>
                <a:latin typeface="Baloo Da 2" pitchFamily="34" charset="0"/>
                <a:ea typeface="Baloo Da 2" pitchFamily="34" charset="-122"/>
                <a:cs typeface="Baloo Da 2" pitchFamily="34" charset="-120"/>
              </a:rPr>
              <a:t>গল্প হারিয়ে যায়</a:t>
            </a:r>
            <a:endParaRPr lang="en-US" sz="2300" dirty="0"/>
          </a:p>
        </p:txBody>
      </p:sp>
      <p:sp>
        <p:nvSpPr>
          <p:cNvPr id="17" name="Text 12"/>
          <p:cNvSpPr txBox="1"/>
          <p:nvPr/>
        </p:nvSpPr>
        <p:spPr>
          <a:xfrm>
            <a:off x="8247888" y="3383280"/>
            <a:ext cx="3154680" cy="457200"/>
          </a:xfrm>
          <a:prstGeom prst="rect">
            <a:avLst/>
          </a:prstGeom>
          <a:noFill/>
          <a:ln/>
        </p:spPr>
        <p:txBody>
          <a:bodyPr wrap="square" lIns="0" tIns="0" rIns="0" bIns="0" rtlCol="0" anchor="t"/>
          <a:lstStyle/>
          <a:p>
            <a:pPr algn="ctr" indent="0" marL="0">
              <a:buNone/>
            </a:pPr>
            <a:r>
              <a:rPr lang="en-US" sz="1700" dirty="0">
                <a:solidFill>
                  <a:srgbClr val="6B5446"/>
                </a:solidFill>
                <a:latin typeface="Baloo Da 2" pitchFamily="34" charset="0"/>
                <a:ea typeface="Baloo Da 2" pitchFamily="34" charset="-122"/>
                <a:cs typeface="Baloo Da 2" pitchFamily="34" charset="-120"/>
              </a:rPr>
              <a:t>কে বানালেন, কেউ জানে না</a:t>
            </a:r>
            <a:endParaRPr lang="en-US" sz="1700" dirty="0"/>
          </a:p>
        </p:txBody>
      </p:sp>
      <p:sp>
        <p:nvSpPr>
          <p:cNvPr id="18" name="Shape 13"/>
          <p:cNvSpPr/>
          <p:nvPr/>
        </p:nvSpPr>
        <p:spPr>
          <a:xfrm>
            <a:off x="548640" y="4572000"/>
            <a:ext cx="11036808" cy="1188720"/>
          </a:xfrm>
          <a:prstGeom prst="roundRect">
            <a:avLst>
              <a:gd name="adj" fmla="val 9231"/>
            </a:avLst>
          </a:prstGeom>
          <a:solidFill>
            <a:srgbClr val="FDE68A"/>
          </a:solidFill>
          <a:ln w="22225">
            <a:solidFill>
              <a:srgbClr val="7F1D1D"/>
            </a:solidFill>
            <a:prstDash val="dash"/>
          </a:ln>
        </p:spPr>
      </p:sp>
      <p:sp>
        <p:nvSpPr>
          <p:cNvPr id="19" name="Text 14"/>
          <p:cNvSpPr txBox="1"/>
          <p:nvPr/>
        </p:nvSpPr>
        <p:spPr>
          <a:xfrm>
            <a:off x="548640" y="4572000"/>
            <a:ext cx="11036808" cy="1188720"/>
          </a:xfrm>
          <a:prstGeom prst="rect">
            <a:avLst/>
          </a:prstGeom>
          <a:noFill/>
          <a:ln/>
        </p:spPr>
        <p:txBody>
          <a:bodyPr wrap="square" lIns="0" tIns="0" rIns="0" bIns="0" rtlCol="0" anchor="ctr"/>
          <a:lstStyle/>
          <a:p>
            <a:pPr algn="ctr" indent="0" marL="0">
              <a:buNone/>
            </a:pPr>
            <a:r>
              <a:rPr lang="en-US" sz="2400" dirty="0">
                <a:solidFill>
                  <a:srgbClr val="B91C1C"/>
                </a:solidFill>
                <a:latin typeface="Baloo Da 2" pitchFamily="34" charset="0"/>
                <a:ea typeface="Baloo Da 2" pitchFamily="34" charset="-122"/>
                <a:cs typeface="Baloo Da 2" pitchFamily="34" charset="-120"/>
              </a:rPr>
              <a:t>তাই বাঙালিয়ানা বাজার:  </a:t>
            </a:r>
            <a:pPr algn="ctr" indent="0" marL="0">
              <a:buNone/>
            </a:pPr>
            <a:r>
              <a:rPr lang="en-US" sz="2400" dirty="0">
                <a:solidFill>
                  <a:srgbClr val="2A1A14"/>
                </a:solidFill>
                <a:latin typeface="Baloo Da 2" pitchFamily="34" charset="0"/>
                <a:ea typeface="Baloo Da 2" pitchFamily="34" charset="-122"/>
                <a:cs typeface="Baloo Da 2" pitchFamily="34" charset="-120"/>
              </a:rPr>
              <a:t>কারিগরের নিজের অনলাইন দোকান</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FFF7E6"/>
                </a:solidFill>
                <a:latin typeface="Tiro Bangla" pitchFamily="34" charset="0"/>
                <a:ea typeface="Tiro Bangla" pitchFamily="34" charset="-122"/>
                <a:cs typeface="Tiro Bangla" pitchFamily="34" charset="-120"/>
              </a:rPr>
              <a:t>আমাদের লক্ষ্য</a:t>
            </a:r>
            <a:endParaRPr lang="en-US" sz="3400" dirty="0"/>
          </a:p>
        </p:txBody>
      </p:sp>
      <p:sp>
        <p:nvSpPr>
          <p:cNvPr id="3" name="Text 1"/>
          <p:cNvSpPr txBox="1"/>
          <p:nvPr/>
        </p:nvSpPr>
        <p:spPr>
          <a:xfrm>
            <a:off x="548640" y="1645920"/>
            <a:ext cx="731520" cy="914400"/>
          </a:xfrm>
          <a:prstGeom prst="rect">
            <a:avLst/>
          </a:prstGeom>
          <a:noFill/>
          <a:ln/>
        </p:spPr>
        <p:txBody>
          <a:bodyPr wrap="square" lIns="0" tIns="0" rIns="0" bIns="0" rtlCol="0" anchor="ctr"/>
          <a:lstStyle/>
          <a:p>
            <a:pPr indent="0" marL="0">
              <a:buNone/>
            </a:pPr>
            <a:r>
              <a:rPr lang="en-US" sz="5400" dirty="0">
                <a:solidFill>
                  <a:srgbClr val="F59E0B"/>
                </a:solidFill>
                <a:latin typeface="Tiro Bangla" pitchFamily="34" charset="0"/>
                <a:ea typeface="Tiro Bangla" pitchFamily="34" charset="-122"/>
                <a:cs typeface="Tiro Bangla" pitchFamily="34" charset="-120"/>
              </a:rPr>
              <a:t>১</a:t>
            </a:r>
            <a:endParaRPr lang="en-US" sz="5400" dirty="0"/>
          </a:p>
        </p:txBody>
      </p:sp>
      <p:sp>
        <p:nvSpPr>
          <p:cNvPr id="4" name="Text 2"/>
          <p:cNvSpPr txBox="1"/>
          <p:nvPr/>
        </p:nvSpPr>
        <p:spPr>
          <a:xfrm>
            <a:off x="1417320" y="1645920"/>
            <a:ext cx="5486400" cy="914400"/>
          </a:xfrm>
          <a:prstGeom prst="rect">
            <a:avLst/>
          </a:prstGeom>
          <a:noFill/>
          <a:ln/>
        </p:spPr>
        <p:txBody>
          <a:bodyPr wrap="square" lIns="0" tIns="0" rIns="0" bIns="0" rtlCol="0" anchor="ctr"/>
          <a:lstStyle/>
          <a:p>
            <a:pPr indent="0" marL="0">
              <a:buNone/>
            </a:pPr>
            <a:r>
              <a:rPr lang="en-US" sz="2700" dirty="0">
                <a:solidFill>
                  <a:srgbClr val="FFF7E6"/>
                </a:solidFill>
                <a:latin typeface="Baloo Da 2" pitchFamily="34" charset="0"/>
                <a:ea typeface="Baloo Da 2" pitchFamily="34" charset="-122"/>
                <a:cs typeface="Baloo Da 2" pitchFamily="34" charset="-120"/>
              </a:rPr>
              <a:t>কারিগর থেকে সরাসরি ক্রেতা</a:t>
            </a:r>
            <a:endParaRPr lang="en-US" sz="2700" dirty="0"/>
          </a:p>
        </p:txBody>
      </p:sp>
      <p:sp>
        <p:nvSpPr>
          <p:cNvPr id="5" name="Text 3"/>
          <p:cNvSpPr txBox="1"/>
          <p:nvPr/>
        </p:nvSpPr>
        <p:spPr>
          <a:xfrm>
            <a:off x="548640" y="3108960"/>
            <a:ext cx="731520" cy="914400"/>
          </a:xfrm>
          <a:prstGeom prst="rect">
            <a:avLst/>
          </a:prstGeom>
          <a:noFill/>
          <a:ln/>
        </p:spPr>
        <p:txBody>
          <a:bodyPr wrap="square" lIns="0" tIns="0" rIns="0" bIns="0" rtlCol="0" anchor="ctr"/>
          <a:lstStyle/>
          <a:p>
            <a:pPr indent="0" marL="0">
              <a:buNone/>
            </a:pPr>
            <a:r>
              <a:rPr lang="en-US" sz="5400" dirty="0">
                <a:solidFill>
                  <a:srgbClr val="F59E0B"/>
                </a:solidFill>
                <a:latin typeface="Tiro Bangla" pitchFamily="34" charset="0"/>
                <a:ea typeface="Tiro Bangla" pitchFamily="34" charset="-122"/>
                <a:cs typeface="Tiro Bangla" pitchFamily="34" charset="-120"/>
              </a:rPr>
              <a:t>২</a:t>
            </a:r>
            <a:endParaRPr lang="en-US" sz="5400" dirty="0"/>
          </a:p>
        </p:txBody>
      </p:sp>
      <p:sp>
        <p:nvSpPr>
          <p:cNvPr id="6" name="Text 4"/>
          <p:cNvSpPr txBox="1"/>
          <p:nvPr/>
        </p:nvSpPr>
        <p:spPr>
          <a:xfrm>
            <a:off x="1417320" y="3108960"/>
            <a:ext cx="5486400" cy="914400"/>
          </a:xfrm>
          <a:prstGeom prst="rect">
            <a:avLst/>
          </a:prstGeom>
          <a:noFill/>
          <a:ln/>
        </p:spPr>
        <p:txBody>
          <a:bodyPr wrap="square" lIns="0" tIns="0" rIns="0" bIns="0" rtlCol="0" anchor="ctr"/>
          <a:lstStyle/>
          <a:p>
            <a:pPr indent="0" marL="0">
              <a:buNone/>
            </a:pPr>
            <a:r>
              <a:rPr lang="en-US" sz="2700" dirty="0">
                <a:solidFill>
                  <a:srgbClr val="FFF7E6"/>
                </a:solidFill>
                <a:latin typeface="Baloo Da 2" pitchFamily="34" charset="0"/>
                <a:ea typeface="Baloo Da 2" pitchFamily="34" charset="-122"/>
                <a:cs typeface="Baloo Da 2" pitchFamily="34" charset="-120"/>
              </a:rPr>
              <a:t>প্রতিটি পণ্যের গল্প</a:t>
            </a:r>
            <a:endParaRPr lang="en-US" sz="2700" dirty="0"/>
          </a:p>
        </p:txBody>
      </p:sp>
      <p:sp>
        <p:nvSpPr>
          <p:cNvPr id="7" name="Text 5"/>
          <p:cNvSpPr txBox="1"/>
          <p:nvPr/>
        </p:nvSpPr>
        <p:spPr>
          <a:xfrm>
            <a:off x="548640" y="4572000"/>
            <a:ext cx="731520" cy="914400"/>
          </a:xfrm>
          <a:prstGeom prst="rect">
            <a:avLst/>
          </a:prstGeom>
          <a:noFill/>
          <a:ln/>
        </p:spPr>
        <p:txBody>
          <a:bodyPr wrap="square" lIns="0" tIns="0" rIns="0" bIns="0" rtlCol="0" anchor="ctr"/>
          <a:lstStyle/>
          <a:p>
            <a:pPr indent="0" marL="0">
              <a:buNone/>
            </a:pPr>
            <a:r>
              <a:rPr lang="en-US" sz="5400" dirty="0">
                <a:solidFill>
                  <a:srgbClr val="F59E0B"/>
                </a:solidFill>
                <a:latin typeface="Tiro Bangla" pitchFamily="34" charset="0"/>
                <a:ea typeface="Tiro Bangla" pitchFamily="34" charset="-122"/>
                <a:cs typeface="Tiro Bangla" pitchFamily="34" charset="-120"/>
              </a:rPr>
              <a:t>৩</a:t>
            </a:r>
            <a:endParaRPr lang="en-US" sz="5400" dirty="0"/>
          </a:p>
        </p:txBody>
      </p:sp>
      <p:sp>
        <p:nvSpPr>
          <p:cNvPr id="8" name="Text 6"/>
          <p:cNvSpPr txBox="1"/>
          <p:nvPr/>
        </p:nvSpPr>
        <p:spPr>
          <a:xfrm>
            <a:off x="1417320" y="4572000"/>
            <a:ext cx="5486400" cy="914400"/>
          </a:xfrm>
          <a:prstGeom prst="rect">
            <a:avLst/>
          </a:prstGeom>
          <a:noFill/>
          <a:ln/>
        </p:spPr>
        <p:txBody>
          <a:bodyPr wrap="square" lIns="0" tIns="0" rIns="0" bIns="0" rtlCol="0" anchor="ctr"/>
          <a:lstStyle/>
          <a:p>
            <a:pPr indent="0" marL="0">
              <a:buNone/>
            </a:pPr>
            <a:r>
              <a:rPr lang="en-US" sz="2700" dirty="0">
                <a:solidFill>
                  <a:srgbClr val="FFF7E6"/>
                </a:solidFill>
                <a:latin typeface="Baloo Da 2" pitchFamily="34" charset="0"/>
                <a:ea typeface="Baloo Da 2" pitchFamily="34" charset="-122"/>
                <a:cs typeface="Baloo Da 2" pitchFamily="34" charset="-120"/>
              </a:rPr>
              <a:t>সহজ বাংলায়, মোবাইলে</a:t>
            </a:r>
            <a:endParaRPr lang="en-US" sz="2700" dirty="0"/>
          </a:p>
        </p:txBody>
      </p:sp>
      <p:sp>
        <p:nvSpPr>
          <p:cNvPr id="9" name="Shape 7"/>
          <p:cNvSpPr/>
          <p:nvPr/>
        </p:nvSpPr>
        <p:spPr>
          <a:xfrm>
            <a:off x="7452360" y="1463040"/>
            <a:ext cx="4114800" cy="1371600"/>
          </a:xfrm>
          <a:prstGeom prst="roundRect">
            <a:avLst>
              <a:gd name="adj" fmla="val 8000"/>
            </a:avLst>
          </a:prstGeom>
          <a:solidFill>
            <a:srgbClr val="1F3B73"/>
          </a:solidFill>
          <a:ln w="22225">
            <a:solidFill>
              <a:srgbClr val="F59E0B"/>
            </a:solidFill>
            <a:prstDash val="dash"/>
          </a:ln>
        </p:spPr>
      </p:sp>
      <p:sp>
        <p:nvSpPr>
          <p:cNvPr id="10" name="Text 8"/>
          <p:cNvSpPr txBox="1"/>
          <p:nvPr/>
        </p:nvSpPr>
        <p:spPr>
          <a:xfrm>
            <a:off x="7772400" y="1463040"/>
            <a:ext cx="1737360" cy="1371600"/>
          </a:xfrm>
          <a:prstGeom prst="rect">
            <a:avLst/>
          </a:prstGeom>
          <a:noFill/>
          <a:ln/>
        </p:spPr>
        <p:txBody>
          <a:bodyPr wrap="square" lIns="0" tIns="0" rIns="0" bIns="0" rtlCol="0" anchor="ctr"/>
          <a:lstStyle/>
          <a:p>
            <a:pPr indent="0" marL="0">
              <a:buNone/>
            </a:pPr>
            <a:r>
              <a:rPr lang="en-US" sz="4400" dirty="0">
                <a:solidFill>
                  <a:srgbClr val="F59E0B"/>
                </a:solidFill>
                <a:latin typeface="Tiro Bangla" pitchFamily="34" charset="0"/>
                <a:ea typeface="Tiro Bangla" pitchFamily="34" charset="-122"/>
                <a:cs typeface="Tiro Bangla" pitchFamily="34" charset="-120"/>
              </a:rPr>
              <a:t>৬৪</a:t>
            </a:r>
            <a:endParaRPr lang="en-US" sz="4400" dirty="0"/>
          </a:p>
        </p:txBody>
      </p:sp>
      <p:sp>
        <p:nvSpPr>
          <p:cNvPr id="11" name="Text 9"/>
          <p:cNvSpPr txBox="1"/>
          <p:nvPr/>
        </p:nvSpPr>
        <p:spPr>
          <a:xfrm>
            <a:off x="9464040" y="1463040"/>
            <a:ext cx="1965960" cy="1371600"/>
          </a:xfrm>
          <a:prstGeom prst="rect">
            <a:avLst/>
          </a:prstGeom>
          <a:noFill/>
          <a:ln/>
        </p:spPr>
        <p:txBody>
          <a:bodyPr wrap="square" lIns="0" tIns="0" rIns="0" bIns="0" rtlCol="0" anchor="ctr"/>
          <a:lstStyle/>
          <a:p>
            <a:pPr indent="0" marL="0">
              <a:buNone/>
            </a:pPr>
            <a:r>
              <a:rPr lang="en-US" sz="1800" dirty="0">
                <a:solidFill>
                  <a:srgbClr val="FFF7E6"/>
                </a:solidFill>
                <a:latin typeface="Baloo Da 2" pitchFamily="34" charset="0"/>
                <a:ea typeface="Baloo Da 2" pitchFamily="34" charset="-122"/>
                <a:cs typeface="Baloo Da 2" pitchFamily="34" charset="-120"/>
              </a:rPr>
              <a:t>জেলায় ডেলিভারি</a:t>
            </a:r>
            <a:endParaRPr lang="en-US" sz="1800" dirty="0"/>
          </a:p>
        </p:txBody>
      </p:sp>
      <p:sp>
        <p:nvSpPr>
          <p:cNvPr id="12" name="Shape 10"/>
          <p:cNvSpPr/>
          <p:nvPr/>
        </p:nvSpPr>
        <p:spPr>
          <a:xfrm>
            <a:off x="7452360" y="3063240"/>
            <a:ext cx="4114800" cy="1371600"/>
          </a:xfrm>
          <a:prstGeom prst="roundRect">
            <a:avLst>
              <a:gd name="adj" fmla="val 8000"/>
            </a:avLst>
          </a:prstGeom>
          <a:solidFill>
            <a:srgbClr val="1F3B73"/>
          </a:solidFill>
          <a:ln w="22225">
            <a:solidFill>
              <a:srgbClr val="F59E0B"/>
            </a:solidFill>
            <a:prstDash val="dash"/>
          </a:ln>
        </p:spPr>
      </p:sp>
      <p:sp>
        <p:nvSpPr>
          <p:cNvPr id="13" name="Text 11"/>
          <p:cNvSpPr txBox="1"/>
          <p:nvPr/>
        </p:nvSpPr>
        <p:spPr>
          <a:xfrm>
            <a:off x="7772400" y="3063240"/>
            <a:ext cx="1737360" cy="1371600"/>
          </a:xfrm>
          <a:prstGeom prst="rect">
            <a:avLst/>
          </a:prstGeom>
          <a:noFill/>
          <a:ln/>
        </p:spPr>
        <p:txBody>
          <a:bodyPr wrap="square" lIns="0" tIns="0" rIns="0" bIns="0" rtlCol="0" anchor="ctr"/>
          <a:lstStyle/>
          <a:p>
            <a:pPr indent="0" marL="0">
              <a:buNone/>
            </a:pPr>
            <a:r>
              <a:rPr lang="en-US" sz="4400" dirty="0">
                <a:solidFill>
                  <a:srgbClr val="F59E0B"/>
                </a:solidFill>
                <a:latin typeface="Tiro Bangla" pitchFamily="34" charset="0"/>
                <a:ea typeface="Tiro Bangla" pitchFamily="34" charset="-122"/>
                <a:cs typeface="Tiro Bangla" pitchFamily="34" charset="-120"/>
              </a:rPr>
              <a:t>১০০%</a:t>
            </a:r>
            <a:endParaRPr lang="en-US" sz="4400" dirty="0"/>
          </a:p>
        </p:txBody>
      </p:sp>
      <p:sp>
        <p:nvSpPr>
          <p:cNvPr id="14" name="Text 12"/>
          <p:cNvSpPr txBox="1"/>
          <p:nvPr/>
        </p:nvSpPr>
        <p:spPr>
          <a:xfrm>
            <a:off x="9464040" y="3063240"/>
            <a:ext cx="1965960" cy="1371600"/>
          </a:xfrm>
          <a:prstGeom prst="rect">
            <a:avLst/>
          </a:prstGeom>
          <a:noFill/>
          <a:ln/>
        </p:spPr>
        <p:txBody>
          <a:bodyPr wrap="square" lIns="0" tIns="0" rIns="0" bIns="0" rtlCol="0" anchor="ctr"/>
          <a:lstStyle/>
          <a:p>
            <a:pPr indent="0" marL="0">
              <a:buNone/>
            </a:pPr>
            <a:r>
              <a:rPr lang="en-US" sz="1800" dirty="0">
                <a:solidFill>
                  <a:srgbClr val="FFF7E6"/>
                </a:solidFill>
                <a:latin typeface="Baloo Da 2" pitchFamily="34" charset="0"/>
                <a:ea typeface="Baloo Da 2" pitchFamily="34" charset="-122"/>
                <a:cs typeface="Baloo Da 2" pitchFamily="34" charset="-120"/>
              </a:rPr>
              <a:t>বাংলায়</a:t>
            </a:r>
            <a:endParaRPr lang="en-US" sz="1800" dirty="0"/>
          </a:p>
        </p:txBody>
      </p:sp>
      <p:sp>
        <p:nvSpPr>
          <p:cNvPr id="15" name="Shape 13"/>
          <p:cNvSpPr/>
          <p:nvPr/>
        </p:nvSpPr>
        <p:spPr>
          <a:xfrm>
            <a:off x="7452360" y="4663440"/>
            <a:ext cx="4114800" cy="1371600"/>
          </a:xfrm>
          <a:prstGeom prst="roundRect">
            <a:avLst>
              <a:gd name="adj" fmla="val 8000"/>
            </a:avLst>
          </a:prstGeom>
          <a:solidFill>
            <a:srgbClr val="1F3B73"/>
          </a:solidFill>
          <a:ln w="22225">
            <a:solidFill>
              <a:srgbClr val="F59E0B"/>
            </a:solidFill>
            <a:prstDash val="dash"/>
          </a:ln>
        </p:spPr>
      </p:sp>
      <p:sp>
        <p:nvSpPr>
          <p:cNvPr id="16" name="Text 14"/>
          <p:cNvSpPr txBox="1"/>
          <p:nvPr/>
        </p:nvSpPr>
        <p:spPr>
          <a:xfrm>
            <a:off x="7772400" y="4663440"/>
            <a:ext cx="1737360" cy="1371600"/>
          </a:xfrm>
          <a:prstGeom prst="rect">
            <a:avLst/>
          </a:prstGeom>
          <a:noFill/>
          <a:ln/>
        </p:spPr>
        <p:txBody>
          <a:bodyPr wrap="square" lIns="0" tIns="0" rIns="0" bIns="0" rtlCol="0" anchor="ctr"/>
          <a:lstStyle/>
          <a:p>
            <a:pPr indent="0" marL="0">
              <a:buNone/>
            </a:pPr>
            <a:r>
              <a:rPr lang="en-US" sz="4400" dirty="0">
                <a:solidFill>
                  <a:srgbClr val="F59E0B"/>
                </a:solidFill>
                <a:latin typeface="Tiro Bangla" pitchFamily="34" charset="0"/>
                <a:ea typeface="Tiro Bangla" pitchFamily="34" charset="-122"/>
                <a:cs typeface="Tiro Bangla" pitchFamily="34" charset="-120"/>
              </a:rPr>
              <a:t>৳০</a:t>
            </a:r>
            <a:endParaRPr lang="en-US" sz="4400" dirty="0"/>
          </a:p>
        </p:txBody>
      </p:sp>
      <p:sp>
        <p:nvSpPr>
          <p:cNvPr id="17" name="Text 15"/>
          <p:cNvSpPr txBox="1"/>
          <p:nvPr/>
        </p:nvSpPr>
        <p:spPr>
          <a:xfrm>
            <a:off x="9464040" y="4663440"/>
            <a:ext cx="1965960" cy="1371600"/>
          </a:xfrm>
          <a:prstGeom prst="rect">
            <a:avLst/>
          </a:prstGeom>
          <a:noFill/>
          <a:ln/>
        </p:spPr>
        <p:txBody>
          <a:bodyPr wrap="square" lIns="0" tIns="0" rIns="0" bIns="0" rtlCol="0" anchor="ctr"/>
          <a:lstStyle/>
          <a:p>
            <a:pPr indent="0" marL="0">
              <a:buNone/>
            </a:pPr>
            <a:r>
              <a:rPr lang="en-US" sz="1800" dirty="0">
                <a:solidFill>
                  <a:srgbClr val="FFF7E6"/>
                </a:solidFill>
                <a:latin typeface="Baloo Da 2" pitchFamily="34" charset="0"/>
                <a:ea typeface="Baloo Da 2" pitchFamily="34" charset="-122"/>
                <a:cs typeface="Baloo Da 2" pitchFamily="34" charset="-120"/>
              </a:rPr>
              <a:t>আগে দিতে হয় না</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কাদের জন্য</a:t>
            </a:r>
            <a:endParaRPr lang="en-US" sz="3400" dirty="0"/>
          </a:p>
        </p:txBody>
      </p:sp>
      <p:sp>
        <p:nvSpPr>
          <p:cNvPr id="3" name="Shape 1"/>
          <p:cNvSpPr/>
          <p:nvPr/>
        </p:nvSpPr>
        <p:spPr>
          <a:xfrm>
            <a:off x="548640" y="1463040"/>
            <a:ext cx="5394960" cy="4663440"/>
          </a:xfrm>
          <a:prstGeom prst="roundRect">
            <a:avLst>
              <a:gd name="adj" fmla="val 2353"/>
            </a:avLst>
          </a:prstGeom>
          <a:solidFill>
            <a:srgbClr val="FFFBF2"/>
          </a:solidFill>
          <a:ln w="22225">
            <a:solidFill>
              <a:srgbClr val="B91C1C"/>
            </a:solidFill>
            <a:prstDash val="dash"/>
          </a:ln>
        </p:spPr>
      </p:sp>
      <p:sp>
        <p:nvSpPr>
          <p:cNvPr id="4" name="Shape 2"/>
          <p:cNvSpPr/>
          <p:nvPr/>
        </p:nvSpPr>
        <p:spPr>
          <a:xfrm>
            <a:off x="960120" y="1783080"/>
            <a:ext cx="822960" cy="822960"/>
          </a:xfrm>
          <a:prstGeom prst="ellipse">
            <a:avLst/>
          </a:prstGeom>
          <a:solidFill>
            <a:srgbClr val="B91C1C"/>
          </a:solidFill>
          <a:ln w="12700">
            <a:solidFill>
              <a:srgbClr val="B91C1C"/>
            </a:solidFill>
            <a:prstDash val="solid"/>
          </a:ln>
        </p:spPr>
      </p:sp>
      <p:pic>
        <p:nvPicPr>
          <p:cNvPr id="5" name="Image 0" descr="preencoded.png">    </p:cNvPr>
          <p:cNvPicPr>
            <a:picLocks noChangeAspect="1"/>
          </p:cNvPicPr>
          <p:nvPr/>
        </p:nvPicPr>
        <p:blipFill>
          <a:blip r:embed="rId1"/>
          <a:stretch>
            <a:fillRect/>
          </a:stretch>
        </p:blipFill>
        <p:spPr>
          <a:xfrm>
            <a:off x="1141171" y="1964131"/>
            <a:ext cx="460858" cy="460858"/>
          </a:xfrm>
          <a:prstGeom prst="rect">
            <a:avLst/>
          </a:prstGeom>
        </p:spPr>
      </p:pic>
      <p:sp>
        <p:nvSpPr>
          <p:cNvPr id="6" name="Text 3"/>
          <p:cNvSpPr txBox="1"/>
          <p:nvPr/>
        </p:nvSpPr>
        <p:spPr>
          <a:xfrm>
            <a:off x="1965960" y="1783080"/>
            <a:ext cx="3657600" cy="822960"/>
          </a:xfrm>
          <a:prstGeom prst="rect">
            <a:avLst/>
          </a:prstGeom>
          <a:noFill/>
          <a:ln/>
        </p:spPr>
        <p:txBody>
          <a:bodyPr wrap="square" lIns="0" tIns="0" rIns="0" bIns="0" rtlCol="0" anchor="ctr"/>
          <a:lstStyle/>
          <a:p>
            <a:pPr indent="0" marL="0">
              <a:buNone/>
            </a:pPr>
            <a:r>
              <a:rPr lang="en-US" sz="3200" dirty="0">
                <a:solidFill>
                  <a:srgbClr val="B91C1C"/>
                </a:solidFill>
                <a:latin typeface="Tiro Bangla" pitchFamily="34" charset="0"/>
                <a:ea typeface="Tiro Bangla" pitchFamily="34" charset="-122"/>
                <a:cs typeface="Tiro Bangla" pitchFamily="34" charset="-120"/>
              </a:rPr>
              <a:t>ক্রেতা</a:t>
            </a:r>
            <a:endParaRPr lang="en-US" sz="3200" dirty="0"/>
          </a:p>
        </p:txBody>
      </p:sp>
      <p:sp>
        <p:nvSpPr>
          <p:cNvPr id="7" name="Shape 4"/>
          <p:cNvSpPr/>
          <p:nvPr/>
        </p:nvSpPr>
        <p:spPr>
          <a:xfrm>
            <a:off x="1051560" y="2971800"/>
            <a:ext cx="640080" cy="640080"/>
          </a:xfrm>
          <a:prstGeom prst="ellipse">
            <a:avLst/>
          </a:prstGeom>
          <a:solidFill>
            <a:srgbClr val="FDEECB"/>
          </a:solidFill>
          <a:ln w="12700">
            <a:solidFill>
              <a:srgbClr val="FDEECB"/>
            </a:solidFill>
            <a:prstDash val="solid"/>
          </a:ln>
        </p:spPr>
      </p:sp>
      <p:pic>
        <p:nvPicPr>
          <p:cNvPr id="8" name="Image 1" descr="preencoded.png">    </p:cNvPr>
          <p:cNvPicPr>
            <a:picLocks noChangeAspect="1"/>
          </p:cNvPicPr>
          <p:nvPr/>
        </p:nvPicPr>
        <p:blipFill>
          <a:blip r:embed="rId2"/>
          <a:stretch>
            <a:fillRect/>
          </a:stretch>
        </p:blipFill>
        <p:spPr>
          <a:xfrm>
            <a:off x="1192378" y="3112618"/>
            <a:ext cx="358445" cy="358445"/>
          </a:xfrm>
          <a:prstGeom prst="rect">
            <a:avLst/>
          </a:prstGeom>
        </p:spPr>
      </p:pic>
      <p:sp>
        <p:nvSpPr>
          <p:cNvPr id="9" name="Text 5"/>
          <p:cNvSpPr txBox="1"/>
          <p:nvPr/>
        </p:nvSpPr>
        <p:spPr>
          <a:xfrm>
            <a:off x="1965960" y="2971800"/>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শহরের ক্রেতা</a:t>
            </a:r>
            <a:endParaRPr lang="en-US" sz="2200" dirty="0"/>
          </a:p>
        </p:txBody>
      </p:sp>
      <p:sp>
        <p:nvSpPr>
          <p:cNvPr id="10" name="Shape 6"/>
          <p:cNvSpPr/>
          <p:nvPr/>
        </p:nvSpPr>
        <p:spPr>
          <a:xfrm>
            <a:off x="1051560" y="3959352"/>
            <a:ext cx="640080" cy="640080"/>
          </a:xfrm>
          <a:prstGeom prst="ellipse">
            <a:avLst/>
          </a:prstGeom>
          <a:solidFill>
            <a:srgbClr val="FDEECB"/>
          </a:solidFill>
          <a:ln w="12700">
            <a:solidFill>
              <a:srgbClr val="FDEECB"/>
            </a:solidFill>
            <a:prstDash val="solid"/>
          </a:ln>
        </p:spPr>
      </p:sp>
      <p:pic>
        <p:nvPicPr>
          <p:cNvPr id="11" name="Image 2" descr="preencoded.png">    </p:cNvPr>
          <p:cNvPicPr>
            <a:picLocks noChangeAspect="1"/>
          </p:cNvPicPr>
          <p:nvPr/>
        </p:nvPicPr>
        <p:blipFill>
          <a:blip r:embed="rId3"/>
          <a:stretch>
            <a:fillRect/>
          </a:stretch>
        </p:blipFill>
        <p:spPr>
          <a:xfrm>
            <a:off x="1192378" y="4100170"/>
            <a:ext cx="358445" cy="358445"/>
          </a:xfrm>
          <a:prstGeom prst="rect">
            <a:avLst/>
          </a:prstGeom>
        </p:spPr>
      </p:pic>
      <p:sp>
        <p:nvSpPr>
          <p:cNvPr id="12" name="Text 7"/>
          <p:cNvSpPr txBox="1"/>
          <p:nvPr/>
        </p:nvSpPr>
        <p:spPr>
          <a:xfrm>
            <a:off x="1965960" y="3959352"/>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উপহার খোঁজেন যাঁরা</a:t>
            </a:r>
            <a:endParaRPr lang="en-US" sz="2200" dirty="0"/>
          </a:p>
        </p:txBody>
      </p:sp>
      <p:sp>
        <p:nvSpPr>
          <p:cNvPr id="13" name="Shape 8"/>
          <p:cNvSpPr/>
          <p:nvPr/>
        </p:nvSpPr>
        <p:spPr>
          <a:xfrm>
            <a:off x="1051560" y="4946904"/>
            <a:ext cx="640080" cy="640080"/>
          </a:xfrm>
          <a:prstGeom prst="ellipse">
            <a:avLst/>
          </a:prstGeom>
          <a:solidFill>
            <a:srgbClr val="FDEECB"/>
          </a:solidFill>
          <a:ln w="12700">
            <a:solidFill>
              <a:srgbClr val="FDEECB"/>
            </a:solidFill>
            <a:prstDash val="solid"/>
          </a:ln>
        </p:spPr>
      </p:sp>
      <p:pic>
        <p:nvPicPr>
          <p:cNvPr id="14" name="Image 3" descr="preencoded.png">    </p:cNvPr>
          <p:cNvPicPr>
            <a:picLocks noChangeAspect="1"/>
          </p:cNvPicPr>
          <p:nvPr/>
        </p:nvPicPr>
        <p:blipFill>
          <a:blip r:embed="rId4"/>
          <a:stretch>
            <a:fillRect/>
          </a:stretch>
        </p:blipFill>
        <p:spPr>
          <a:xfrm>
            <a:off x="1192378" y="5087722"/>
            <a:ext cx="358445" cy="358445"/>
          </a:xfrm>
          <a:prstGeom prst="rect">
            <a:avLst/>
          </a:prstGeom>
        </p:spPr>
      </p:pic>
      <p:sp>
        <p:nvSpPr>
          <p:cNvPr id="15" name="Text 9"/>
          <p:cNvSpPr txBox="1"/>
          <p:nvPr/>
        </p:nvSpPr>
        <p:spPr>
          <a:xfrm>
            <a:off x="1965960" y="4946904"/>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প্রবাসী বাঙালি</a:t>
            </a:r>
            <a:endParaRPr lang="en-US" sz="2200" dirty="0"/>
          </a:p>
        </p:txBody>
      </p:sp>
      <p:sp>
        <p:nvSpPr>
          <p:cNvPr id="16" name="Shape 10"/>
          <p:cNvSpPr/>
          <p:nvPr/>
        </p:nvSpPr>
        <p:spPr>
          <a:xfrm>
            <a:off x="6190488" y="1463040"/>
            <a:ext cx="5394960" cy="4663440"/>
          </a:xfrm>
          <a:prstGeom prst="roundRect">
            <a:avLst>
              <a:gd name="adj" fmla="val 2353"/>
            </a:avLst>
          </a:prstGeom>
          <a:solidFill>
            <a:srgbClr val="FFFBF2"/>
          </a:solidFill>
          <a:ln w="22225">
            <a:solidFill>
              <a:srgbClr val="2F6B3A"/>
            </a:solidFill>
            <a:prstDash val="dash"/>
          </a:ln>
        </p:spPr>
      </p:sp>
      <p:sp>
        <p:nvSpPr>
          <p:cNvPr id="17" name="Shape 11"/>
          <p:cNvSpPr/>
          <p:nvPr/>
        </p:nvSpPr>
        <p:spPr>
          <a:xfrm>
            <a:off x="6601968" y="1783080"/>
            <a:ext cx="822960" cy="822960"/>
          </a:xfrm>
          <a:prstGeom prst="ellipse">
            <a:avLst/>
          </a:prstGeom>
          <a:solidFill>
            <a:srgbClr val="2F6B3A"/>
          </a:solidFill>
          <a:ln w="12700">
            <a:solidFill>
              <a:srgbClr val="2F6B3A"/>
            </a:solidFill>
            <a:prstDash val="solid"/>
          </a:ln>
        </p:spPr>
      </p:sp>
      <p:pic>
        <p:nvPicPr>
          <p:cNvPr id="18" name="Image 4" descr="preencoded.png">    </p:cNvPr>
          <p:cNvPicPr>
            <a:picLocks noChangeAspect="1"/>
          </p:cNvPicPr>
          <p:nvPr/>
        </p:nvPicPr>
        <p:blipFill>
          <a:blip r:embed="rId5"/>
          <a:stretch>
            <a:fillRect/>
          </a:stretch>
        </p:blipFill>
        <p:spPr>
          <a:xfrm>
            <a:off x="6783019" y="1964131"/>
            <a:ext cx="460858" cy="460858"/>
          </a:xfrm>
          <a:prstGeom prst="rect">
            <a:avLst/>
          </a:prstGeom>
        </p:spPr>
      </p:pic>
      <p:sp>
        <p:nvSpPr>
          <p:cNvPr id="19" name="Text 12"/>
          <p:cNvSpPr txBox="1"/>
          <p:nvPr/>
        </p:nvSpPr>
        <p:spPr>
          <a:xfrm>
            <a:off x="7607808" y="1783080"/>
            <a:ext cx="3657600" cy="822960"/>
          </a:xfrm>
          <a:prstGeom prst="rect">
            <a:avLst/>
          </a:prstGeom>
          <a:noFill/>
          <a:ln/>
        </p:spPr>
        <p:txBody>
          <a:bodyPr wrap="square" lIns="0" tIns="0" rIns="0" bIns="0" rtlCol="0" anchor="ctr"/>
          <a:lstStyle/>
          <a:p>
            <a:pPr indent="0" marL="0">
              <a:buNone/>
            </a:pPr>
            <a:r>
              <a:rPr lang="en-US" sz="3200" dirty="0">
                <a:solidFill>
                  <a:srgbClr val="2F6B3A"/>
                </a:solidFill>
                <a:latin typeface="Tiro Bangla" pitchFamily="34" charset="0"/>
                <a:ea typeface="Tiro Bangla" pitchFamily="34" charset="-122"/>
                <a:cs typeface="Tiro Bangla" pitchFamily="34" charset="-120"/>
              </a:rPr>
              <a:t>বিক্রেতা</a:t>
            </a:r>
            <a:endParaRPr lang="en-US" sz="3200" dirty="0"/>
          </a:p>
        </p:txBody>
      </p:sp>
      <p:sp>
        <p:nvSpPr>
          <p:cNvPr id="20" name="Shape 13"/>
          <p:cNvSpPr/>
          <p:nvPr/>
        </p:nvSpPr>
        <p:spPr>
          <a:xfrm>
            <a:off x="6693408" y="2971800"/>
            <a:ext cx="640080" cy="640080"/>
          </a:xfrm>
          <a:prstGeom prst="ellipse">
            <a:avLst/>
          </a:prstGeom>
          <a:solidFill>
            <a:srgbClr val="FDEECB"/>
          </a:solidFill>
          <a:ln w="12700">
            <a:solidFill>
              <a:srgbClr val="FDEECB"/>
            </a:solidFill>
            <a:prstDash val="solid"/>
          </a:ln>
        </p:spPr>
      </p:sp>
      <p:pic>
        <p:nvPicPr>
          <p:cNvPr id="21" name="Image 5" descr="preencoded.png">    </p:cNvPr>
          <p:cNvPicPr>
            <a:picLocks noChangeAspect="1"/>
          </p:cNvPicPr>
          <p:nvPr/>
        </p:nvPicPr>
        <p:blipFill>
          <a:blip r:embed="rId6"/>
          <a:stretch>
            <a:fillRect/>
          </a:stretch>
        </p:blipFill>
        <p:spPr>
          <a:xfrm>
            <a:off x="6834226" y="3112618"/>
            <a:ext cx="358445" cy="358445"/>
          </a:xfrm>
          <a:prstGeom prst="rect">
            <a:avLst/>
          </a:prstGeom>
        </p:spPr>
      </p:pic>
      <p:sp>
        <p:nvSpPr>
          <p:cNvPr id="22" name="Text 14"/>
          <p:cNvSpPr txBox="1"/>
          <p:nvPr/>
        </p:nvSpPr>
        <p:spPr>
          <a:xfrm>
            <a:off x="7607808" y="2971800"/>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গ্রামের কারিগর</a:t>
            </a:r>
            <a:endParaRPr lang="en-US" sz="2200" dirty="0"/>
          </a:p>
        </p:txBody>
      </p:sp>
      <p:sp>
        <p:nvSpPr>
          <p:cNvPr id="23" name="Shape 15"/>
          <p:cNvSpPr/>
          <p:nvPr/>
        </p:nvSpPr>
        <p:spPr>
          <a:xfrm>
            <a:off x="6693408" y="3959352"/>
            <a:ext cx="640080" cy="640080"/>
          </a:xfrm>
          <a:prstGeom prst="ellipse">
            <a:avLst/>
          </a:prstGeom>
          <a:solidFill>
            <a:srgbClr val="FDEECB"/>
          </a:solidFill>
          <a:ln w="12700">
            <a:solidFill>
              <a:srgbClr val="FDEECB"/>
            </a:solidFill>
            <a:prstDash val="solid"/>
          </a:ln>
        </p:spPr>
      </p:sp>
      <p:pic>
        <p:nvPicPr>
          <p:cNvPr id="24" name="Image 6" descr="preencoded.png">    </p:cNvPr>
          <p:cNvPicPr>
            <a:picLocks noChangeAspect="1"/>
          </p:cNvPicPr>
          <p:nvPr/>
        </p:nvPicPr>
        <p:blipFill>
          <a:blip r:embed="rId7"/>
          <a:stretch>
            <a:fillRect/>
          </a:stretch>
        </p:blipFill>
        <p:spPr>
          <a:xfrm>
            <a:off x="6834226" y="4100170"/>
            <a:ext cx="358445" cy="358445"/>
          </a:xfrm>
          <a:prstGeom prst="rect">
            <a:avLst/>
          </a:prstGeom>
        </p:spPr>
      </p:pic>
      <p:sp>
        <p:nvSpPr>
          <p:cNvPr id="25" name="Text 16"/>
          <p:cNvSpPr txBox="1"/>
          <p:nvPr/>
        </p:nvSpPr>
        <p:spPr>
          <a:xfrm>
            <a:off x="7607808" y="3959352"/>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নারী উদ্যোক্তা</a:t>
            </a:r>
            <a:endParaRPr lang="en-US" sz="2200" dirty="0"/>
          </a:p>
        </p:txBody>
      </p:sp>
      <p:sp>
        <p:nvSpPr>
          <p:cNvPr id="26" name="Shape 17"/>
          <p:cNvSpPr/>
          <p:nvPr/>
        </p:nvSpPr>
        <p:spPr>
          <a:xfrm>
            <a:off x="6693408" y="4946904"/>
            <a:ext cx="640080" cy="640080"/>
          </a:xfrm>
          <a:prstGeom prst="ellipse">
            <a:avLst/>
          </a:prstGeom>
          <a:solidFill>
            <a:srgbClr val="FDEECB"/>
          </a:solidFill>
          <a:ln w="12700">
            <a:solidFill>
              <a:srgbClr val="FDEECB"/>
            </a:solidFill>
            <a:prstDash val="solid"/>
          </a:ln>
        </p:spPr>
      </p:sp>
      <p:pic>
        <p:nvPicPr>
          <p:cNvPr id="27" name="Image 7" descr="preencoded.png">    </p:cNvPr>
          <p:cNvPicPr>
            <a:picLocks noChangeAspect="1"/>
          </p:cNvPicPr>
          <p:nvPr/>
        </p:nvPicPr>
        <p:blipFill>
          <a:blip r:embed="rId8"/>
          <a:stretch>
            <a:fillRect/>
          </a:stretch>
        </p:blipFill>
        <p:spPr>
          <a:xfrm>
            <a:off x="6834226" y="5087722"/>
            <a:ext cx="358445" cy="358445"/>
          </a:xfrm>
          <a:prstGeom prst="rect">
            <a:avLst/>
          </a:prstGeom>
        </p:spPr>
      </p:pic>
      <p:sp>
        <p:nvSpPr>
          <p:cNvPr id="28" name="Text 18"/>
          <p:cNvSpPr txBox="1"/>
          <p:nvPr/>
        </p:nvSpPr>
        <p:spPr>
          <a:xfrm>
            <a:off x="7607808" y="4946904"/>
            <a:ext cx="3749040" cy="640080"/>
          </a:xfrm>
          <a:prstGeom prst="rect">
            <a:avLst/>
          </a:prstGeom>
          <a:noFill/>
          <a:ln/>
        </p:spPr>
        <p:txBody>
          <a:bodyPr wrap="square" lIns="0" tIns="0" rIns="0" bIns="0" rtlCol="0" anchor="ctr"/>
          <a:lstStyle/>
          <a:p>
            <a:pPr indent="0" marL="0">
              <a:buNone/>
            </a:pPr>
            <a:r>
              <a:rPr lang="en-US" sz="2200" dirty="0">
                <a:solidFill>
                  <a:srgbClr val="2A1A14"/>
                </a:solidFill>
                <a:latin typeface="Baloo Da 2" pitchFamily="34" charset="0"/>
                <a:ea typeface="Baloo Da 2" pitchFamily="34" charset="-122"/>
                <a:cs typeface="Baloo Da 2" pitchFamily="34" charset="-120"/>
              </a:rPr>
              <a:t>ছোট ব্যবসায়ী</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ক্রেতা যা পান</a:t>
            </a:r>
            <a:endParaRPr lang="en-US" sz="3400" dirty="0"/>
          </a:p>
        </p:txBody>
      </p:sp>
      <p:sp>
        <p:nvSpPr>
          <p:cNvPr id="3" name="Shape 1"/>
          <p:cNvSpPr/>
          <p:nvPr/>
        </p:nvSpPr>
        <p:spPr>
          <a:xfrm>
            <a:off x="548640" y="1463040"/>
            <a:ext cx="3703320" cy="1417320"/>
          </a:xfrm>
          <a:prstGeom prst="roundRect">
            <a:avLst>
              <a:gd name="adj" fmla="val 7742"/>
            </a:avLst>
          </a:prstGeom>
          <a:solidFill>
            <a:srgbClr val="FFFBF2"/>
          </a:solidFill>
          <a:ln w="22225">
            <a:solidFill>
              <a:srgbClr val="B91C1C"/>
            </a:solidFill>
            <a:prstDash val="dash"/>
          </a:ln>
        </p:spPr>
      </p:sp>
      <p:sp>
        <p:nvSpPr>
          <p:cNvPr id="4" name="Shape 2"/>
          <p:cNvSpPr/>
          <p:nvPr/>
        </p:nvSpPr>
        <p:spPr>
          <a:xfrm>
            <a:off x="822960" y="1783080"/>
            <a:ext cx="777240" cy="777240"/>
          </a:xfrm>
          <a:prstGeom prst="ellipse">
            <a:avLst/>
          </a:prstGeom>
          <a:solidFill>
            <a:srgbClr val="FDE68A"/>
          </a:solidFill>
          <a:ln w="12700">
            <a:solidFill>
              <a:srgbClr val="FDE68A"/>
            </a:solidFill>
            <a:prstDash val="solid"/>
          </a:ln>
        </p:spPr>
      </p:sp>
      <p:pic>
        <p:nvPicPr>
          <p:cNvPr id="5" name="Image 0" descr="preencoded.png">    </p:cNvPr>
          <p:cNvPicPr>
            <a:picLocks noChangeAspect="1"/>
          </p:cNvPicPr>
          <p:nvPr/>
        </p:nvPicPr>
        <p:blipFill>
          <a:blip r:embed="rId1"/>
          <a:stretch>
            <a:fillRect/>
          </a:stretch>
        </p:blipFill>
        <p:spPr>
          <a:xfrm>
            <a:off x="993953" y="1954073"/>
            <a:ext cx="435254" cy="435254"/>
          </a:xfrm>
          <a:prstGeom prst="rect">
            <a:avLst/>
          </a:prstGeom>
        </p:spPr>
      </p:pic>
      <p:sp>
        <p:nvSpPr>
          <p:cNvPr id="6" name="Text 3"/>
          <p:cNvSpPr txBox="1"/>
          <p:nvPr/>
        </p:nvSpPr>
        <p:spPr>
          <a:xfrm>
            <a:off x="1783080" y="1463040"/>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জেলা আর ধরনে খোঁজা</a:t>
            </a:r>
            <a:endParaRPr lang="en-US" sz="2000" dirty="0"/>
          </a:p>
        </p:txBody>
      </p:sp>
      <p:sp>
        <p:nvSpPr>
          <p:cNvPr id="7" name="Shape 4"/>
          <p:cNvSpPr/>
          <p:nvPr/>
        </p:nvSpPr>
        <p:spPr>
          <a:xfrm>
            <a:off x="4480560" y="1463040"/>
            <a:ext cx="3703320" cy="1417320"/>
          </a:xfrm>
          <a:prstGeom prst="roundRect">
            <a:avLst>
              <a:gd name="adj" fmla="val 7742"/>
            </a:avLst>
          </a:prstGeom>
          <a:solidFill>
            <a:srgbClr val="FFFBF2"/>
          </a:solidFill>
          <a:ln w="22225">
            <a:solidFill>
              <a:srgbClr val="B91C1C"/>
            </a:solidFill>
            <a:prstDash val="dash"/>
          </a:ln>
        </p:spPr>
      </p:sp>
      <p:sp>
        <p:nvSpPr>
          <p:cNvPr id="8" name="Shape 5"/>
          <p:cNvSpPr/>
          <p:nvPr/>
        </p:nvSpPr>
        <p:spPr>
          <a:xfrm>
            <a:off x="4754880" y="1783080"/>
            <a:ext cx="777240" cy="777240"/>
          </a:xfrm>
          <a:prstGeom prst="ellipse">
            <a:avLst/>
          </a:prstGeom>
          <a:solidFill>
            <a:srgbClr val="FDE68A"/>
          </a:solidFill>
          <a:ln w="12700">
            <a:solidFill>
              <a:srgbClr val="FDE68A"/>
            </a:solidFill>
            <a:prstDash val="solid"/>
          </a:ln>
        </p:spPr>
      </p:sp>
      <p:pic>
        <p:nvPicPr>
          <p:cNvPr id="9" name="Image 1" descr="preencoded.png">    </p:cNvPr>
          <p:cNvPicPr>
            <a:picLocks noChangeAspect="1"/>
          </p:cNvPicPr>
          <p:nvPr/>
        </p:nvPicPr>
        <p:blipFill>
          <a:blip r:embed="rId2"/>
          <a:stretch>
            <a:fillRect/>
          </a:stretch>
        </p:blipFill>
        <p:spPr>
          <a:xfrm>
            <a:off x="4925873" y="1954073"/>
            <a:ext cx="435254" cy="435254"/>
          </a:xfrm>
          <a:prstGeom prst="rect">
            <a:avLst/>
          </a:prstGeom>
        </p:spPr>
      </p:pic>
      <p:sp>
        <p:nvSpPr>
          <p:cNvPr id="10" name="Text 6"/>
          <p:cNvSpPr txBox="1"/>
          <p:nvPr/>
        </p:nvSpPr>
        <p:spPr>
          <a:xfrm>
            <a:off x="5715000" y="1463040"/>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পণ্যের গল্প</a:t>
            </a:r>
            <a:endParaRPr lang="en-US" sz="2000" dirty="0"/>
          </a:p>
        </p:txBody>
      </p:sp>
      <p:sp>
        <p:nvSpPr>
          <p:cNvPr id="11" name="Shape 7"/>
          <p:cNvSpPr/>
          <p:nvPr/>
        </p:nvSpPr>
        <p:spPr>
          <a:xfrm>
            <a:off x="548640" y="3090672"/>
            <a:ext cx="3703320" cy="1417320"/>
          </a:xfrm>
          <a:prstGeom prst="roundRect">
            <a:avLst>
              <a:gd name="adj" fmla="val 7742"/>
            </a:avLst>
          </a:prstGeom>
          <a:solidFill>
            <a:srgbClr val="FFFBF2"/>
          </a:solidFill>
          <a:ln w="22225">
            <a:solidFill>
              <a:srgbClr val="B91C1C"/>
            </a:solidFill>
            <a:prstDash val="dash"/>
          </a:ln>
        </p:spPr>
      </p:sp>
      <p:sp>
        <p:nvSpPr>
          <p:cNvPr id="12" name="Shape 8"/>
          <p:cNvSpPr/>
          <p:nvPr/>
        </p:nvSpPr>
        <p:spPr>
          <a:xfrm>
            <a:off x="822960" y="3410712"/>
            <a:ext cx="777240" cy="777240"/>
          </a:xfrm>
          <a:prstGeom prst="ellipse">
            <a:avLst/>
          </a:prstGeom>
          <a:solidFill>
            <a:srgbClr val="FDE68A"/>
          </a:solidFill>
          <a:ln w="12700">
            <a:solidFill>
              <a:srgbClr val="FDE68A"/>
            </a:solidFill>
            <a:prstDash val="solid"/>
          </a:ln>
        </p:spPr>
      </p:sp>
      <p:pic>
        <p:nvPicPr>
          <p:cNvPr id="13" name="Image 2" descr="preencoded.png">    </p:cNvPr>
          <p:cNvPicPr>
            <a:picLocks noChangeAspect="1"/>
          </p:cNvPicPr>
          <p:nvPr/>
        </p:nvPicPr>
        <p:blipFill>
          <a:blip r:embed="rId3"/>
          <a:stretch>
            <a:fillRect/>
          </a:stretch>
        </p:blipFill>
        <p:spPr>
          <a:xfrm>
            <a:off x="993953" y="3581705"/>
            <a:ext cx="435254" cy="435254"/>
          </a:xfrm>
          <a:prstGeom prst="rect">
            <a:avLst/>
          </a:prstGeom>
        </p:spPr>
      </p:pic>
      <p:sp>
        <p:nvSpPr>
          <p:cNvPr id="14" name="Text 9"/>
          <p:cNvSpPr txBox="1"/>
          <p:nvPr/>
        </p:nvSpPr>
        <p:spPr>
          <a:xfrm>
            <a:off x="1783080" y="3090672"/>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পছন্দের তালিকা</a:t>
            </a:r>
            <a:endParaRPr lang="en-US" sz="2000" dirty="0"/>
          </a:p>
        </p:txBody>
      </p:sp>
      <p:sp>
        <p:nvSpPr>
          <p:cNvPr id="15" name="Shape 10"/>
          <p:cNvSpPr/>
          <p:nvPr/>
        </p:nvSpPr>
        <p:spPr>
          <a:xfrm>
            <a:off x="4480560" y="3090672"/>
            <a:ext cx="3703320" cy="1417320"/>
          </a:xfrm>
          <a:prstGeom prst="roundRect">
            <a:avLst>
              <a:gd name="adj" fmla="val 7742"/>
            </a:avLst>
          </a:prstGeom>
          <a:solidFill>
            <a:srgbClr val="FFFBF2"/>
          </a:solidFill>
          <a:ln w="22225">
            <a:solidFill>
              <a:srgbClr val="B91C1C"/>
            </a:solidFill>
            <a:prstDash val="dash"/>
          </a:ln>
        </p:spPr>
      </p:sp>
      <p:sp>
        <p:nvSpPr>
          <p:cNvPr id="16" name="Shape 11"/>
          <p:cNvSpPr/>
          <p:nvPr/>
        </p:nvSpPr>
        <p:spPr>
          <a:xfrm>
            <a:off x="4754880" y="3410712"/>
            <a:ext cx="777240" cy="777240"/>
          </a:xfrm>
          <a:prstGeom prst="ellipse">
            <a:avLst/>
          </a:prstGeom>
          <a:solidFill>
            <a:srgbClr val="FDE68A"/>
          </a:solidFill>
          <a:ln w="12700">
            <a:solidFill>
              <a:srgbClr val="FDE68A"/>
            </a:solidFill>
            <a:prstDash val="solid"/>
          </a:ln>
        </p:spPr>
      </p:sp>
      <p:pic>
        <p:nvPicPr>
          <p:cNvPr id="17" name="Image 3" descr="preencoded.png">    </p:cNvPr>
          <p:cNvPicPr>
            <a:picLocks noChangeAspect="1"/>
          </p:cNvPicPr>
          <p:nvPr/>
        </p:nvPicPr>
        <p:blipFill>
          <a:blip r:embed="rId4"/>
          <a:stretch>
            <a:fillRect/>
          </a:stretch>
        </p:blipFill>
        <p:spPr>
          <a:xfrm>
            <a:off x="4925873" y="3581705"/>
            <a:ext cx="435254" cy="435254"/>
          </a:xfrm>
          <a:prstGeom prst="rect">
            <a:avLst/>
          </a:prstGeom>
        </p:spPr>
      </p:pic>
      <p:sp>
        <p:nvSpPr>
          <p:cNvPr id="18" name="Text 12"/>
          <p:cNvSpPr txBox="1"/>
          <p:nvPr/>
        </p:nvSpPr>
        <p:spPr>
          <a:xfrm>
            <a:off x="5715000" y="3090672"/>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এক পাতায় অর্ডার</a:t>
            </a:r>
            <a:endParaRPr lang="en-US" sz="2000" dirty="0"/>
          </a:p>
        </p:txBody>
      </p:sp>
      <p:sp>
        <p:nvSpPr>
          <p:cNvPr id="19" name="Shape 13"/>
          <p:cNvSpPr/>
          <p:nvPr/>
        </p:nvSpPr>
        <p:spPr>
          <a:xfrm>
            <a:off x="548640" y="4718304"/>
            <a:ext cx="3703320" cy="1417320"/>
          </a:xfrm>
          <a:prstGeom prst="roundRect">
            <a:avLst>
              <a:gd name="adj" fmla="val 7742"/>
            </a:avLst>
          </a:prstGeom>
          <a:solidFill>
            <a:srgbClr val="FFFBF2"/>
          </a:solidFill>
          <a:ln w="22225">
            <a:solidFill>
              <a:srgbClr val="B91C1C"/>
            </a:solidFill>
            <a:prstDash val="dash"/>
          </a:ln>
        </p:spPr>
      </p:sp>
      <p:sp>
        <p:nvSpPr>
          <p:cNvPr id="20" name="Shape 14"/>
          <p:cNvSpPr/>
          <p:nvPr/>
        </p:nvSpPr>
        <p:spPr>
          <a:xfrm>
            <a:off x="822960" y="5038344"/>
            <a:ext cx="777240" cy="777240"/>
          </a:xfrm>
          <a:prstGeom prst="ellipse">
            <a:avLst/>
          </a:prstGeom>
          <a:solidFill>
            <a:srgbClr val="FDE68A"/>
          </a:solidFill>
          <a:ln w="12700">
            <a:solidFill>
              <a:srgbClr val="FDE68A"/>
            </a:solidFill>
            <a:prstDash val="solid"/>
          </a:ln>
        </p:spPr>
      </p:sp>
      <p:pic>
        <p:nvPicPr>
          <p:cNvPr id="21" name="Image 4" descr="preencoded.png">    </p:cNvPr>
          <p:cNvPicPr>
            <a:picLocks noChangeAspect="1"/>
          </p:cNvPicPr>
          <p:nvPr/>
        </p:nvPicPr>
        <p:blipFill>
          <a:blip r:embed="rId5"/>
          <a:stretch>
            <a:fillRect/>
          </a:stretch>
        </p:blipFill>
        <p:spPr>
          <a:xfrm>
            <a:off x="993953" y="5209337"/>
            <a:ext cx="435254" cy="435254"/>
          </a:xfrm>
          <a:prstGeom prst="rect">
            <a:avLst/>
          </a:prstGeom>
        </p:spPr>
      </p:pic>
      <p:sp>
        <p:nvSpPr>
          <p:cNvPr id="22" name="Text 15"/>
          <p:cNvSpPr txBox="1"/>
          <p:nvPr/>
        </p:nvSpPr>
        <p:spPr>
          <a:xfrm>
            <a:off x="1783080" y="4718304"/>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WhatsApp-এ অর্ডার</a:t>
            </a:r>
            <a:endParaRPr lang="en-US" sz="2000" dirty="0"/>
          </a:p>
        </p:txBody>
      </p:sp>
      <p:sp>
        <p:nvSpPr>
          <p:cNvPr id="23" name="Shape 16"/>
          <p:cNvSpPr/>
          <p:nvPr/>
        </p:nvSpPr>
        <p:spPr>
          <a:xfrm>
            <a:off x="4480560" y="4718304"/>
            <a:ext cx="3703320" cy="1417320"/>
          </a:xfrm>
          <a:prstGeom prst="roundRect">
            <a:avLst>
              <a:gd name="adj" fmla="val 7742"/>
            </a:avLst>
          </a:prstGeom>
          <a:solidFill>
            <a:srgbClr val="FFFBF2"/>
          </a:solidFill>
          <a:ln w="22225">
            <a:solidFill>
              <a:srgbClr val="B91C1C"/>
            </a:solidFill>
            <a:prstDash val="dash"/>
          </a:ln>
        </p:spPr>
      </p:sp>
      <p:sp>
        <p:nvSpPr>
          <p:cNvPr id="24" name="Shape 17"/>
          <p:cNvSpPr/>
          <p:nvPr/>
        </p:nvSpPr>
        <p:spPr>
          <a:xfrm>
            <a:off x="4754880" y="5038344"/>
            <a:ext cx="777240" cy="777240"/>
          </a:xfrm>
          <a:prstGeom prst="ellipse">
            <a:avLst/>
          </a:prstGeom>
          <a:solidFill>
            <a:srgbClr val="FDE68A"/>
          </a:solidFill>
          <a:ln w="12700">
            <a:solidFill>
              <a:srgbClr val="FDE68A"/>
            </a:solidFill>
            <a:prstDash val="solid"/>
          </a:ln>
        </p:spPr>
      </p:sp>
      <p:pic>
        <p:nvPicPr>
          <p:cNvPr id="25" name="Image 5" descr="preencoded.png">    </p:cNvPr>
          <p:cNvPicPr>
            <a:picLocks noChangeAspect="1"/>
          </p:cNvPicPr>
          <p:nvPr/>
        </p:nvPicPr>
        <p:blipFill>
          <a:blip r:embed="rId6"/>
          <a:stretch>
            <a:fillRect/>
          </a:stretch>
        </p:blipFill>
        <p:spPr>
          <a:xfrm>
            <a:off x="4925873" y="5209337"/>
            <a:ext cx="435254" cy="435254"/>
          </a:xfrm>
          <a:prstGeom prst="rect">
            <a:avLst/>
          </a:prstGeom>
        </p:spPr>
      </p:pic>
      <p:sp>
        <p:nvSpPr>
          <p:cNvPr id="26" name="Text 18"/>
          <p:cNvSpPr txBox="1"/>
          <p:nvPr/>
        </p:nvSpPr>
        <p:spPr>
          <a:xfrm>
            <a:off x="5715000" y="4718304"/>
            <a:ext cx="2377440" cy="1417320"/>
          </a:xfrm>
          <a:prstGeom prst="rect">
            <a:avLst/>
          </a:prstGeom>
          <a:noFill/>
          <a:ln/>
        </p:spPr>
        <p:txBody>
          <a:bodyPr wrap="square" lIns="0" tIns="0" rIns="0" bIns="0" rtlCol="0" anchor="ctr"/>
          <a:lstStyle/>
          <a:p>
            <a:pPr indent="0" marL="0">
              <a:buNone/>
            </a:pPr>
            <a:r>
              <a:rPr lang="en-US" sz="2000" dirty="0">
                <a:solidFill>
                  <a:srgbClr val="7F1D1D"/>
                </a:solidFill>
                <a:latin typeface="Baloo Da 2" pitchFamily="34" charset="0"/>
                <a:ea typeface="Baloo Da 2" pitchFamily="34" charset="-122"/>
                <a:cs typeface="Baloo Da 2" pitchFamily="34" charset="-120"/>
              </a:rPr>
              <a:t>লগইন ও প্রোফাইল</a:t>
            </a:r>
            <a:endParaRPr lang="en-US" sz="2000" dirty="0"/>
          </a:p>
        </p:txBody>
      </p:sp>
      <p:sp>
        <p:nvSpPr>
          <p:cNvPr id="27" name="Shape 19"/>
          <p:cNvSpPr/>
          <p:nvPr/>
        </p:nvSpPr>
        <p:spPr>
          <a:xfrm>
            <a:off x="8970264" y="1335024"/>
            <a:ext cx="2410939" cy="4919472"/>
          </a:xfrm>
          <a:prstGeom prst="roundRect">
            <a:avLst>
              <a:gd name="adj" fmla="val 3793"/>
            </a:avLst>
          </a:prstGeom>
          <a:solidFill>
            <a:srgbClr val="FFFBF2"/>
          </a:solidFill>
          <a:ln w="22225">
            <a:solidFill>
              <a:srgbClr val="B91C1C"/>
            </a:solidFill>
            <a:prstDash val="dash"/>
          </a:ln>
        </p:spPr>
      </p:sp>
      <p:pic>
        <p:nvPicPr>
          <p:cNvPr id="28" name="Image 6" descr="/home/naseem/projects/bangaliyana-bazar/presentation/shots/shop-phone.png">    </p:cNvPr>
          <p:cNvPicPr>
            <a:picLocks noChangeAspect="1"/>
          </p:cNvPicPr>
          <p:nvPr/>
        </p:nvPicPr>
        <p:blipFill>
          <a:blip r:embed="rId7"/>
          <a:stretch>
            <a:fillRect/>
          </a:stretch>
        </p:blipFill>
        <p:spPr>
          <a:xfrm>
            <a:off x="9098280" y="1463040"/>
            <a:ext cx="2154907" cy="46634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বিক্রেতা যা পান</a:t>
            </a:r>
            <a:endParaRPr lang="en-US" sz="3400" dirty="0"/>
          </a:p>
        </p:txBody>
      </p:sp>
      <p:sp>
        <p:nvSpPr>
          <p:cNvPr id="3" name="Shape 1"/>
          <p:cNvSpPr/>
          <p:nvPr/>
        </p:nvSpPr>
        <p:spPr>
          <a:xfrm>
            <a:off x="1463040" y="2121408"/>
            <a:ext cx="9235440" cy="0"/>
          </a:xfrm>
          <a:prstGeom prst="line">
            <a:avLst/>
          </a:prstGeom>
          <a:noFill/>
          <a:ln w="25400">
            <a:solidFill>
              <a:srgbClr val="B91C1C"/>
            </a:solidFill>
            <a:prstDash val="dash"/>
          </a:ln>
        </p:spPr>
      </p:sp>
      <p:sp>
        <p:nvSpPr>
          <p:cNvPr id="4" name="Shape 2"/>
          <p:cNvSpPr/>
          <p:nvPr/>
        </p:nvSpPr>
        <p:spPr>
          <a:xfrm>
            <a:off x="914400" y="1572768"/>
            <a:ext cx="1097280" cy="1097280"/>
          </a:xfrm>
          <a:prstGeom prst="ellipse">
            <a:avLst/>
          </a:prstGeom>
          <a:solidFill>
            <a:srgbClr val="B91C1C"/>
          </a:solidFill>
          <a:ln w="12700">
            <a:solidFill>
              <a:srgbClr val="B91C1C"/>
            </a:solidFill>
            <a:prstDash val="solid"/>
          </a:ln>
        </p:spPr>
      </p:sp>
      <p:pic>
        <p:nvPicPr>
          <p:cNvPr id="5" name="Image 0" descr="preencoded.png">    </p:cNvPr>
          <p:cNvPicPr>
            <a:picLocks noChangeAspect="1"/>
          </p:cNvPicPr>
          <p:nvPr/>
        </p:nvPicPr>
        <p:blipFill>
          <a:blip r:embed="rId1"/>
          <a:stretch>
            <a:fillRect/>
          </a:stretch>
        </p:blipFill>
        <p:spPr>
          <a:xfrm>
            <a:off x="1155802" y="1814170"/>
            <a:ext cx="614477" cy="614477"/>
          </a:xfrm>
          <a:prstGeom prst="rect">
            <a:avLst/>
          </a:prstGeom>
        </p:spPr>
      </p:pic>
      <p:sp>
        <p:nvSpPr>
          <p:cNvPr id="6" name="Text 3"/>
          <p:cNvSpPr txBox="1"/>
          <p:nvPr/>
        </p:nvSpPr>
        <p:spPr>
          <a:xfrm>
            <a:off x="274320" y="2788920"/>
            <a:ext cx="2377440" cy="457200"/>
          </a:xfrm>
          <a:prstGeom prst="rect">
            <a:avLst/>
          </a:prstGeom>
          <a:noFill/>
          <a:ln/>
        </p:spPr>
        <p:txBody>
          <a:bodyPr wrap="square" lIns="0" tIns="0" rIns="0" bIns="0" rtlCol="0" anchor="t"/>
          <a:lstStyle/>
          <a:p>
            <a:pPr algn="ctr" indent="0" marL="0">
              <a:buNone/>
            </a:pPr>
            <a:r>
              <a:rPr lang="en-US" sz="2000" dirty="0">
                <a:solidFill>
                  <a:srgbClr val="7F1D1D"/>
                </a:solidFill>
                <a:latin typeface="Baloo Da 2" pitchFamily="34" charset="0"/>
                <a:ea typeface="Baloo Da 2" pitchFamily="34" charset="-122"/>
                <a:cs typeface="Baloo Da 2" pitchFamily="34" charset="-120"/>
              </a:rPr>
              <a:t>১. নিবন্ধন</a:t>
            </a:r>
            <a:endParaRPr lang="en-US" sz="2000" dirty="0"/>
          </a:p>
        </p:txBody>
      </p:sp>
      <p:sp>
        <p:nvSpPr>
          <p:cNvPr id="7" name="Shape 4"/>
          <p:cNvSpPr/>
          <p:nvPr/>
        </p:nvSpPr>
        <p:spPr>
          <a:xfrm>
            <a:off x="3995928" y="1572768"/>
            <a:ext cx="1097280" cy="1097280"/>
          </a:xfrm>
          <a:prstGeom prst="ellipse">
            <a:avLst/>
          </a:prstGeom>
          <a:solidFill>
            <a:srgbClr val="B91C1C"/>
          </a:solidFill>
          <a:ln w="12700">
            <a:solidFill>
              <a:srgbClr val="B91C1C"/>
            </a:solidFill>
            <a:prstDash val="solid"/>
          </a:ln>
        </p:spPr>
      </p:sp>
      <p:pic>
        <p:nvPicPr>
          <p:cNvPr id="8" name="Image 1" descr="preencoded.png">    </p:cNvPr>
          <p:cNvPicPr>
            <a:picLocks noChangeAspect="1"/>
          </p:cNvPicPr>
          <p:nvPr/>
        </p:nvPicPr>
        <p:blipFill>
          <a:blip r:embed="rId2"/>
          <a:stretch>
            <a:fillRect/>
          </a:stretch>
        </p:blipFill>
        <p:spPr>
          <a:xfrm>
            <a:off x="4237330" y="1814170"/>
            <a:ext cx="614477" cy="614477"/>
          </a:xfrm>
          <a:prstGeom prst="rect">
            <a:avLst/>
          </a:prstGeom>
        </p:spPr>
      </p:pic>
      <p:sp>
        <p:nvSpPr>
          <p:cNvPr id="9" name="Text 5"/>
          <p:cNvSpPr txBox="1"/>
          <p:nvPr/>
        </p:nvSpPr>
        <p:spPr>
          <a:xfrm>
            <a:off x="3355848" y="2788920"/>
            <a:ext cx="2377440" cy="457200"/>
          </a:xfrm>
          <a:prstGeom prst="rect">
            <a:avLst/>
          </a:prstGeom>
          <a:noFill/>
          <a:ln/>
        </p:spPr>
        <p:txBody>
          <a:bodyPr wrap="square" lIns="0" tIns="0" rIns="0" bIns="0" rtlCol="0" anchor="t"/>
          <a:lstStyle/>
          <a:p>
            <a:pPr algn="ctr" indent="0" marL="0">
              <a:buNone/>
            </a:pPr>
            <a:r>
              <a:rPr lang="en-US" sz="2000" dirty="0">
                <a:solidFill>
                  <a:srgbClr val="7F1D1D"/>
                </a:solidFill>
                <a:latin typeface="Baloo Da 2" pitchFamily="34" charset="0"/>
                <a:ea typeface="Baloo Da 2" pitchFamily="34" charset="-122"/>
                <a:cs typeface="Baloo Da 2" pitchFamily="34" charset="-120"/>
              </a:rPr>
              <a:t>২. অনুমোদন</a:t>
            </a:r>
            <a:endParaRPr lang="en-US" sz="2000" dirty="0"/>
          </a:p>
        </p:txBody>
      </p:sp>
      <p:sp>
        <p:nvSpPr>
          <p:cNvPr id="10" name="Shape 6"/>
          <p:cNvSpPr/>
          <p:nvPr/>
        </p:nvSpPr>
        <p:spPr>
          <a:xfrm>
            <a:off x="7077456" y="1572768"/>
            <a:ext cx="1097280" cy="1097280"/>
          </a:xfrm>
          <a:prstGeom prst="ellipse">
            <a:avLst/>
          </a:prstGeom>
          <a:solidFill>
            <a:srgbClr val="B91C1C"/>
          </a:solidFill>
          <a:ln w="12700">
            <a:solidFill>
              <a:srgbClr val="B91C1C"/>
            </a:solidFill>
            <a:prstDash val="solid"/>
          </a:ln>
        </p:spPr>
      </p:sp>
      <p:pic>
        <p:nvPicPr>
          <p:cNvPr id="11" name="Image 2" descr="preencoded.png">    </p:cNvPr>
          <p:cNvPicPr>
            <a:picLocks noChangeAspect="1"/>
          </p:cNvPicPr>
          <p:nvPr/>
        </p:nvPicPr>
        <p:blipFill>
          <a:blip r:embed="rId3"/>
          <a:stretch>
            <a:fillRect/>
          </a:stretch>
        </p:blipFill>
        <p:spPr>
          <a:xfrm>
            <a:off x="7318858" y="1814170"/>
            <a:ext cx="614477" cy="614477"/>
          </a:xfrm>
          <a:prstGeom prst="rect">
            <a:avLst/>
          </a:prstGeom>
        </p:spPr>
      </p:pic>
      <p:sp>
        <p:nvSpPr>
          <p:cNvPr id="12" name="Text 7"/>
          <p:cNvSpPr txBox="1"/>
          <p:nvPr/>
        </p:nvSpPr>
        <p:spPr>
          <a:xfrm>
            <a:off x="6437376" y="2788920"/>
            <a:ext cx="2377440" cy="457200"/>
          </a:xfrm>
          <a:prstGeom prst="rect">
            <a:avLst/>
          </a:prstGeom>
          <a:noFill/>
          <a:ln/>
        </p:spPr>
        <p:txBody>
          <a:bodyPr wrap="square" lIns="0" tIns="0" rIns="0" bIns="0" rtlCol="0" anchor="t"/>
          <a:lstStyle/>
          <a:p>
            <a:pPr algn="ctr" indent="0" marL="0">
              <a:buNone/>
            </a:pPr>
            <a:r>
              <a:rPr lang="en-US" sz="2000" dirty="0">
                <a:solidFill>
                  <a:srgbClr val="7F1D1D"/>
                </a:solidFill>
                <a:latin typeface="Baloo Da 2" pitchFamily="34" charset="0"/>
                <a:ea typeface="Baloo Da 2" pitchFamily="34" charset="-122"/>
                <a:cs typeface="Baloo Da 2" pitchFamily="34" charset="-120"/>
              </a:rPr>
              <a:t>৩. পণ্য তোলা</a:t>
            </a:r>
            <a:endParaRPr lang="en-US" sz="2000" dirty="0"/>
          </a:p>
        </p:txBody>
      </p:sp>
      <p:sp>
        <p:nvSpPr>
          <p:cNvPr id="13" name="Shape 8"/>
          <p:cNvSpPr/>
          <p:nvPr/>
        </p:nvSpPr>
        <p:spPr>
          <a:xfrm>
            <a:off x="10158984" y="1572768"/>
            <a:ext cx="1097280" cy="1097280"/>
          </a:xfrm>
          <a:prstGeom prst="ellipse">
            <a:avLst/>
          </a:prstGeom>
          <a:solidFill>
            <a:srgbClr val="B91C1C"/>
          </a:solidFill>
          <a:ln w="12700">
            <a:solidFill>
              <a:srgbClr val="B91C1C"/>
            </a:solidFill>
            <a:prstDash val="solid"/>
          </a:ln>
        </p:spPr>
      </p:sp>
      <p:pic>
        <p:nvPicPr>
          <p:cNvPr id="14" name="Image 3" descr="preencoded.png">    </p:cNvPr>
          <p:cNvPicPr>
            <a:picLocks noChangeAspect="1"/>
          </p:cNvPicPr>
          <p:nvPr/>
        </p:nvPicPr>
        <p:blipFill>
          <a:blip r:embed="rId4"/>
          <a:stretch>
            <a:fillRect/>
          </a:stretch>
        </p:blipFill>
        <p:spPr>
          <a:xfrm>
            <a:off x="10400386" y="1814170"/>
            <a:ext cx="614477" cy="614477"/>
          </a:xfrm>
          <a:prstGeom prst="rect">
            <a:avLst/>
          </a:prstGeom>
        </p:spPr>
      </p:pic>
      <p:sp>
        <p:nvSpPr>
          <p:cNvPr id="15" name="Text 9"/>
          <p:cNvSpPr txBox="1"/>
          <p:nvPr/>
        </p:nvSpPr>
        <p:spPr>
          <a:xfrm>
            <a:off x="9518904" y="2788920"/>
            <a:ext cx="2377440" cy="457200"/>
          </a:xfrm>
          <a:prstGeom prst="rect">
            <a:avLst/>
          </a:prstGeom>
          <a:noFill/>
          <a:ln/>
        </p:spPr>
        <p:txBody>
          <a:bodyPr wrap="square" lIns="0" tIns="0" rIns="0" bIns="0" rtlCol="0" anchor="t"/>
          <a:lstStyle/>
          <a:p>
            <a:pPr algn="ctr" indent="0" marL="0">
              <a:buNone/>
            </a:pPr>
            <a:r>
              <a:rPr lang="en-US" sz="2000" dirty="0">
                <a:solidFill>
                  <a:srgbClr val="7F1D1D"/>
                </a:solidFill>
                <a:latin typeface="Baloo Da 2" pitchFamily="34" charset="0"/>
                <a:ea typeface="Baloo Da 2" pitchFamily="34" charset="-122"/>
                <a:cs typeface="Baloo Da 2" pitchFamily="34" charset="-120"/>
              </a:rPr>
              <a:t>৪. অর্ডার পাওয়া</a:t>
            </a:r>
            <a:endParaRPr lang="en-US" sz="2000" dirty="0"/>
          </a:p>
        </p:txBody>
      </p:sp>
      <p:sp>
        <p:nvSpPr>
          <p:cNvPr id="16" name="Shape 10"/>
          <p:cNvSpPr/>
          <p:nvPr/>
        </p:nvSpPr>
        <p:spPr>
          <a:xfrm>
            <a:off x="548640" y="3931920"/>
            <a:ext cx="3520440" cy="1737360"/>
          </a:xfrm>
          <a:prstGeom prst="roundRect">
            <a:avLst>
              <a:gd name="adj" fmla="val 6316"/>
            </a:avLst>
          </a:prstGeom>
          <a:solidFill>
            <a:srgbClr val="FFFBF2"/>
          </a:solidFill>
          <a:ln w="22225">
            <a:solidFill>
              <a:srgbClr val="2F6B3A"/>
            </a:solidFill>
            <a:prstDash val="dash"/>
          </a:ln>
        </p:spPr>
      </p:sp>
      <p:sp>
        <p:nvSpPr>
          <p:cNvPr id="17" name="Shape 11"/>
          <p:cNvSpPr/>
          <p:nvPr/>
        </p:nvSpPr>
        <p:spPr>
          <a:xfrm>
            <a:off x="868680" y="4343400"/>
            <a:ext cx="914400" cy="914400"/>
          </a:xfrm>
          <a:prstGeom prst="ellipse">
            <a:avLst/>
          </a:prstGeom>
          <a:solidFill>
            <a:srgbClr val="FDEECB"/>
          </a:solidFill>
          <a:ln w="12700">
            <a:solidFill>
              <a:srgbClr val="FDEECB"/>
            </a:solidFill>
            <a:prstDash val="solid"/>
          </a:ln>
        </p:spPr>
      </p:sp>
      <p:pic>
        <p:nvPicPr>
          <p:cNvPr id="18" name="Image 4" descr="preencoded.png">    </p:cNvPr>
          <p:cNvPicPr>
            <a:picLocks noChangeAspect="1"/>
          </p:cNvPicPr>
          <p:nvPr/>
        </p:nvPicPr>
        <p:blipFill>
          <a:blip r:embed="rId5"/>
          <a:stretch>
            <a:fillRect/>
          </a:stretch>
        </p:blipFill>
        <p:spPr>
          <a:xfrm>
            <a:off x="1069848" y="4544568"/>
            <a:ext cx="512064" cy="512064"/>
          </a:xfrm>
          <a:prstGeom prst="rect">
            <a:avLst/>
          </a:prstGeom>
        </p:spPr>
      </p:pic>
      <p:sp>
        <p:nvSpPr>
          <p:cNvPr id="19" name="Text 12"/>
          <p:cNvSpPr txBox="1"/>
          <p:nvPr/>
        </p:nvSpPr>
        <p:spPr>
          <a:xfrm>
            <a:off x="1965960" y="3931920"/>
            <a:ext cx="2011680" cy="173736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নিজের দোকান</a:t>
            </a:r>
            <a:endParaRPr lang="en-US" sz="2200" dirty="0"/>
          </a:p>
        </p:txBody>
      </p:sp>
      <p:sp>
        <p:nvSpPr>
          <p:cNvPr id="20" name="Shape 13"/>
          <p:cNvSpPr/>
          <p:nvPr/>
        </p:nvSpPr>
        <p:spPr>
          <a:xfrm>
            <a:off x="4306824" y="3931920"/>
            <a:ext cx="3520440" cy="1737360"/>
          </a:xfrm>
          <a:prstGeom prst="roundRect">
            <a:avLst>
              <a:gd name="adj" fmla="val 6316"/>
            </a:avLst>
          </a:prstGeom>
          <a:solidFill>
            <a:srgbClr val="FFFBF2"/>
          </a:solidFill>
          <a:ln w="22225">
            <a:solidFill>
              <a:srgbClr val="2F6B3A"/>
            </a:solidFill>
            <a:prstDash val="dash"/>
          </a:ln>
        </p:spPr>
      </p:sp>
      <p:sp>
        <p:nvSpPr>
          <p:cNvPr id="21" name="Shape 14"/>
          <p:cNvSpPr/>
          <p:nvPr/>
        </p:nvSpPr>
        <p:spPr>
          <a:xfrm>
            <a:off x="4626864" y="4343400"/>
            <a:ext cx="914400" cy="914400"/>
          </a:xfrm>
          <a:prstGeom prst="ellipse">
            <a:avLst/>
          </a:prstGeom>
          <a:solidFill>
            <a:srgbClr val="FDEECB"/>
          </a:solidFill>
          <a:ln w="12700">
            <a:solidFill>
              <a:srgbClr val="FDEECB"/>
            </a:solidFill>
            <a:prstDash val="solid"/>
          </a:ln>
        </p:spPr>
      </p:sp>
      <p:pic>
        <p:nvPicPr>
          <p:cNvPr id="22" name="Image 5" descr="preencoded.png">    </p:cNvPr>
          <p:cNvPicPr>
            <a:picLocks noChangeAspect="1"/>
          </p:cNvPicPr>
          <p:nvPr/>
        </p:nvPicPr>
        <p:blipFill>
          <a:blip r:embed="rId6"/>
          <a:stretch>
            <a:fillRect/>
          </a:stretch>
        </p:blipFill>
        <p:spPr>
          <a:xfrm>
            <a:off x="4828032" y="4544568"/>
            <a:ext cx="512064" cy="512064"/>
          </a:xfrm>
          <a:prstGeom prst="rect">
            <a:avLst/>
          </a:prstGeom>
        </p:spPr>
      </p:pic>
      <p:sp>
        <p:nvSpPr>
          <p:cNvPr id="23" name="Text 15"/>
          <p:cNvSpPr txBox="1"/>
          <p:nvPr/>
        </p:nvSpPr>
        <p:spPr>
          <a:xfrm>
            <a:off x="5724144" y="3931920"/>
            <a:ext cx="2011680" cy="173736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নিজের ড্যাশবোর্ড</a:t>
            </a:r>
            <a:endParaRPr lang="en-US" sz="2200" dirty="0"/>
          </a:p>
        </p:txBody>
      </p:sp>
      <p:sp>
        <p:nvSpPr>
          <p:cNvPr id="24" name="Shape 16"/>
          <p:cNvSpPr/>
          <p:nvPr/>
        </p:nvSpPr>
        <p:spPr>
          <a:xfrm>
            <a:off x="8065008" y="3931920"/>
            <a:ext cx="3520440" cy="1737360"/>
          </a:xfrm>
          <a:prstGeom prst="roundRect">
            <a:avLst>
              <a:gd name="adj" fmla="val 6316"/>
            </a:avLst>
          </a:prstGeom>
          <a:solidFill>
            <a:srgbClr val="FFFBF2"/>
          </a:solidFill>
          <a:ln w="22225">
            <a:solidFill>
              <a:srgbClr val="2F6B3A"/>
            </a:solidFill>
            <a:prstDash val="dash"/>
          </a:ln>
        </p:spPr>
      </p:sp>
      <p:sp>
        <p:nvSpPr>
          <p:cNvPr id="25" name="Shape 17"/>
          <p:cNvSpPr/>
          <p:nvPr/>
        </p:nvSpPr>
        <p:spPr>
          <a:xfrm>
            <a:off x="8385048" y="4343400"/>
            <a:ext cx="914400" cy="914400"/>
          </a:xfrm>
          <a:prstGeom prst="ellipse">
            <a:avLst/>
          </a:prstGeom>
          <a:solidFill>
            <a:srgbClr val="FDEECB"/>
          </a:solidFill>
          <a:ln w="12700">
            <a:solidFill>
              <a:srgbClr val="FDEECB"/>
            </a:solidFill>
            <a:prstDash val="solid"/>
          </a:ln>
        </p:spPr>
      </p:sp>
      <p:pic>
        <p:nvPicPr>
          <p:cNvPr id="26" name="Image 6" descr="preencoded.png">    </p:cNvPr>
          <p:cNvPicPr>
            <a:picLocks noChangeAspect="1"/>
          </p:cNvPicPr>
          <p:nvPr/>
        </p:nvPicPr>
        <p:blipFill>
          <a:blip r:embed="rId7"/>
          <a:stretch>
            <a:fillRect/>
          </a:stretch>
        </p:blipFill>
        <p:spPr>
          <a:xfrm>
            <a:off x="8586216" y="4544568"/>
            <a:ext cx="512064" cy="512064"/>
          </a:xfrm>
          <a:prstGeom prst="rect">
            <a:avLst/>
          </a:prstGeom>
        </p:spPr>
      </p:pic>
      <p:sp>
        <p:nvSpPr>
          <p:cNvPr id="27" name="Text 18"/>
          <p:cNvSpPr txBox="1"/>
          <p:nvPr/>
        </p:nvSpPr>
        <p:spPr>
          <a:xfrm>
            <a:off x="9482328" y="3931920"/>
            <a:ext cx="2011680" cy="173736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নিজের অর্ডার</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ঝুড়ি থেকে ঘরে, চার ধাপে</a:t>
            </a:r>
            <a:endParaRPr lang="en-US" sz="3400" dirty="0"/>
          </a:p>
        </p:txBody>
      </p:sp>
      <p:sp>
        <p:nvSpPr>
          <p:cNvPr id="3" name="Shape 1"/>
          <p:cNvSpPr/>
          <p:nvPr/>
        </p:nvSpPr>
        <p:spPr>
          <a:xfrm>
            <a:off x="548640" y="1417320"/>
            <a:ext cx="2560320" cy="640080"/>
          </a:xfrm>
          <a:prstGeom prst="roundRect">
            <a:avLst>
              <a:gd name="adj" fmla="val 50000"/>
            </a:avLst>
          </a:prstGeom>
          <a:solidFill>
            <a:srgbClr val="B91C1C"/>
          </a:solidFill>
          <a:ln w="19050">
            <a:solidFill>
              <a:srgbClr val="B91C1C"/>
            </a:solidFill>
            <a:prstDash val="solid"/>
          </a:ln>
        </p:spPr>
      </p:sp>
      <p:sp>
        <p:nvSpPr>
          <p:cNvPr id="4" name="Shape 2"/>
          <p:cNvSpPr/>
          <p:nvPr/>
        </p:nvSpPr>
        <p:spPr>
          <a:xfrm>
            <a:off x="667512" y="1517904"/>
            <a:ext cx="438912" cy="438912"/>
          </a:xfrm>
          <a:prstGeom prst="ellipse">
            <a:avLst/>
          </a:prstGeom>
          <a:solidFill>
            <a:srgbClr val="F59E0B"/>
          </a:solidFill>
          <a:ln w="12700">
            <a:solidFill>
              <a:srgbClr val="F59E0B"/>
            </a:solidFill>
            <a:prstDash val="solid"/>
          </a:ln>
        </p:spPr>
      </p:sp>
      <p:sp>
        <p:nvSpPr>
          <p:cNvPr id="5" name="Text 3"/>
          <p:cNvSpPr txBox="1"/>
          <p:nvPr/>
        </p:nvSpPr>
        <p:spPr>
          <a:xfrm>
            <a:off x="667512" y="1517904"/>
            <a:ext cx="438912" cy="438912"/>
          </a:xfrm>
          <a:prstGeom prst="rect">
            <a:avLst/>
          </a:prstGeom>
          <a:noFill/>
          <a:ln/>
        </p:spPr>
        <p:txBody>
          <a:bodyPr wrap="square" lIns="0" tIns="0" rIns="0" bIns="0" rtlCol="0" anchor="ctr"/>
          <a:lstStyle/>
          <a:p>
            <a:pPr algn="ctr" indent="0" marL="0">
              <a:buNone/>
            </a:pPr>
            <a:r>
              <a:rPr lang="en-US" sz="1600" dirty="0">
                <a:solidFill>
                  <a:srgbClr val="7F1D1D"/>
                </a:solidFill>
                <a:latin typeface="Baloo Da 2" pitchFamily="34" charset="0"/>
                <a:ea typeface="Baloo Da 2" pitchFamily="34" charset="-122"/>
                <a:cs typeface="Baloo Da 2" pitchFamily="34" charset="-120"/>
              </a:rPr>
              <a:t>১</a:t>
            </a:r>
            <a:endParaRPr lang="en-US" sz="1600" dirty="0"/>
          </a:p>
        </p:txBody>
      </p:sp>
      <p:sp>
        <p:nvSpPr>
          <p:cNvPr id="6" name="Text 4"/>
          <p:cNvSpPr txBox="1"/>
          <p:nvPr/>
        </p:nvSpPr>
        <p:spPr>
          <a:xfrm>
            <a:off x="1234440" y="1417320"/>
            <a:ext cx="1783080" cy="640080"/>
          </a:xfrm>
          <a:prstGeom prst="rect">
            <a:avLst/>
          </a:prstGeom>
          <a:noFill/>
          <a:ln/>
        </p:spPr>
        <p:txBody>
          <a:bodyPr wrap="square" lIns="0" tIns="0" rIns="0" bIns="0" rtlCol="0" anchor="ctr"/>
          <a:lstStyle/>
          <a:p>
            <a:pPr indent="0" marL="0">
              <a:buNone/>
            </a:pPr>
            <a:r>
              <a:rPr lang="en-US" sz="1900" dirty="0">
                <a:solidFill>
                  <a:srgbClr val="FFF7E6"/>
                </a:solidFill>
                <a:latin typeface="Baloo Da 2" pitchFamily="34" charset="0"/>
                <a:ea typeface="Baloo Da 2" pitchFamily="34" charset="-122"/>
                <a:cs typeface="Baloo Da 2" pitchFamily="34" charset="-120"/>
              </a:rPr>
              <a:t>ঝুড়ি</a:t>
            </a:r>
            <a:endParaRPr lang="en-US" sz="1900" dirty="0"/>
          </a:p>
        </p:txBody>
      </p:sp>
      <p:sp>
        <p:nvSpPr>
          <p:cNvPr id="7" name="Shape 5"/>
          <p:cNvSpPr/>
          <p:nvPr/>
        </p:nvSpPr>
        <p:spPr>
          <a:xfrm>
            <a:off x="3355848" y="1417320"/>
            <a:ext cx="2560320" cy="640080"/>
          </a:xfrm>
          <a:prstGeom prst="roundRect">
            <a:avLst>
              <a:gd name="adj" fmla="val 50000"/>
            </a:avLst>
          </a:prstGeom>
          <a:solidFill>
            <a:srgbClr val="FFFBF2"/>
          </a:solidFill>
          <a:ln w="19050">
            <a:solidFill>
              <a:srgbClr val="B91C1C"/>
            </a:solidFill>
            <a:prstDash val="solid"/>
          </a:ln>
        </p:spPr>
      </p:sp>
      <p:sp>
        <p:nvSpPr>
          <p:cNvPr id="8" name="Shape 6"/>
          <p:cNvSpPr/>
          <p:nvPr/>
        </p:nvSpPr>
        <p:spPr>
          <a:xfrm>
            <a:off x="3474720" y="1517904"/>
            <a:ext cx="438912" cy="438912"/>
          </a:xfrm>
          <a:prstGeom prst="ellipse">
            <a:avLst/>
          </a:prstGeom>
          <a:solidFill>
            <a:srgbClr val="F59E0B"/>
          </a:solidFill>
          <a:ln w="12700">
            <a:solidFill>
              <a:srgbClr val="F59E0B"/>
            </a:solidFill>
            <a:prstDash val="solid"/>
          </a:ln>
        </p:spPr>
      </p:sp>
      <p:sp>
        <p:nvSpPr>
          <p:cNvPr id="9" name="Text 7"/>
          <p:cNvSpPr txBox="1"/>
          <p:nvPr/>
        </p:nvSpPr>
        <p:spPr>
          <a:xfrm>
            <a:off x="3474720" y="1517904"/>
            <a:ext cx="438912" cy="438912"/>
          </a:xfrm>
          <a:prstGeom prst="rect">
            <a:avLst/>
          </a:prstGeom>
          <a:noFill/>
          <a:ln/>
        </p:spPr>
        <p:txBody>
          <a:bodyPr wrap="square" lIns="0" tIns="0" rIns="0" bIns="0" rtlCol="0" anchor="ctr"/>
          <a:lstStyle/>
          <a:p>
            <a:pPr algn="ctr" indent="0" marL="0">
              <a:buNone/>
            </a:pPr>
            <a:r>
              <a:rPr lang="en-US" sz="1600" dirty="0">
                <a:solidFill>
                  <a:srgbClr val="7F1D1D"/>
                </a:solidFill>
                <a:latin typeface="Baloo Da 2" pitchFamily="34" charset="0"/>
                <a:ea typeface="Baloo Da 2" pitchFamily="34" charset="-122"/>
                <a:cs typeface="Baloo Da 2" pitchFamily="34" charset="-120"/>
              </a:rPr>
              <a:t>২</a:t>
            </a:r>
            <a:endParaRPr lang="en-US" sz="1600" dirty="0"/>
          </a:p>
        </p:txBody>
      </p:sp>
      <p:sp>
        <p:nvSpPr>
          <p:cNvPr id="10" name="Text 8"/>
          <p:cNvSpPr txBox="1"/>
          <p:nvPr/>
        </p:nvSpPr>
        <p:spPr>
          <a:xfrm>
            <a:off x="4041648" y="1417320"/>
            <a:ext cx="1783080" cy="640080"/>
          </a:xfrm>
          <a:prstGeom prst="rect">
            <a:avLst/>
          </a:prstGeom>
          <a:noFill/>
          <a:ln/>
        </p:spPr>
        <p:txBody>
          <a:bodyPr wrap="square" lIns="0" tIns="0" rIns="0" bIns="0" rtlCol="0" anchor="ctr"/>
          <a:lstStyle/>
          <a:p>
            <a:pPr indent="0" marL="0">
              <a:buNone/>
            </a:pPr>
            <a:r>
              <a:rPr lang="en-US" sz="1900" dirty="0">
                <a:solidFill>
                  <a:srgbClr val="7F1D1D"/>
                </a:solidFill>
                <a:latin typeface="Baloo Da 2" pitchFamily="34" charset="0"/>
                <a:ea typeface="Baloo Da 2" pitchFamily="34" charset="-122"/>
                <a:cs typeface="Baloo Da 2" pitchFamily="34" charset="-120"/>
              </a:rPr>
              <a:t>ঠিকানা</a:t>
            </a:r>
            <a:endParaRPr lang="en-US" sz="1900" dirty="0"/>
          </a:p>
        </p:txBody>
      </p:sp>
      <p:sp>
        <p:nvSpPr>
          <p:cNvPr id="11" name="Shape 9"/>
          <p:cNvSpPr/>
          <p:nvPr/>
        </p:nvSpPr>
        <p:spPr>
          <a:xfrm>
            <a:off x="6163056" y="1417320"/>
            <a:ext cx="2560320" cy="640080"/>
          </a:xfrm>
          <a:prstGeom prst="roundRect">
            <a:avLst>
              <a:gd name="adj" fmla="val 50000"/>
            </a:avLst>
          </a:prstGeom>
          <a:solidFill>
            <a:srgbClr val="FFFBF2"/>
          </a:solidFill>
          <a:ln w="19050">
            <a:solidFill>
              <a:srgbClr val="B91C1C"/>
            </a:solidFill>
            <a:prstDash val="solid"/>
          </a:ln>
        </p:spPr>
      </p:sp>
      <p:sp>
        <p:nvSpPr>
          <p:cNvPr id="12" name="Shape 10"/>
          <p:cNvSpPr/>
          <p:nvPr/>
        </p:nvSpPr>
        <p:spPr>
          <a:xfrm>
            <a:off x="6281928" y="1517904"/>
            <a:ext cx="438912" cy="438912"/>
          </a:xfrm>
          <a:prstGeom prst="ellipse">
            <a:avLst/>
          </a:prstGeom>
          <a:solidFill>
            <a:srgbClr val="F59E0B"/>
          </a:solidFill>
          <a:ln w="12700">
            <a:solidFill>
              <a:srgbClr val="F59E0B"/>
            </a:solidFill>
            <a:prstDash val="solid"/>
          </a:ln>
        </p:spPr>
      </p:sp>
      <p:sp>
        <p:nvSpPr>
          <p:cNvPr id="13" name="Text 11"/>
          <p:cNvSpPr txBox="1"/>
          <p:nvPr/>
        </p:nvSpPr>
        <p:spPr>
          <a:xfrm>
            <a:off x="6281928" y="1517904"/>
            <a:ext cx="438912" cy="438912"/>
          </a:xfrm>
          <a:prstGeom prst="rect">
            <a:avLst/>
          </a:prstGeom>
          <a:noFill/>
          <a:ln/>
        </p:spPr>
        <p:txBody>
          <a:bodyPr wrap="square" lIns="0" tIns="0" rIns="0" bIns="0" rtlCol="0" anchor="ctr"/>
          <a:lstStyle/>
          <a:p>
            <a:pPr algn="ctr" indent="0" marL="0">
              <a:buNone/>
            </a:pPr>
            <a:r>
              <a:rPr lang="en-US" sz="1600" dirty="0">
                <a:solidFill>
                  <a:srgbClr val="7F1D1D"/>
                </a:solidFill>
                <a:latin typeface="Baloo Da 2" pitchFamily="34" charset="0"/>
                <a:ea typeface="Baloo Da 2" pitchFamily="34" charset="-122"/>
                <a:cs typeface="Baloo Da 2" pitchFamily="34" charset="-120"/>
              </a:rPr>
              <a:t>৩</a:t>
            </a:r>
            <a:endParaRPr lang="en-US" sz="1600" dirty="0"/>
          </a:p>
        </p:txBody>
      </p:sp>
      <p:sp>
        <p:nvSpPr>
          <p:cNvPr id="14" name="Text 12"/>
          <p:cNvSpPr txBox="1"/>
          <p:nvPr/>
        </p:nvSpPr>
        <p:spPr>
          <a:xfrm>
            <a:off x="6848856" y="1417320"/>
            <a:ext cx="1783080" cy="640080"/>
          </a:xfrm>
          <a:prstGeom prst="rect">
            <a:avLst/>
          </a:prstGeom>
          <a:noFill/>
          <a:ln/>
        </p:spPr>
        <p:txBody>
          <a:bodyPr wrap="square" lIns="0" tIns="0" rIns="0" bIns="0" rtlCol="0" anchor="ctr"/>
          <a:lstStyle/>
          <a:p>
            <a:pPr indent="0" marL="0">
              <a:buNone/>
            </a:pPr>
            <a:r>
              <a:rPr lang="en-US" sz="1900" dirty="0">
                <a:solidFill>
                  <a:srgbClr val="7F1D1D"/>
                </a:solidFill>
                <a:latin typeface="Baloo Da 2" pitchFamily="34" charset="0"/>
                <a:ea typeface="Baloo Da 2" pitchFamily="34" charset="-122"/>
                <a:cs typeface="Baloo Da 2" pitchFamily="34" charset="-120"/>
              </a:rPr>
              <a:t>হিসাব</a:t>
            </a:r>
            <a:endParaRPr lang="en-US" sz="1900" dirty="0"/>
          </a:p>
        </p:txBody>
      </p:sp>
      <p:sp>
        <p:nvSpPr>
          <p:cNvPr id="15" name="Shape 13"/>
          <p:cNvSpPr/>
          <p:nvPr/>
        </p:nvSpPr>
        <p:spPr>
          <a:xfrm>
            <a:off x="8970264" y="1417320"/>
            <a:ext cx="2560320" cy="640080"/>
          </a:xfrm>
          <a:prstGeom prst="roundRect">
            <a:avLst>
              <a:gd name="adj" fmla="val 50000"/>
            </a:avLst>
          </a:prstGeom>
          <a:solidFill>
            <a:srgbClr val="FFFBF2"/>
          </a:solidFill>
          <a:ln w="19050">
            <a:solidFill>
              <a:srgbClr val="B91C1C"/>
            </a:solidFill>
            <a:prstDash val="solid"/>
          </a:ln>
        </p:spPr>
      </p:sp>
      <p:sp>
        <p:nvSpPr>
          <p:cNvPr id="16" name="Shape 14"/>
          <p:cNvSpPr/>
          <p:nvPr/>
        </p:nvSpPr>
        <p:spPr>
          <a:xfrm>
            <a:off x="9089136" y="1517904"/>
            <a:ext cx="438912" cy="438912"/>
          </a:xfrm>
          <a:prstGeom prst="ellipse">
            <a:avLst/>
          </a:prstGeom>
          <a:solidFill>
            <a:srgbClr val="F59E0B"/>
          </a:solidFill>
          <a:ln w="12700">
            <a:solidFill>
              <a:srgbClr val="F59E0B"/>
            </a:solidFill>
            <a:prstDash val="solid"/>
          </a:ln>
        </p:spPr>
      </p:sp>
      <p:sp>
        <p:nvSpPr>
          <p:cNvPr id="17" name="Text 15"/>
          <p:cNvSpPr txBox="1"/>
          <p:nvPr/>
        </p:nvSpPr>
        <p:spPr>
          <a:xfrm>
            <a:off x="9089136" y="1517904"/>
            <a:ext cx="438912" cy="438912"/>
          </a:xfrm>
          <a:prstGeom prst="rect">
            <a:avLst/>
          </a:prstGeom>
          <a:noFill/>
          <a:ln/>
        </p:spPr>
        <p:txBody>
          <a:bodyPr wrap="square" lIns="0" tIns="0" rIns="0" bIns="0" rtlCol="0" anchor="ctr"/>
          <a:lstStyle/>
          <a:p>
            <a:pPr algn="ctr" indent="0" marL="0">
              <a:buNone/>
            </a:pPr>
            <a:r>
              <a:rPr lang="en-US" sz="1600" dirty="0">
                <a:solidFill>
                  <a:srgbClr val="7F1D1D"/>
                </a:solidFill>
                <a:latin typeface="Baloo Da 2" pitchFamily="34" charset="0"/>
                <a:ea typeface="Baloo Da 2" pitchFamily="34" charset="-122"/>
                <a:cs typeface="Baloo Da 2" pitchFamily="34" charset="-120"/>
              </a:rPr>
              <a:t>৪</a:t>
            </a:r>
            <a:endParaRPr lang="en-US" sz="1600" dirty="0"/>
          </a:p>
        </p:txBody>
      </p:sp>
      <p:sp>
        <p:nvSpPr>
          <p:cNvPr id="18" name="Text 16"/>
          <p:cNvSpPr txBox="1"/>
          <p:nvPr/>
        </p:nvSpPr>
        <p:spPr>
          <a:xfrm>
            <a:off x="9656064" y="1417320"/>
            <a:ext cx="1783080" cy="640080"/>
          </a:xfrm>
          <a:prstGeom prst="rect">
            <a:avLst/>
          </a:prstGeom>
          <a:noFill/>
          <a:ln/>
        </p:spPr>
        <p:txBody>
          <a:bodyPr wrap="square" lIns="0" tIns="0" rIns="0" bIns="0" rtlCol="0" anchor="ctr"/>
          <a:lstStyle/>
          <a:p>
            <a:pPr indent="0" marL="0">
              <a:buNone/>
            </a:pPr>
            <a:r>
              <a:rPr lang="en-US" sz="1900" dirty="0">
                <a:solidFill>
                  <a:srgbClr val="7F1D1D"/>
                </a:solidFill>
                <a:latin typeface="Baloo Da 2" pitchFamily="34" charset="0"/>
                <a:ea typeface="Baloo Da 2" pitchFamily="34" charset="-122"/>
                <a:cs typeface="Baloo Da 2" pitchFamily="34" charset="-120"/>
              </a:rPr>
              <a:t>হয়ে গেল</a:t>
            </a:r>
            <a:endParaRPr lang="en-US" sz="1900" dirty="0"/>
          </a:p>
        </p:txBody>
      </p:sp>
      <p:sp>
        <p:nvSpPr>
          <p:cNvPr id="19" name="Shape 17"/>
          <p:cNvSpPr/>
          <p:nvPr/>
        </p:nvSpPr>
        <p:spPr>
          <a:xfrm>
            <a:off x="557784" y="2478024"/>
            <a:ext cx="6108192" cy="3546265"/>
          </a:xfrm>
          <a:prstGeom prst="roundRect">
            <a:avLst>
              <a:gd name="adj" fmla="val 2578"/>
            </a:avLst>
          </a:prstGeom>
          <a:solidFill>
            <a:srgbClr val="FFFBF2"/>
          </a:solidFill>
          <a:ln w="22225">
            <a:solidFill>
              <a:srgbClr val="B91C1C"/>
            </a:solidFill>
            <a:prstDash val="dash"/>
          </a:ln>
        </p:spPr>
      </p:sp>
      <p:pic>
        <p:nvPicPr>
          <p:cNvPr id="20" name="Image 0" descr="/home/naseem/projects/bangaliyana-bazar/presentation/shots/jhuri-desk.png">    </p:cNvPr>
          <p:cNvPicPr>
            <a:picLocks noChangeAspect="1"/>
          </p:cNvPicPr>
          <p:nvPr/>
        </p:nvPicPr>
        <p:blipFill>
          <a:blip r:embed="rId1"/>
          <a:stretch>
            <a:fillRect/>
          </a:stretch>
        </p:blipFill>
        <p:spPr>
          <a:xfrm>
            <a:off x="685800" y="2606040"/>
            <a:ext cx="5852160" cy="3290233"/>
          </a:xfrm>
          <a:prstGeom prst="rect">
            <a:avLst/>
          </a:prstGeom>
        </p:spPr>
      </p:pic>
      <p:sp>
        <p:nvSpPr>
          <p:cNvPr id="21" name="Shape 18"/>
          <p:cNvSpPr/>
          <p:nvPr/>
        </p:nvSpPr>
        <p:spPr>
          <a:xfrm>
            <a:off x="7086600" y="2478024"/>
            <a:ext cx="4498848" cy="3547872"/>
          </a:xfrm>
          <a:prstGeom prst="roundRect">
            <a:avLst>
              <a:gd name="adj" fmla="val 3093"/>
            </a:avLst>
          </a:prstGeom>
          <a:solidFill>
            <a:srgbClr val="FFFBF2"/>
          </a:solidFill>
          <a:ln w="22225">
            <a:solidFill>
              <a:srgbClr val="B91C1C"/>
            </a:solidFill>
            <a:prstDash val="dash"/>
          </a:ln>
        </p:spPr>
      </p:sp>
      <p:sp>
        <p:nvSpPr>
          <p:cNvPr id="22" name="Text 19"/>
          <p:cNvSpPr txBox="1"/>
          <p:nvPr/>
        </p:nvSpPr>
        <p:spPr>
          <a:xfrm>
            <a:off x="7360920" y="2478024"/>
            <a:ext cx="2514600" cy="3547872"/>
          </a:xfrm>
          <a:prstGeom prst="rect">
            <a:avLst/>
          </a:prstGeom>
          <a:noFill/>
          <a:ln/>
        </p:spPr>
        <p:txBody>
          <a:bodyPr wrap="square" lIns="0" tIns="0" rIns="0" bIns="0" rtlCol="0" anchor="ctr"/>
          <a:lstStyle/>
          <a:p>
            <a:pPr indent="0" marL="0">
              <a:buNone/>
            </a:pPr>
            <a:r>
              <a:rPr lang="en-US" sz="2200" dirty="0">
                <a:solidFill>
                  <a:srgbClr val="7F1D1D"/>
                </a:solidFill>
                <a:latin typeface="Baloo Da 2" pitchFamily="34" charset="0"/>
                <a:ea typeface="Baloo Da 2" pitchFamily="34" charset="-122"/>
                <a:cs typeface="Baloo Da 2" pitchFamily="34" charset="-120"/>
              </a:rPr>
              <a:t>প্রতি ধাপে চাচা বাড়ির দিকে এগোন</a:t>
            </a:r>
            <a:endParaRPr lang="en-US" sz="2200" dirty="0"/>
          </a:p>
        </p:txBody>
      </p:sp>
      <p:pic>
        <p:nvPicPr>
          <p:cNvPr id="23" name="Image 1" descr="/home/naseem/projects/bangaliyana-bazar/presentation/shots/mascot.png">    </p:cNvPr>
          <p:cNvPicPr>
            <a:picLocks noChangeAspect="1"/>
          </p:cNvPicPr>
          <p:nvPr/>
        </p:nvPicPr>
        <p:blipFill>
          <a:blip r:embed="rId2"/>
          <a:stretch>
            <a:fillRect/>
          </a:stretch>
        </p:blipFill>
        <p:spPr>
          <a:xfrm>
            <a:off x="10058400" y="2697480"/>
            <a:ext cx="1516790" cy="31546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ডিজাইন: খাঁটি বাঙালিয়ানা</a:t>
            </a:r>
            <a:endParaRPr lang="en-US" sz="3400" dirty="0"/>
          </a:p>
        </p:txBody>
      </p:sp>
      <p:sp>
        <p:nvSpPr>
          <p:cNvPr id="3" name="Shape 1"/>
          <p:cNvSpPr/>
          <p:nvPr/>
        </p:nvSpPr>
        <p:spPr>
          <a:xfrm>
            <a:off x="548640" y="1463040"/>
            <a:ext cx="5669280" cy="2148840"/>
          </a:xfrm>
          <a:prstGeom prst="roundRect">
            <a:avLst>
              <a:gd name="adj" fmla="val 5106"/>
            </a:avLst>
          </a:prstGeom>
          <a:solidFill>
            <a:srgbClr val="FFFBF2"/>
          </a:solidFill>
          <a:ln w="22225">
            <a:solidFill>
              <a:srgbClr val="B91C1C"/>
            </a:solidFill>
            <a:prstDash val="dash"/>
          </a:ln>
        </p:spPr>
      </p:sp>
      <p:sp>
        <p:nvSpPr>
          <p:cNvPr id="4" name="Text 2"/>
          <p:cNvSpPr txBox="1"/>
          <p:nvPr/>
        </p:nvSpPr>
        <p:spPr>
          <a:xfrm>
            <a:off x="868680" y="1627632"/>
            <a:ext cx="2743200" cy="411480"/>
          </a:xfrm>
          <a:prstGeom prst="rect">
            <a:avLst/>
          </a:prstGeom>
          <a:noFill/>
          <a:ln/>
        </p:spPr>
        <p:txBody>
          <a:bodyPr wrap="square" lIns="0" tIns="0" rIns="0" bIns="0" rtlCol="0" anchor="t"/>
          <a:lstStyle/>
          <a:p>
            <a:pPr indent="0" marL="0">
              <a:buNone/>
            </a:pPr>
            <a:r>
              <a:rPr lang="en-US" sz="1900" dirty="0">
                <a:solidFill>
                  <a:srgbClr val="7F1D1D"/>
                </a:solidFill>
                <a:latin typeface="Baloo Da 2" pitchFamily="34" charset="0"/>
                <a:ea typeface="Baloo Da 2" pitchFamily="34" charset="-122"/>
                <a:cs typeface="Baloo Da 2" pitchFamily="34" charset="-120"/>
              </a:rPr>
              <a:t>রং</a:t>
            </a:r>
            <a:endParaRPr lang="en-US" sz="1900" dirty="0"/>
          </a:p>
        </p:txBody>
      </p:sp>
      <p:sp>
        <p:nvSpPr>
          <p:cNvPr id="5" name="Shape 3"/>
          <p:cNvSpPr/>
          <p:nvPr/>
        </p:nvSpPr>
        <p:spPr>
          <a:xfrm>
            <a:off x="960120" y="2194560"/>
            <a:ext cx="594360" cy="594360"/>
          </a:xfrm>
          <a:prstGeom prst="ellipse">
            <a:avLst/>
          </a:prstGeom>
          <a:solidFill>
            <a:srgbClr val="B91C1C"/>
          </a:solidFill>
          <a:ln w="9525">
            <a:solidFill>
              <a:srgbClr val="6B5446"/>
            </a:solidFill>
            <a:prstDash val="solid"/>
          </a:ln>
        </p:spPr>
      </p:sp>
      <p:sp>
        <p:nvSpPr>
          <p:cNvPr id="6" name="Text 4"/>
          <p:cNvSpPr txBox="1"/>
          <p:nvPr/>
        </p:nvSpPr>
        <p:spPr>
          <a:xfrm>
            <a:off x="77724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লাল</a:t>
            </a:r>
            <a:endParaRPr lang="en-US" sz="1300" dirty="0"/>
          </a:p>
        </p:txBody>
      </p:sp>
      <p:sp>
        <p:nvSpPr>
          <p:cNvPr id="7" name="Shape 5"/>
          <p:cNvSpPr/>
          <p:nvPr/>
        </p:nvSpPr>
        <p:spPr>
          <a:xfrm>
            <a:off x="1828800" y="2194560"/>
            <a:ext cx="594360" cy="594360"/>
          </a:xfrm>
          <a:prstGeom prst="ellipse">
            <a:avLst/>
          </a:prstGeom>
          <a:solidFill>
            <a:srgbClr val="F59E0B"/>
          </a:solidFill>
          <a:ln w="9525">
            <a:solidFill>
              <a:srgbClr val="6B5446"/>
            </a:solidFill>
            <a:prstDash val="solid"/>
          </a:ln>
        </p:spPr>
      </p:sp>
      <p:sp>
        <p:nvSpPr>
          <p:cNvPr id="8" name="Text 6"/>
          <p:cNvSpPr txBox="1"/>
          <p:nvPr/>
        </p:nvSpPr>
        <p:spPr>
          <a:xfrm>
            <a:off x="164592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হলুদ</a:t>
            </a:r>
            <a:endParaRPr lang="en-US" sz="1300" dirty="0"/>
          </a:p>
        </p:txBody>
      </p:sp>
      <p:sp>
        <p:nvSpPr>
          <p:cNvPr id="9" name="Shape 7"/>
          <p:cNvSpPr/>
          <p:nvPr/>
        </p:nvSpPr>
        <p:spPr>
          <a:xfrm>
            <a:off x="2697480" y="2194560"/>
            <a:ext cx="594360" cy="594360"/>
          </a:xfrm>
          <a:prstGeom prst="ellipse">
            <a:avLst/>
          </a:prstGeom>
          <a:solidFill>
            <a:srgbClr val="1F3B73"/>
          </a:solidFill>
          <a:ln w="9525">
            <a:solidFill>
              <a:srgbClr val="6B5446"/>
            </a:solidFill>
            <a:prstDash val="solid"/>
          </a:ln>
        </p:spPr>
      </p:sp>
      <p:sp>
        <p:nvSpPr>
          <p:cNvPr id="10" name="Text 8"/>
          <p:cNvSpPr txBox="1"/>
          <p:nvPr/>
        </p:nvSpPr>
        <p:spPr>
          <a:xfrm>
            <a:off x="251460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নীল</a:t>
            </a:r>
            <a:endParaRPr lang="en-US" sz="1300" dirty="0"/>
          </a:p>
        </p:txBody>
      </p:sp>
      <p:sp>
        <p:nvSpPr>
          <p:cNvPr id="11" name="Shape 9"/>
          <p:cNvSpPr/>
          <p:nvPr/>
        </p:nvSpPr>
        <p:spPr>
          <a:xfrm>
            <a:off x="3566160" y="2194560"/>
            <a:ext cx="594360" cy="594360"/>
          </a:xfrm>
          <a:prstGeom prst="ellipse">
            <a:avLst/>
          </a:prstGeom>
          <a:solidFill>
            <a:srgbClr val="2F6B3A"/>
          </a:solidFill>
          <a:ln w="9525">
            <a:solidFill>
              <a:srgbClr val="6B5446"/>
            </a:solidFill>
            <a:prstDash val="solid"/>
          </a:ln>
        </p:spPr>
      </p:sp>
      <p:sp>
        <p:nvSpPr>
          <p:cNvPr id="12" name="Text 10"/>
          <p:cNvSpPr txBox="1"/>
          <p:nvPr/>
        </p:nvSpPr>
        <p:spPr>
          <a:xfrm>
            <a:off x="338328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কলাপাতা</a:t>
            </a:r>
            <a:endParaRPr lang="en-US" sz="1300" dirty="0"/>
          </a:p>
        </p:txBody>
      </p:sp>
      <p:sp>
        <p:nvSpPr>
          <p:cNvPr id="13" name="Shape 11"/>
          <p:cNvSpPr/>
          <p:nvPr/>
        </p:nvSpPr>
        <p:spPr>
          <a:xfrm>
            <a:off x="4434840" y="2194560"/>
            <a:ext cx="594360" cy="594360"/>
          </a:xfrm>
          <a:prstGeom prst="ellipse">
            <a:avLst/>
          </a:prstGeom>
          <a:solidFill>
            <a:srgbClr val="BE185D"/>
          </a:solidFill>
          <a:ln w="9525">
            <a:solidFill>
              <a:srgbClr val="6B5446"/>
            </a:solidFill>
            <a:prstDash val="solid"/>
          </a:ln>
        </p:spPr>
      </p:sp>
      <p:sp>
        <p:nvSpPr>
          <p:cNvPr id="14" name="Text 12"/>
          <p:cNvSpPr txBox="1"/>
          <p:nvPr/>
        </p:nvSpPr>
        <p:spPr>
          <a:xfrm>
            <a:off x="425196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শাপলা</a:t>
            </a:r>
            <a:endParaRPr lang="en-US" sz="1300" dirty="0"/>
          </a:p>
        </p:txBody>
      </p:sp>
      <p:sp>
        <p:nvSpPr>
          <p:cNvPr id="15" name="Shape 13"/>
          <p:cNvSpPr/>
          <p:nvPr/>
        </p:nvSpPr>
        <p:spPr>
          <a:xfrm>
            <a:off x="5303520" y="2194560"/>
            <a:ext cx="594360" cy="594360"/>
          </a:xfrm>
          <a:prstGeom prst="ellipse">
            <a:avLst/>
          </a:prstGeom>
          <a:solidFill>
            <a:srgbClr val="FFFBF2"/>
          </a:solidFill>
          <a:ln w="9525">
            <a:solidFill>
              <a:srgbClr val="6B5446"/>
            </a:solidFill>
            <a:prstDash val="solid"/>
          </a:ln>
        </p:spPr>
      </p:sp>
      <p:sp>
        <p:nvSpPr>
          <p:cNvPr id="16" name="Text 14"/>
          <p:cNvSpPr txBox="1"/>
          <p:nvPr/>
        </p:nvSpPr>
        <p:spPr>
          <a:xfrm>
            <a:off x="5120640" y="2852928"/>
            <a:ext cx="960120" cy="457200"/>
          </a:xfrm>
          <a:prstGeom prst="rect">
            <a:avLst/>
          </a:prstGeom>
          <a:noFill/>
          <a:ln/>
        </p:spPr>
        <p:txBody>
          <a:bodyPr wrap="square" lIns="0" tIns="0" rIns="0" bIns="0" rtlCol="0" anchor="t"/>
          <a:lstStyle/>
          <a:p>
            <a:pPr algn="ctr" indent="0" marL="0">
              <a:buNone/>
            </a:pPr>
            <a:r>
              <a:rPr lang="en-US" sz="1300" dirty="0">
                <a:solidFill>
                  <a:srgbClr val="6B5446"/>
                </a:solidFill>
                <a:latin typeface="Baloo Da 2" pitchFamily="34" charset="0"/>
                <a:ea typeface="Baloo Da 2" pitchFamily="34" charset="-122"/>
                <a:cs typeface="Baloo Da 2" pitchFamily="34" charset="-120"/>
              </a:rPr>
              <a:t>কাগজ</a:t>
            </a:r>
            <a:endParaRPr lang="en-US" sz="1300" dirty="0"/>
          </a:p>
        </p:txBody>
      </p:sp>
      <p:sp>
        <p:nvSpPr>
          <p:cNvPr id="17" name="Shape 15"/>
          <p:cNvSpPr/>
          <p:nvPr/>
        </p:nvSpPr>
        <p:spPr>
          <a:xfrm>
            <a:off x="548640" y="3840480"/>
            <a:ext cx="5669280" cy="2286000"/>
          </a:xfrm>
          <a:prstGeom prst="roundRect">
            <a:avLst>
              <a:gd name="adj" fmla="val 4800"/>
            </a:avLst>
          </a:prstGeom>
          <a:solidFill>
            <a:srgbClr val="FFFBF2"/>
          </a:solidFill>
          <a:ln w="22225">
            <a:solidFill>
              <a:srgbClr val="B91C1C"/>
            </a:solidFill>
            <a:prstDash val="dash"/>
          </a:ln>
        </p:spPr>
      </p:sp>
      <p:sp>
        <p:nvSpPr>
          <p:cNvPr id="18" name="Text 16"/>
          <p:cNvSpPr txBox="1"/>
          <p:nvPr/>
        </p:nvSpPr>
        <p:spPr>
          <a:xfrm>
            <a:off x="868680" y="4005072"/>
            <a:ext cx="2743200" cy="411480"/>
          </a:xfrm>
          <a:prstGeom prst="rect">
            <a:avLst/>
          </a:prstGeom>
          <a:noFill/>
          <a:ln/>
        </p:spPr>
        <p:txBody>
          <a:bodyPr wrap="square" lIns="0" tIns="0" rIns="0" bIns="0" rtlCol="0" anchor="t"/>
          <a:lstStyle/>
          <a:p>
            <a:pPr indent="0" marL="0">
              <a:buNone/>
            </a:pPr>
            <a:r>
              <a:rPr lang="en-US" sz="1900" dirty="0">
                <a:solidFill>
                  <a:srgbClr val="7F1D1D"/>
                </a:solidFill>
                <a:latin typeface="Baloo Da 2" pitchFamily="34" charset="0"/>
                <a:ea typeface="Baloo Da 2" pitchFamily="34" charset="-122"/>
                <a:cs typeface="Baloo Da 2" pitchFamily="34" charset="-120"/>
              </a:rPr>
              <a:t>ফন্ট</a:t>
            </a:r>
            <a:endParaRPr lang="en-US" sz="1900" dirty="0"/>
          </a:p>
        </p:txBody>
      </p:sp>
      <p:sp>
        <p:nvSpPr>
          <p:cNvPr id="19" name="Text 17"/>
          <p:cNvSpPr txBox="1"/>
          <p:nvPr/>
        </p:nvSpPr>
        <p:spPr>
          <a:xfrm>
            <a:off x="868680" y="4526280"/>
            <a:ext cx="5120640" cy="731520"/>
          </a:xfrm>
          <a:prstGeom prst="rect">
            <a:avLst/>
          </a:prstGeom>
          <a:noFill/>
          <a:ln/>
        </p:spPr>
        <p:txBody>
          <a:bodyPr wrap="square" lIns="0" tIns="0" rIns="0" bIns="0" rtlCol="0" anchor="t"/>
          <a:lstStyle/>
          <a:p>
            <a:pPr indent="0" marL="0">
              <a:buNone/>
            </a:pPr>
            <a:r>
              <a:rPr lang="en-US" sz="3200" dirty="0">
                <a:solidFill>
                  <a:srgbClr val="2A1A14"/>
                </a:solidFill>
                <a:latin typeface="Tiro Bangla" pitchFamily="34" charset="0"/>
                <a:ea typeface="Tiro Bangla" pitchFamily="34" charset="-122"/>
                <a:cs typeface="Tiro Bangla" pitchFamily="34" charset="-120"/>
              </a:rPr>
              <a:t>হাতের কাজ, বাংলার গল্প</a:t>
            </a:r>
            <a:endParaRPr lang="en-US" sz="3200" dirty="0"/>
          </a:p>
        </p:txBody>
      </p:sp>
      <p:sp>
        <p:nvSpPr>
          <p:cNvPr id="20" name="Text 18"/>
          <p:cNvSpPr txBox="1"/>
          <p:nvPr/>
        </p:nvSpPr>
        <p:spPr>
          <a:xfrm>
            <a:off x="868680" y="5349240"/>
            <a:ext cx="5120640" cy="411480"/>
          </a:xfrm>
          <a:prstGeom prst="rect">
            <a:avLst/>
          </a:prstGeom>
          <a:noFill/>
          <a:ln/>
        </p:spPr>
        <p:txBody>
          <a:bodyPr wrap="square" lIns="0" tIns="0" rIns="0" bIns="0" rtlCol="0" anchor="t"/>
          <a:lstStyle/>
          <a:p>
            <a:pPr indent="0" marL="0">
              <a:buNone/>
            </a:pPr>
            <a:r>
              <a:rPr lang="en-US" sz="1600" dirty="0">
                <a:solidFill>
                  <a:srgbClr val="6B5446"/>
                </a:solidFill>
                <a:latin typeface="Baloo Da 2" pitchFamily="34" charset="0"/>
                <a:ea typeface="Baloo Da 2" pitchFamily="34" charset="-122"/>
                <a:cs typeface="Baloo Da 2" pitchFamily="34" charset="-120"/>
              </a:rPr>
              <a:t>Tiro Bangla  ·  Baloo Da 2</a:t>
            </a:r>
            <a:endParaRPr lang="en-US" sz="1600" dirty="0"/>
          </a:p>
        </p:txBody>
      </p:sp>
      <p:sp>
        <p:nvSpPr>
          <p:cNvPr id="21" name="Shape 19"/>
          <p:cNvSpPr/>
          <p:nvPr/>
        </p:nvSpPr>
        <p:spPr>
          <a:xfrm>
            <a:off x="6537960" y="1463040"/>
            <a:ext cx="5047488" cy="1005840"/>
          </a:xfrm>
          <a:prstGeom prst="roundRect">
            <a:avLst>
              <a:gd name="adj" fmla="val 10909"/>
            </a:avLst>
          </a:prstGeom>
          <a:solidFill>
            <a:srgbClr val="FFFBF2"/>
          </a:solidFill>
          <a:ln w="22225">
            <a:solidFill>
              <a:srgbClr val="B91C1C"/>
            </a:solidFill>
            <a:prstDash val="dash"/>
          </a:ln>
        </p:spPr>
      </p:sp>
      <p:sp>
        <p:nvSpPr>
          <p:cNvPr id="22" name="Shape 20"/>
          <p:cNvSpPr/>
          <p:nvPr/>
        </p:nvSpPr>
        <p:spPr>
          <a:xfrm>
            <a:off x="6812280" y="1664208"/>
            <a:ext cx="603504" cy="603504"/>
          </a:xfrm>
          <a:prstGeom prst="roundRect">
            <a:avLst>
              <a:gd name="adj" fmla="val 12121"/>
            </a:avLst>
          </a:prstGeom>
          <a:solidFill>
            <a:srgbClr val="FDE68A"/>
          </a:solidFill>
          <a:ln w="25400">
            <a:solidFill>
              <a:srgbClr val="B91C1C"/>
            </a:solidFill>
            <a:prstDash val="dash"/>
          </a:ln>
        </p:spPr>
      </p:sp>
      <p:sp>
        <p:nvSpPr>
          <p:cNvPr id="23" name="Text 21"/>
          <p:cNvSpPr txBox="1"/>
          <p:nvPr/>
        </p:nvSpPr>
        <p:spPr>
          <a:xfrm>
            <a:off x="7680960" y="1463040"/>
            <a:ext cx="3749040" cy="100584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নকশি কাঁথার সেলাই</a:t>
            </a:r>
            <a:endParaRPr lang="en-US" sz="2100" dirty="0"/>
          </a:p>
        </p:txBody>
      </p:sp>
      <p:sp>
        <p:nvSpPr>
          <p:cNvPr id="24" name="Shape 22"/>
          <p:cNvSpPr/>
          <p:nvPr/>
        </p:nvSpPr>
        <p:spPr>
          <a:xfrm>
            <a:off x="6537960" y="2651760"/>
            <a:ext cx="5047488" cy="1005840"/>
          </a:xfrm>
          <a:prstGeom prst="roundRect">
            <a:avLst>
              <a:gd name="adj" fmla="val 10909"/>
            </a:avLst>
          </a:prstGeom>
          <a:solidFill>
            <a:srgbClr val="FFFBF2"/>
          </a:solidFill>
          <a:ln w="22225">
            <a:solidFill>
              <a:srgbClr val="B91C1C"/>
            </a:solidFill>
            <a:prstDash val="dash"/>
          </a:ln>
        </p:spPr>
      </p:sp>
      <p:pic>
        <p:nvPicPr>
          <p:cNvPr id="25" name="Image 0" descr="preencoded.png">    </p:cNvPr>
          <p:cNvPicPr>
            <a:picLocks noChangeAspect="1"/>
          </p:cNvPicPr>
          <p:nvPr/>
        </p:nvPicPr>
        <p:blipFill>
          <a:blip r:embed="rId1"/>
          <a:stretch>
            <a:fillRect/>
          </a:stretch>
        </p:blipFill>
        <p:spPr>
          <a:xfrm>
            <a:off x="6812280" y="2852928"/>
            <a:ext cx="603504" cy="603504"/>
          </a:xfrm>
          <a:prstGeom prst="rect">
            <a:avLst/>
          </a:prstGeom>
        </p:spPr>
      </p:pic>
      <p:sp>
        <p:nvSpPr>
          <p:cNvPr id="26" name="Text 23"/>
          <p:cNvSpPr txBox="1"/>
          <p:nvPr/>
        </p:nvSpPr>
        <p:spPr>
          <a:xfrm>
            <a:off x="7680960" y="2651760"/>
            <a:ext cx="3749040" cy="100584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আলপনা</a:t>
            </a:r>
            <a:endParaRPr lang="en-US" sz="2100" dirty="0"/>
          </a:p>
        </p:txBody>
      </p:sp>
      <p:sp>
        <p:nvSpPr>
          <p:cNvPr id="27" name="Shape 24"/>
          <p:cNvSpPr/>
          <p:nvPr/>
        </p:nvSpPr>
        <p:spPr>
          <a:xfrm>
            <a:off x="6537960" y="3840480"/>
            <a:ext cx="5047488" cy="1005840"/>
          </a:xfrm>
          <a:prstGeom prst="roundRect">
            <a:avLst>
              <a:gd name="adj" fmla="val 10909"/>
            </a:avLst>
          </a:prstGeom>
          <a:solidFill>
            <a:srgbClr val="FFFBF2"/>
          </a:solidFill>
          <a:ln w="22225">
            <a:solidFill>
              <a:srgbClr val="B91C1C"/>
            </a:solidFill>
            <a:prstDash val="dash"/>
          </a:ln>
        </p:spPr>
      </p:sp>
      <p:sp>
        <p:nvSpPr>
          <p:cNvPr id="28" name="Shape 25"/>
          <p:cNvSpPr/>
          <p:nvPr/>
        </p:nvSpPr>
        <p:spPr>
          <a:xfrm>
            <a:off x="6812280" y="4041648"/>
            <a:ext cx="603504" cy="603504"/>
          </a:xfrm>
          <a:prstGeom prst="ellipse">
            <a:avLst/>
          </a:prstGeom>
          <a:solidFill>
            <a:srgbClr val="FDE68A"/>
          </a:solidFill>
          <a:ln w="12700">
            <a:solidFill>
              <a:srgbClr val="FDE68A"/>
            </a:solidFill>
            <a:prstDash val="solid"/>
          </a:ln>
        </p:spPr>
      </p:sp>
      <p:pic>
        <p:nvPicPr>
          <p:cNvPr id="29" name="Image 1" descr="preencoded.png">    </p:cNvPr>
          <p:cNvPicPr>
            <a:picLocks noChangeAspect="1"/>
          </p:cNvPicPr>
          <p:nvPr/>
        </p:nvPicPr>
        <p:blipFill>
          <a:blip r:embed="rId2"/>
          <a:stretch>
            <a:fillRect/>
          </a:stretch>
        </p:blipFill>
        <p:spPr>
          <a:xfrm>
            <a:off x="6945051" y="4174419"/>
            <a:ext cx="337962" cy="337962"/>
          </a:xfrm>
          <a:prstGeom prst="rect">
            <a:avLst/>
          </a:prstGeom>
        </p:spPr>
      </p:pic>
      <p:sp>
        <p:nvSpPr>
          <p:cNvPr id="30" name="Text 26"/>
          <p:cNvSpPr txBox="1"/>
          <p:nvPr/>
        </p:nvSpPr>
        <p:spPr>
          <a:xfrm>
            <a:off x="7680960" y="3840480"/>
            <a:ext cx="3749040" cy="100584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হাতে আঁকা ছবি</a:t>
            </a:r>
            <a:endParaRPr lang="en-US" sz="2100" dirty="0"/>
          </a:p>
        </p:txBody>
      </p:sp>
      <p:sp>
        <p:nvSpPr>
          <p:cNvPr id="31" name="Shape 27"/>
          <p:cNvSpPr/>
          <p:nvPr/>
        </p:nvSpPr>
        <p:spPr>
          <a:xfrm>
            <a:off x="6537960" y="5029200"/>
            <a:ext cx="5047488" cy="1005840"/>
          </a:xfrm>
          <a:prstGeom prst="roundRect">
            <a:avLst>
              <a:gd name="adj" fmla="val 10909"/>
            </a:avLst>
          </a:prstGeom>
          <a:solidFill>
            <a:srgbClr val="FFFBF2"/>
          </a:solidFill>
          <a:ln w="22225">
            <a:solidFill>
              <a:srgbClr val="B91C1C"/>
            </a:solidFill>
            <a:prstDash val="dash"/>
          </a:ln>
        </p:spPr>
      </p:sp>
      <p:sp>
        <p:nvSpPr>
          <p:cNvPr id="32" name="Shape 28"/>
          <p:cNvSpPr/>
          <p:nvPr/>
        </p:nvSpPr>
        <p:spPr>
          <a:xfrm>
            <a:off x="6812280" y="5230368"/>
            <a:ext cx="603504" cy="603504"/>
          </a:xfrm>
          <a:prstGeom prst="ellipse">
            <a:avLst/>
          </a:prstGeom>
          <a:solidFill>
            <a:srgbClr val="FDE68A"/>
          </a:solidFill>
          <a:ln w="12700">
            <a:solidFill>
              <a:srgbClr val="FDE68A"/>
            </a:solidFill>
            <a:prstDash val="solid"/>
          </a:ln>
        </p:spPr>
      </p:sp>
      <p:pic>
        <p:nvPicPr>
          <p:cNvPr id="33" name="Image 2" descr="preencoded.png">    </p:cNvPr>
          <p:cNvPicPr>
            <a:picLocks noChangeAspect="1"/>
          </p:cNvPicPr>
          <p:nvPr/>
        </p:nvPicPr>
        <p:blipFill>
          <a:blip r:embed="rId3"/>
          <a:stretch>
            <a:fillRect/>
          </a:stretch>
        </p:blipFill>
        <p:spPr>
          <a:xfrm>
            <a:off x="6945051" y="5363139"/>
            <a:ext cx="337962" cy="337962"/>
          </a:xfrm>
          <a:prstGeom prst="rect">
            <a:avLst/>
          </a:prstGeom>
        </p:spPr>
      </p:pic>
      <p:sp>
        <p:nvSpPr>
          <p:cNvPr id="34" name="Text 29"/>
          <p:cNvSpPr txBox="1"/>
          <p:nvPr/>
        </p:nvSpPr>
        <p:spPr>
          <a:xfrm>
            <a:off x="7680960" y="5029200"/>
            <a:ext cx="3749040" cy="1005840"/>
          </a:xfrm>
          <a:prstGeom prst="rect">
            <a:avLst/>
          </a:prstGeom>
          <a:noFill/>
          <a:ln/>
        </p:spPr>
        <p:txBody>
          <a:bodyPr wrap="square" lIns="0" tIns="0" rIns="0" bIns="0" rtlCol="0" anchor="ctr"/>
          <a:lstStyle/>
          <a:p>
            <a:pPr indent="0" marL="0">
              <a:buNone/>
            </a:pPr>
            <a:r>
              <a:rPr lang="en-US" sz="2100" dirty="0">
                <a:solidFill>
                  <a:srgbClr val="7F1D1D"/>
                </a:solidFill>
                <a:latin typeface="Baloo Da 2" pitchFamily="34" charset="0"/>
                <a:ea typeface="Baloo Da 2" pitchFamily="34" charset="-122"/>
                <a:cs typeface="Baloo Da 2" pitchFamily="34" charset="-120"/>
              </a:rPr>
              <a:t>সব সংখ্যা বাংলায়</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কম্পিউটারে আর মোবাইলে সমান সহজ</a:t>
            </a:r>
            <a:endParaRPr lang="en-US" sz="3400" dirty="0"/>
          </a:p>
        </p:txBody>
      </p:sp>
      <p:sp>
        <p:nvSpPr>
          <p:cNvPr id="3" name="Shape 1"/>
          <p:cNvSpPr/>
          <p:nvPr/>
        </p:nvSpPr>
        <p:spPr>
          <a:xfrm>
            <a:off x="557784" y="1563624"/>
            <a:ext cx="6931152" cy="4008955"/>
          </a:xfrm>
          <a:prstGeom prst="roundRect">
            <a:avLst>
              <a:gd name="adj" fmla="val 2281"/>
            </a:avLst>
          </a:prstGeom>
          <a:solidFill>
            <a:srgbClr val="FFFBF2"/>
          </a:solidFill>
          <a:ln w="22225">
            <a:solidFill>
              <a:srgbClr val="B91C1C"/>
            </a:solidFill>
            <a:prstDash val="dash"/>
          </a:ln>
        </p:spPr>
      </p:sp>
      <p:pic>
        <p:nvPicPr>
          <p:cNvPr id="4" name="Image 0" descr="/home/naseem/projects/bangaliyana-bazar/presentation/shots/product-desk.png">    </p:cNvPr>
          <p:cNvPicPr>
            <a:picLocks noChangeAspect="1"/>
          </p:cNvPicPr>
          <p:nvPr/>
        </p:nvPicPr>
        <p:blipFill>
          <a:blip r:embed="rId1"/>
          <a:stretch>
            <a:fillRect/>
          </a:stretch>
        </p:blipFill>
        <p:spPr>
          <a:xfrm>
            <a:off x="685800" y="1691640"/>
            <a:ext cx="6675120" cy="3752923"/>
          </a:xfrm>
          <a:prstGeom prst="rect">
            <a:avLst/>
          </a:prstGeom>
        </p:spPr>
      </p:pic>
      <p:sp>
        <p:nvSpPr>
          <p:cNvPr id="5" name="Shape 2"/>
          <p:cNvSpPr/>
          <p:nvPr/>
        </p:nvSpPr>
        <p:spPr>
          <a:xfrm>
            <a:off x="685800" y="5806440"/>
            <a:ext cx="457200" cy="457200"/>
          </a:xfrm>
          <a:prstGeom prst="ellipse">
            <a:avLst/>
          </a:prstGeom>
          <a:solidFill>
            <a:srgbClr val="FDE68A"/>
          </a:solidFill>
          <a:ln w="12700">
            <a:solidFill>
              <a:srgbClr val="FDE68A"/>
            </a:solidFill>
            <a:prstDash val="solid"/>
          </a:ln>
        </p:spPr>
      </p:sp>
      <p:pic>
        <p:nvPicPr>
          <p:cNvPr id="6" name="Image 1" descr="preencoded.png">    </p:cNvPr>
          <p:cNvPicPr>
            <a:picLocks noChangeAspect="1"/>
          </p:cNvPicPr>
          <p:nvPr/>
        </p:nvPicPr>
        <p:blipFill>
          <a:blip r:embed="rId2"/>
          <a:stretch>
            <a:fillRect/>
          </a:stretch>
        </p:blipFill>
        <p:spPr>
          <a:xfrm>
            <a:off x="786384" y="5907024"/>
            <a:ext cx="256032" cy="256032"/>
          </a:xfrm>
          <a:prstGeom prst="rect">
            <a:avLst/>
          </a:prstGeom>
        </p:spPr>
      </p:pic>
      <p:sp>
        <p:nvSpPr>
          <p:cNvPr id="7" name="Text 3"/>
          <p:cNvSpPr txBox="1"/>
          <p:nvPr/>
        </p:nvSpPr>
        <p:spPr>
          <a:xfrm>
            <a:off x="1280160" y="5806440"/>
            <a:ext cx="2743200" cy="457200"/>
          </a:xfrm>
          <a:prstGeom prst="rect">
            <a:avLst/>
          </a:prstGeom>
          <a:noFill/>
          <a:ln/>
        </p:spPr>
        <p:txBody>
          <a:bodyPr wrap="square" lIns="0" tIns="0" rIns="0" bIns="0" rtlCol="0" anchor="ctr"/>
          <a:lstStyle/>
          <a:p>
            <a:pPr indent="0" marL="0">
              <a:buNone/>
            </a:pPr>
            <a:r>
              <a:rPr lang="en-US" sz="1600" dirty="0">
                <a:solidFill>
                  <a:srgbClr val="6B5446"/>
                </a:solidFill>
                <a:latin typeface="Baloo Da 2" pitchFamily="34" charset="0"/>
                <a:ea typeface="Baloo Da 2" pitchFamily="34" charset="-122"/>
                <a:cs typeface="Baloo Da 2" pitchFamily="34" charset="-120"/>
              </a:rPr>
              <a:t>কম্পিউটার</a:t>
            </a:r>
            <a:endParaRPr lang="en-US" sz="1600" dirty="0"/>
          </a:p>
        </p:txBody>
      </p:sp>
      <p:sp>
        <p:nvSpPr>
          <p:cNvPr id="8" name="Shape 4"/>
          <p:cNvSpPr/>
          <p:nvPr/>
        </p:nvSpPr>
        <p:spPr>
          <a:xfrm>
            <a:off x="7690104" y="1563624"/>
            <a:ext cx="1990202" cy="4008955"/>
          </a:xfrm>
          <a:prstGeom prst="roundRect">
            <a:avLst>
              <a:gd name="adj" fmla="val 4595"/>
            </a:avLst>
          </a:prstGeom>
          <a:solidFill>
            <a:srgbClr val="FFFBF2"/>
          </a:solidFill>
          <a:ln w="22225">
            <a:solidFill>
              <a:srgbClr val="B91C1C"/>
            </a:solidFill>
            <a:prstDash val="dash"/>
          </a:ln>
        </p:spPr>
      </p:sp>
      <p:pic>
        <p:nvPicPr>
          <p:cNvPr id="9" name="Image 2" descr="/home/naseem/projects/bangaliyana-bazar/presentation/shots/home-phone.png">    </p:cNvPr>
          <p:cNvPicPr>
            <a:picLocks noChangeAspect="1"/>
          </p:cNvPicPr>
          <p:nvPr/>
        </p:nvPicPr>
        <p:blipFill>
          <a:blip r:embed="rId3"/>
          <a:stretch>
            <a:fillRect/>
          </a:stretch>
        </p:blipFill>
        <p:spPr>
          <a:xfrm>
            <a:off x="7818120" y="1691640"/>
            <a:ext cx="1734170" cy="3752923"/>
          </a:xfrm>
          <a:prstGeom prst="rect">
            <a:avLst/>
          </a:prstGeom>
        </p:spPr>
      </p:pic>
      <p:sp>
        <p:nvSpPr>
          <p:cNvPr id="10" name="Shape 5"/>
          <p:cNvSpPr/>
          <p:nvPr/>
        </p:nvSpPr>
        <p:spPr>
          <a:xfrm>
            <a:off x="9835754" y="1563624"/>
            <a:ext cx="1990202" cy="4008955"/>
          </a:xfrm>
          <a:prstGeom prst="roundRect">
            <a:avLst>
              <a:gd name="adj" fmla="val 4595"/>
            </a:avLst>
          </a:prstGeom>
          <a:solidFill>
            <a:srgbClr val="FFFBF2"/>
          </a:solidFill>
          <a:ln w="22225">
            <a:solidFill>
              <a:srgbClr val="B91C1C"/>
            </a:solidFill>
            <a:prstDash val="dash"/>
          </a:ln>
        </p:spPr>
      </p:sp>
      <p:pic>
        <p:nvPicPr>
          <p:cNvPr id="11" name="Image 3" descr="/home/naseem/projects/bangaliyana-bazar/presentation/shots/jhuri-phone.png">    </p:cNvPr>
          <p:cNvPicPr>
            <a:picLocks noChangeAspect="1"/>
          </p:cNvPicPr>
          <p:nvPr/>
        </p:nvPicPr>
        <p:blipFill>
          <a:blip r:embed="rId4"/>
          <a:stretch>
            <a:fillRect/>
          </a:stretch>
        </p:blipFill>
        <p:spPr>
          <a:xfrm>
            <a:off x="9963770" y="1691640"/>
            <a:ext cx="1734170" cy="3752923"/>
          </a:xfrm>
          <a:prstGeom prst="rect">
            <a:avLst/>
          </a:prstGeom>
        </p:spPr>
      </p:pic>
      <p:sp>
        <p:nvSpPr>
          <p:cNvPr id="12" name="Shape 6"/>
          <p:cNvSpPr/>
          <p:nvPr/>
        </p:nvSpPr>
        <p:spPr>
          <a:xfrm>
            <a:off x="7726680" y="5806440"/>
            <a:ext cx="457200" cy="457200"/>
          </a:xfrm>
          <a:prstGeom prst="ellipse">
            <a:avLst/>
          </a:prstGeom>
          <a:solidFill>
            <a:srgbClr val="FDE68A"/>
          </a:solidFill>
          <a:ln w="12700">
            <a:solidFill>
              <a:srgbClr val="FDE68A"/>
            </a:solidFill>
            <a:prstDash val="solid"/>
          </a:ln>
        </p:spPr>
      </p:sp>
      <p:pic>
        <p:nvPicPr>
          <p:cNvPr id="13" name="Image 4" descr="preencoded.png">    </p:cNvPr>
          <p:cNvPicPr>
            <a:picLocks noChangeAspect="1"/>
          </p:cNvPicPr>
          <p:nvPr/>
        </p:nvPicPr>
        <p:blipFill>
          <a:blip r:embed="rId5"/>
          <a:stretch>
            <a:fillRect/>
          </a:stretch>
        </p:blipFill>
        <p:spPr>
          <a:xfrm>
            <a:off x="7827264" y="5907024"/>
            <a:ext cx="256032" cy="256032"/>
          </a:xfrm>
          <a:prstGeom prst="rect">
            <a:avLst/>
          </a:prstGeom>
        </p:spPr>
      </p:pic>
      <p:sp>
        <p:nvSpPr>
          <p:cNvPr id="14" name="Text 7"/>
          <p:cNvSpPr txBox="1"/>
          <p:nvPr/>
        </p:nvSpPr>
        <p:spPr>
          <a:xfrm>
            <a:off x="8321040" y="5806440"/>
            <a:ext cx="2743200" cy="457200"/>
          </a:xfrm>
          <a:prstGeom prst="rect">
            <a:avLst/>
          </a:prstGeom>
          <a:noFill/>
          <a:ln/>
        </p:spPr>
        <p:txBody>
          <a:bodyPr wrap="square" lIns="0" tIns="0" rIns="0" bIns="0" rtlCol="0" anchor="ctr"/>
          <a:lstStyle/>
          <a:p>
            <a:pPr indent="0" marL="0">
              <a:buNone/>
            </a:pPr>
            <a:r>
              <a:rPr lang="en-US" sz="1600" dirty="0">
                <a:solidFill>
                  <a:srgbClr val="6B5446"/>
                </a:solidFill>
                <a:latin typeface="Baloo Da 2" pitchFamily="34" charset="0"/>
                <a:ea typeface="Baloo Da 2" pitchFamily="34" charset="-122"/>
                <a:cs typeface="Baloo Da 2" pitchFamily="34" charset="-120"/>
              </a:rPr>
              <a:t>মোবাইল</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FFF7E6"/>
                </a:solidFill>
                <a:latin typeface="Tiro Bangla" pitchFamily="34" charset="0"/>
                <a:ea typeface="Tiro Bangla" pitchFamily="34" charset="-122"/>
                <a:cs typeface="Tiro Bangla" pitchFamily="34" charset="-120"/>
              </a:rPr>
              <a:t>যে প্রযুক্তিতে বানানো</a:t>
            </a:r>
            <a:endParaRPr lang="en-US" sz="3400" dirty="0"/>
          </a:p>
        </p:txBody>
      </p:sp>
      <p:sp>
        <p:nvSpPr>
          <p:cNvPr id="3" name="Shape 1"/>
          <p:cNvSpPr/>
          <p:nvPr/>
        </p:nvSpPr>
        <p:spPr>
          <a:xfrm>
            <a:off x="548640" y="1645920"/>
            <a:ext cx="2514600" cy="3840480"/>
          </a:xfrm>
          <a:prstGeom prst="roundRect">
            <a:avLst>
              <a:gd name="adj" fmla="val 4364"/>
            </a:avLst>
          </a:prstGeom>
          <a:solidFill>
            <a:srgbClr val="1F3B73"/>
          </a:solidFill>
          <a:ln w="22225">
            <a:solidFill>
              <a:srgbClr val="F59E0B"/>
            </a:solidFill>
            <a:prstDash val="dash"/>
          </a:ln>
        </p:spPr>
      </p:sp>
      <p:sp>
        <p:nvSpPr>
          <p:cNvPr id="4" name="Shape 2"/>
          <p:cNvSpPr/>
          <p:nvPr/>
        </p:nvSpPr>
        <p:spPr>
          <a:xfrm>
            <a:off x="1371600" y="2011680"/>
            <a:ext cx="868680" cy="868680"/>
          </a:xfrm>
          <a:prstGeom prst="ellipse">
            <a:avLst/>
          </a:prstGeom>
          <a:solidFill>
            <a:srgbClr val="F59E0B"/>
          </a:solidFill>
          <a:ln w="12700">
            <a:solidFill>
              <a:srgbClr val="F59E0B"/>
            </a:solidFill>
            <a:prstDash val="solid"/>
          </a:ln>
        </p:spPr>
      </p:sp>
      <p:pic>
        <p:nvPicPr>
          <p:cNvPr id="5" name="Image 0" descr="preencoded.png">    </p:cNvPr>
          <p:cNvPicPr>
            <a:picLocks noChangeAspect="1"/>
          </p:cNvPicPr>
          <p:nvPr/>
        </p:nvPicPr>
        <p:blipFill>
          <a:blip r:embed="rId1"/>
          <a:stretch>
            <a:fillRect/>
          </a:stretch>
        </p:blipFill>
        <p:spPr>
          <a:xfrm>
            <a:off x="1562710" y="2202790"/>
            <a:ext cx="486461" cy="486461"/>
          </a:xfrm>
          <a:prstGeom prst="rect">
            <a:avLst/>
          </a:prstGeom>
        </p:spPr>
      </p:pic>
      <p:sp>
        <p:nvSpPr>
          <p:cNvPr id="6" name="Text 3"/>
          <p:cNvSpPr txBox="1"/>
          <p:nvPr/>
        </p:nvSpPr>
        <p:spPr>
          <a:xfrm>
            <a:off x="685800" y="3063240"/>
            <a:ext cx="2240280" cy="502920"/>
          </a:xfrm>
          <a:prstGeom prst="rect">
            <a:avLst/>
          </a:prstGeom>
          <a:noFill/>
          <a:ln/>
        </p:spPr>
        <p:txBody>
          <a:bodyPr wrap="square" lIns="0" tIns="0" rIns="0" bIns="0" rtlCol="0" anchor="t"/>
          <a:lstStyle/>
          <a:p>
            <a:pPr algn="ctr" indent="0" marL="0">
              <a:buNone/>
            </a:pPr>
            <a:r>
              <a:rPr lang="en-US" sz="2300" dirty="0">
                <a:solidFill>
                  <a:srgbClr val="F59E0B"/>
                </a:solidFill>
                <a:latin typeface="Baloo Da 2" pitchFamily="34" charset="0"/>
                <a:ea typeface="Baloo Da 2" pitchFamily="34" charset="-122"/>
                <a:cs typeface="Baloo Da 2" pitchFamily="34" charset="-120"/>
              </a:rPr>
              <a:t>ব্যবহারকারী</a:t>
            </a:r>
            <a:endParaRPr lang="en-US" sz="2300" dirty="0"/>
          </a:p>
        </p:txBody>
      </p:sp>
      <p:sp>
        <p:nvSpPr>
          <p:cNvPr id="7" name="Text 4"/>
          <p:cNvSpPr txBox="1"/>
          <p:nvPr/>
        </p:nvSpPr>
        <p:spPr>
          <a:xfrm>
            <a:off x="685800" y="3657600"/>
            <a:ext cx="2240280" cy="914400"/>
          </a:xfrm>
          <a:prstGeom prst="rect">
            <a:avLst/>
          </a:prstGeom>
          <a:noFill/>
          <a:ln/>
        </p:spPr>
        <p:txBody>
          <a:bodyPr wrap="square" lIns="0" tIns="0" rIns="0" bIns="0" rtlCol="0" anchor="t"/>
          <a:lstStyle/>
          <a:p>
            <a:pPr algn="ctr" indent="0" marL="0">
              <a:buNone/>
            </a:pPr>
            <a:r>
              <a:rPr lang="en-US" sz="1700" dirty="0">
                <a:solidFill>
                  <a:srgbClr val="FFF7E6"/>
                </a:solidFill>
                <a:latin typeface="Baloo Da 2" pitchFamily="34" charset="0"/>
                <a:ea typeface="Baloo Da 2" pitchFamily="34" charset="-122"/>
                <a:cs typeface="Baloo Da 2" pitchFamily="34" charset="-120"/>
              </a:rPr>
              <a:t>ফোন বা কম্পিউটার</a:t>
            </a:r>
            <a:endParaRPr lang="en-US" sz="1700" dirty="0"/>
          </a:p>
        </p:txBody>
      </p:sp>
      <p:pic>
        <p:nvPicPr>
          <p:cNvPr id="8" name="Image 1" descr="preencoded.png">    </p:cNvPr>
          <p:cNvPicPr>
            <a:picLocks noChangeAspect="1"/>
          </p:cNvPicPr>
          <p:nvPr/>
        </p:nvPicPr>
        <p:blipFill>
          <a:blip r:embed="rId2"/>
          <a:stretch>
            <a:fillRect/>
          </a:stretch>
        </p:blipFill>
        <p:spPr>
          <a:xfrm>
            <a:off x="3108960" y="3429000"/>
            <a:ext cx="237744" cy="237744"/>
          </a:xfrm>
          <a:prstGeom prst="rect">
            <a:avLst/>
          </a:prstGeom>
        </p:spPr>
      </p:pic>
      <p:sp>
        <p:nvSpPr>
          <p:cNvPr id="9" name="Shape 5"/>
          <p:cNvSpPr/>
          <p:nvPr/>
        </p:nvSpPr>
        <p:spPr>
          <a:xfrm>
            <a:off x="3383280" y="1645920"/>
            <a:ext cx="2514600" cy="3840480"/>
          </a:xfrm>
          <a:prstGeom prst="roundRect">
            <a:avLst>
              <a:gd name="adj" fmla="val 4364"/>
            </a:avLst>
          </a:prstGeom>
          <a:solidFill>
            <a:srgbClr val="1F3B73"/>
          </a:solidFill>
          <a:ln w="22225">
            <a:solidFill>
              <a:srgbClr val="F59E0B"/>
            </a:solidFill>
            <a:prstDash val="dash"/>
          </a:ln>
        </p:spPr>
      </p:sp>
      <p:sp>
        <p:nvSpPr>
          <p:cNvPr id="10" name="Shape 6"/>
          <p:cNvSpPr/>
          <p:nvPr/>
        </p:nvSpPr>
        <p:spPr>
          <a:xfrm>
            <a:off x="4206240" y="2011680"/>
            <a:ext cx="868680" cy="868680"/>
          </a:xfrm>
          <a:prstGeom prst="ellipse">
            <a:avLst/>
          </a:prstGeom>
          <a:solidFill>
            <a:srgbClr val="F59E0B"/>
          </a:solidFill>
          <a:ln w="12700">
            <a:solidFill>
              <a:srgbClr val="F59E0B"/>
            </a:solidFill>
            <a:prstDash val="solid"/>
          </a:ln>
        </p:spPr>
      </p:sp>
      <p:pic>
        <p:nvPicPr>
          <p:cNvPr id="11" name="Image 2" descr="preencoded.png">    </p:cNvPr>
          <p:cNvPicPr>
            <a:picLocks noChangeAspect="1"/>
          </p:cNvPicPr>
          <p:nvPr/>
        </p:nvPicPr>
        <p:blipFill>
          <a:blip r:embed="rId3"/>
          <a:stretch>
            <a:fillRect/>
          </a:stretch>
        </p:blipFill>
        <p:spPr>
          <a:xfrm>
            <a:off x="4397350" y="2202790"/>
            <a:ext cx="486461" cy="486461"/>
          </a:xfrm>
          <a:prstGeom prst="rect">
            <a:avLst/>
          </a:prstGeom>
        </p:spPr>
      </p:pic>
      <p:sp>
        <p:nvSpPr>
          <p:cNvPr id="12" name="Text 7"/>
          <p:cNvSpPr txBox="1"/>
          <p:nvPr/>
        </p:nvSpPr>
        <p:spPr>
          <a:xfrm>
            <a:off x="3520440" y="3063240"/>
            <a:ext cx="2240280" cy="502920"/>
          </a:xfrm>
          <a:prstGeom prst="rect">
            <a:avLst/>
          </a:prstGeom>
          <a:noFill/>
          <a:ln/>
        </p:spPr>
        <p:txBody>
          <a:bodyPr wrap="square" lIns="0" tIns="0" rIns="0" bIns="0" rtlCol="0" anchor="t"/>
          <a:lstStyle/>
          <a:p>
            <a:pPr algn="ctr" indent="0" marL="0">
              <a:buNone/>
            </a:pPr>
            <a:r>
              <a:rPr lang="en-US" sz="2300" dirty="0">
                <a:solidFill>
                  <a:srgbClr val="F59E0B"/>
                </a:solidFill>
                <a:latin typeface="Baloo Da 2" pitchFamily="34" charset="0"/>
                <a:ea typeface="Baloo Da 2" pitchFamily="34" charset="-122"/>
                <a:cs typeface="Baloo Da 2" pitchFamily="34" charset="-120"/>
              </a:rPr>
              <a:t>ফ্রন্টএন্ড</a:t>
            </a:r>
            <a:endParaRPr lang="en-US" sz="2300" dirty="0"/>
          </a:p>
        </p:txBody>
      </p:sp>
      <p:sp>
        <p:nvSpPr>
          <p:cNvPr id="13" name="Text 8"/>
          <p:cNvSpPr txBox="1"/>
          <p:nvPr/>
        </p:nvSpPr>
        <p:spPr>
          <a:xfrm>
            <a:off x="3520440" y="3657600"/>
            <a:ext cx="2240280" cy="914400"/>
          </a:xfrm>
          <a:prstGeom prst="rect">
            <a:avLst/>
          </a:prstGeom>
          <a:noFill/>
          <a:ln/>
        </p:spPr>
        <p:txBody>
          <a:bodyPr wrap="square" lIns="0" tIns="0" rIns="0" bIns="0" rtlCol="0" anchor="t"/>
          <a:lstStyle/>
          <a:p>
            <a:pPr algn="ctr" indent="0" marL="0">
              <a:buNone/>
            </a:pPr>
            <a:r>
              <a:rPr lang="en-US" sz="1700" dirty="0">
                <a:solidFill>
                  <a:srgbClr val="FFF7E6"/>
                </a:solidFill>
                <a:latin typeface="Baloo Da 2" pitchFamily="34" charset="0"/>
                <a:ea typeface="Baloo Da 2" pitchFamily="34" charset="-122"/>
                <a:cs typeface="Baloo Da 2" pitchFamily="34" charset="-120"/>
              </a:rPr>
              <a:t>React, TypeScript</a:t>
            </a:r>
            <a:endParaRPr lang="en-US" sz="1700" dirty="0"/>
          </a:p>
          <a:p>
            <a:pPr algn="ctr" indent="0" marL="0">
              <a:buNone/>
            </a:pPr>
            <a:r>
              <a:rPr lang="en-US" sz="1700" dirty="0">
                <a:solidFill>
                  <a:srgbClr val="FFF7E6"/>
                </a:solidFill>
                <a:latin typeface="Baloo Da 2" pitchFamily="34" charset="0"/>
                <a:ea typeface="Baloo Da 2" pitchFamily="34" charset="-122"/>
                <a:cs typeface="Baloo Da 2" pitchFamily="34" charset="-120"/>
              </a:rPr>
              <a:t>Tailwind CSS</a:t>
            </a:r>
            <a:endParaRPr lang="en-US" sz="1700" dirty="0"/>
          </a:p>
        </p:txBody>
      </p:sp>
      <p:sp>
        <p:nvSpPr>
          <p:cNvPr id="14" name="Shape 9"/>
          <p:cNvSpPr/>
          <p:nvPr/>
        </p:nvSpPr>
        <p:spPr>
          <a:xfrm>
            <a:off x="3950208" y="4846320"/>
            <a:ext cx="1371600" cy="384048"/>
          </a:xfrm>
          <a:prstGeom prst="roundRect">
            <a:avLst>
              <a:gd name="adj" fmla="val 50000"/>
            </a:avLst>
          </a:prstGeom>
          <a:solidFill>
            <a:srgbClr val="FFF7E6"/>
          </a:solidFill>
          <a:ln w="12700">
            <a:solidFill>
              <a:srgbClr val="FFF7E6"/>
            </a:solidFill>
            <a:prstDash val="solid"/>
          </a:ln>
        </p:spPr>
      </p:sp>
      <p:sp>
        <p:nvSpPr>
          <p:cNvPr id="15" name="Text 10"/>
          <p:cNvSpPr txBox="1"/>
          <p:nvPr/>
        </p:nvSpPr>
        <p:spPr>
          <a:xfrm>
            <a:off x="3950208" y="4846320"/>
            <a:ext cx="1371600" cy="384048"/>
          </a:xfrm>
          <a:prstGeom prst="rect">
            <a:avLst/>
          </a:prstGeom>
          <a:noFill/>
          <a:ln/>
        </p:spPr>
        <p:txBody>
          <a:bodyPr wrap="square" lIns="0" tIns="0" rIns="0" bIns="0" rtlCol="0" anchor="ctr"/>
          <a:lstStyle/>
          <a:p>
            <a:pPr algn="ctr" indent="0" marL="0">
              <a:buNone/>
            </a:pPr>
            <a:r>
              <a:rPr lang="en-US" sz="1400" dirty="0">
                <a:solidFill>
                  <a:srgbClr val="1F3B73"/>
                </a:solidFill>
                <a:latin typeface="Baloo Da 2" pitchFamily="34" charset="0"/>
                <a:ea typeface="Baloo Da 2" pitchFamily="34" charset="-122"/>
                <a:cs typeface="Baloo Da 2" pitchFamily="34" charset="-120"/>
              </a:rPr>
              <a:t>Vercel</a:t>
            </a:r>
            <a:endParaRPr lang="en-US" sz="1400" dirty="0"/>
          </a:p>
        </p:txBody>
      </p:sp>
      <p:pic>
        <p:nvPicPr>
          <p:cNvPr id="16" name="Image 3" descr="preencoded.png">    </p:cNvPr>
          <p:cNvPicPr>
            <a:picLocks noChangeAspect="1"/>
          </p:cNvPicPr>
          <p:nvPr/>
        </p:nvPicPr>
        <p:blipFill>
          <a:blip r:embed="rId4"/>
          <a:stretch>
            <a:fillRect/>
          </a:stretch>
        </p:blipFill>
        <p:spPr>
          <a:xfrm>
            <a:off x="5943600" y="3429000"/>
            <a:ext cx="237744" cy="237744"/>
          </a:xfrm>
          <a:prstGeom prst="rect">
            <a:avLst/>
          </a:prstGeom>
        </p:spPr>
      </p:pic>
      <p:sp>
        <p:nvSpPr>
          <p:cNvPr id="17" name="Shape 11"/>
          <p:cNvSpPr/>
          <p:nvPr/>
        </p:nvSpPr>
        <p:spPr>
          <a:xfrm>
            <a:off x="6217920" y="1645920"/>
            <a:ext cx="2514600" cy="3840480"/>
          </a:xfrm>
          <a:prstGeom prst="roundRect">
            <a:avLst>
              <a:gd name="adj" fmla="val 4364"/>
            </a:avLst>
          </a:prstGeom>
          <a:solidFill>
            <a:srgbClr val="1F3B73"/>
          </a:solidFill>
          <a:ln w="22225">
            <a:solidFill>
              <a:srgbClr val="F59E0B"/>
            </a:solidFill>
            <a:prstDash val="dash"/>
          </a:ln>
        </p:spPr>
      </p:sp>
      <p:sp>
        <p:nvSpPr>
          <p:cNvPr id="18" name="Shape 12"/>
          <p:cNvSpPr/>
          <p:nvPr/>
        </p:nvSpPr>
        <p:spPr>
          <a:xfrm>
            <a:off x="7040880" y="2011680"/>
            <a:ext cx="868680" cy="868680"/>
          </a:xfrm>
          <a:prstGeom prst="ellipse">
            <a:avLst/>
          </a:prstGeom>
          <a:solidFill>
            <a:srgbClr val="F59E0B"/>
          </a:solidFill>
          <a:ln w="12700">
            <a:solidFill>
              <a:srgbClr val="F59E0B"/>
            </a:solidFill>
            <a:prstDash val="solid"/>
          </a:ln>
        </p:spPr>
      </p:sp>
      <p:pic>
        <p:nvPicPr>
          <p:cNvPr id="19" name="Image 4" descr="preencoded.png">    </p:cNvPr>
          <p:cNvPicPr>
            <a:picLocks noChangeAspect="1"/>
          </p:cNvPicPr>
          <p:nvPr/>
        </p:nvPicPr>
        <p:blipFill>
          <a:blip r:embed="rId5"/>
          <a:stretch>
            <a:fillRect/>
          </a:stretch>
        </p:blipFill>
        <p:spPr>
          <a:xfrm>
            <a:off x="7231990" y="2202790"/>
            <a:ext cx="486461" cy="486461"/>
          </a:xfrm>
          <a:prstGeom prst="rect">
            <a:avLst/>
          </a:prstGeom>
        </p:spPr>
      </p:pic>
      <p:sp>
        <p:nvSpPr>
          <p:cNvPr id="20" name="Text 13"/>
          <p:cNvSpPr txBox="1"/>
          <p:nvPr/>
        </p:nvSpPr>
        <p:spPr>
          <a:xfrm>
            <a:off x="6355080" y="3063240"/>
            <a:ext cx="2240280" cy="502920"/>
          </a:xfrm>
          <a:prstGeom prst="rect">
            <a:avLst/>
          </a:prstGeom>
          <a:noFill/>
          <a:ln/>
        </p:spPr>
        <p:txBody>
          <a:bodyPr wrap="square" lIns="0" tIns="0" rIns="0" bIns="0" rtlCol="0" anchor="t"/>
          <a:lstStyle/>
          <a:p>
            <a:pPr algn="ctr" indent="0" marL="0">
              <a:buNone/>
            </a:pPr>
            <a:r>
              <a:rPr lang="en-US" sz="2300" dirty="0">
                <a:solidFill>
                  <a:srgbClr val="F59E0B"/>
                </a:solidFill>
                <a:latin typeface="Baloo Da 2" pitchFamily="34" charset="0"/>
                <a:ea typeface="Baloo Da 2" pitchFamily="34" charset="-122"/>
                <a:cs typeface="Baloo Da 2" pitchFamily="34" charset="-120"/>
              </a:rPr>
              <a:t>সার্ভার</a:t>
            </a:r>
            <a:endParaRPr lang="en-US" sz="2300" dirty="0"/>
          </a:p>
        </p:txBody>
      </p:sp>
      <p:sp>
        <p:nvSpPr>
          <p:cNvPr id="21" name="Text 14"/>
          <p:cNvSpPr txBox="1"/>
          <p:nvPr/>
        </p:nvSpPr>
        <p:spPr>
          <a:xfrm>
            <a:off x="6355080" y="3657600"/>
            <a:ext cx="2240280" cy="914400"/>
          </a:xfrm>
          <a:prstGeom prst="rect">
            <a:avLst/>
          </a:prstGeom>
          <a:noFill/>
          <a:ln/>
        </p:spPr>
        <p:txBody>
          <a:bodyPr wrap="square" lIns="0" tIns="0" rIns="0" bIns="0" rtlCol="0" anchor="t"/>
          <a:lstStyle/>
          <a:p>
            <a:pPr algn="ctr" indent="0" marL="0">
              <a:buNone/>
            </a:pPr>
            <a:r>
              <a:rPr lang="en-US" sz="1700" dirty="0">
                <a:solidFill>
                  <a:srgbClr val="FFF7E6"/>
                </a:solidFill>
                <a:latin typeface="Baloo Da 2" pitchFamily="34" charset="0"/>
                <a:ea typeface="Baloo Da 2" pitchFamily="34" charset="-122"/>
                <a:cs typeface="Baloo Da 2" pitchFamily="34" charset="-120"/>
              </a:rPr>
              <a:t>Node.js, Fastify</a:t>
            </a:r>
            <a:endParaRPr lang="en-US" sz="1700" dirty="0"/>
          </a:p>
          <a:p>
            <a:pPr algn="ctr" indent="0" marL="0">
              <a:buNone/>
            </a:pPr>
            <a:r>
              <a:rPr lang="en-US" sz="1700" dirty="0">
                <a:solidFill>
                  <a:srgbClr val="FFF7E6"/>
                </a:solidFill>
                <a:latin typeface="Baloo Da 2" pitchFamily="34" charset="0"/>
                <a:ea typeface="Baloo Da 2" pitchFamily="34" charset="-122"/>
                <a:cs typeface="Baloo Da 2" pitchFamily="34" charset="-120"/>
              </a:rPr>
              <a:t>JWT লগইন</a:t>
            </a:r>
            <a:endParaRPr lang="en-US" sz="1700" dirty="0"/>
          </a:p>
        </p:txBody>
      </p:sp>
      <p:sp>
        <p:nvSpPr>
          <p:cNvPr id="22" name="Shape 15"/>
          <p:cNvSpPr/>
          <p:nvPr/>
        </p:nvSpPr>
        <p:spPr>
          <a:xfrm>
            <a:off x="6784848" y="4846320"/>
            <a:ext cx="1371600" cy="384048"/>
          </a:xfrm>
          <a:prstGeom prst="roundRect">
            <a:avLst>
              <a:gd name="adj" fmla="val 50000"/>
            </a:avLst>
          </a:prstGeom>
          <a:solidFill>
            <a:srgbClr val="FFF7E6"/>
          </a:solidFill>
          <a:ln w="12700">
            <a:solidFill>
              <a:srgbClr val="FFF7E6"/>
            </a:solidFill>
            <a:prstDash val="solid"/>
          </a:ln>
        </p:spPr>
      </p:sp>
      <p:sp>
        <p:nvSpPr>
          <p:cNvPr id="23" name="Text 16"/>
          <p:cNvSpPr txBox="1"/>
          <p:nvPr/>
        </p:nvSpPr>
        <p:spPr>
          <a:xfrm>
            <a:off x="6784848" y="4846320"/>
            <a:ext cx="1371600" cy="384048"/>
          </a:xfrm>
          <a:prstGeom prst="rect">
            <a:avLst/>
          </a:prstGeom>
          <a:noFill/>
          <a:ln/>
        </p:spPr>
        <p:txBody>
          <a:bodyPr wrap="square" lIns="0" tIns="0" rIns="0" bIns="0" rtlCol="0" anchor="ctr"/>
          <a:lstStyle/>
          <a:p>
            <a:pPr algn="ctr" indent="0" marL="0">
              <a:buNone/>
            </a:pPr>
            <a:r>
              <a:rPr lang="en-US" sz="1400" dirty="0">
                <a:solidFill>
                  <a:srgbClr val="1F3B73"/>
                </a:solidFill>
                <a:latin typeface="Baloo Da 2" pitchFamily="34" charset="0"/>
                <a:ea typeface="Baloo Da 2" pitchFamily="34" charset="-122"/>
                <a:cs typeface="Baloo Da 2" pitchFamily="34" charset="-120"/>
              </a:rPr>
              <a:t>Render</a:t>
            </a:r>
            <a:endParaRPr lang="en-US" sz="1400" dirty="0"/>
          </a:p>
        </p:txBody>
      </p:sp>
      <p:pic>
        <p:nvPicPr>
          <p:cNvPr id="24" name="Image 5" descr="preencoded.png">    </p:cNvPr>
          <p:cNvPicPr>
            <a:picLocks noChangeAspect="1"/>
          </p:cNvPicPr>
          <p:nvPr/>
        </p:nvPicPr>
        <p:blipFill>
          <a:blip r:embed="rId6"/>
          <a:stretch>
            <a:fillRect/>
          </a:stretch>
        </p:blipFill>
        <p:spPr>
          <a:xfrm>
            <a:off x="8778240" y="3429000"/>
            <a:ext cx="237744" cy="237744"/>
          </a:xfrm>
          <a:prstGeom prst="rect">
            <a:avLst/>
          </a:prstGeom>
        </p:spPr>
      </p:pic>
      <p:sp>
        <p:nvSpPr>
          <p:cNvPr id="25" name="Shape 17"/>
          <p:cNvSpPr/>
          <p:nvPr/>
        </p:nvSpPr>
        <p:spPr>
          <a:xfrm>
            <a:off x="9052560" y="1645920"/>
            <a:ext cx="2514600" cy="3840480"/>
          </a:xfrm>
          <a:prstGeom prst="roundRect">
            <a:avLst>
              <a:gd name="adj" fmla="val 4364"/>
            </a:avLst>
          </a:prstGeom>
          <a:solidFill>
            <a:srgbClr val="1F3B73"/>
          </a:solidFill>
          <a:ln w="22225">
            <a:solidFill>
              <a:srgbClr val="F59E0B"/>
            </a:solidFill>
            <a:prstDash val="dash"/>
          </a:ln>
        </p:spPr>
      </p:sp>
      <p:sp>
        <p:nvSpPr>
          <p:cNvPr id="26" name="Shape 18"/>
          <p:cNvSpPr/>
          <p:nvPr/>
        </p:nvSpPr>
        <p:spPr>
          <a:xfrm>
            <a:off x="9875520" y="2011680"/>
            <a:ext cx="868680" cy="868680"/>
          </a:xfrm>
          <a:prstGeom prst="ellipse">
            <a:avLst/>
          </a:prstGeom>
          <a:solidFill>
            <a:srgbClr val="F59E0B"/>
          </a:solidFill>
          <a:ln w="12700">
            <a:solidFill>
              <a:srgbClr val="F59E0B"/>
            </a:solidFill>
            <a:prstDash val="solid"/>
          </a:ln>
        </p:spPr>
      </p:sp>
      <p:pic>
        <p:nvPicPr>
          <p:cNvPr id="27" name="Image 6" descr="preencoded.png">    </p:cNvPr>
          <p:cNvPicPr>
            <a:picLocks noChangeAspect="1"/>
          </p:cNvPicPr>
          <p:nvPr/>
        </p:nvPicPr>
        <p:blipFill>
          <a:blip r:embed="rId7"/>
          <a:stretch>
            <a:fillRect/>
          </a:stretch>
        </p:blipFill>
        <p:spPr>
          <a:xfrm>
            <a:off x="10066630" y="2202790"/>
            <a:ext cx="486461" cy="486461"/>
          </a:xfrm>
          <a:prstGeom prst="rect">
            <a:avLst/>
          </a:prstGeom>
        </p:spPr>
      </p:pic>
      <p:sp>
        <p:nvSpPr>
          <p:cNvPr id="28" name="Text 19"/>
          <p:cNvSpPr txBox="1"/>
          <p:nvPr/>
        </p:nvSpPr>
        <p:spPr>
          <a:xfrm>
            <a:off x="9189720" y="3063240"/>
            <a:ext cx="2240280" cy="502920"/>
          </a:xfrm>
          <a:prstGeom prst="rect">
            <a:avLst/>
          </a:prstGeom>
          <a:noFill/>
          <a:ln/>
        </p:spPr>
        <p:txBody>
          <a:bodyPr wrap="square" lIns="0" tIns="0" rIns="0" bIns="0" rtlCol="0" anchor="t"/>
          <a:lstStyle/>
          <a:p>
            <a:pPr algn="ctr" indent="0" marL="0">
              <a:buNone/>
            </a:pPr>
            <a:r>
              <a:rPr lang="en-US" sz="2300" dirty="0">
                <a:solidFill>
                  <a:srgbClr val="F59E0B"/>
                </a:solidFill>
                <a:latin typeface="Baloo Da 2" pitchFamily="34" charset="0"/>
                <a:ea typeface="Baloo Da 2" pitchFamily="34" charset="-122"/>
                <a:cs typeface="Baloo Da 2" pitchFamily="34" charset="-120"/>
              </a:rPr>
              <a:t>ডাটাবেস</a:t>
            </a:r>
            <a:endParaRPr lang="en-US" sz="2300" dirty="0"/>
          </a:p>
        </p:txBody>
      </p:sp>
      <p:sp>
        <p:nvSpPr>
          <p:cNvPr id="29" name="Text 20"/>
          <p:cNvSpPr txBox="1"/>
          <p:nvPr/>
        </p:nvSpPr>
        <p:spPr>
          <a:xfrm>
            <a:off x="9189720" y="3657600"/>
            <a:ext cx="2240280" cy="914400"/>
          </a:xfrm>
          <a:prstGeom prst="rect">
            <a:avLst/>
          </a:prstGeom>
          <a:noFill/>
          <a:ln/>
        </p:spPr>
        <p:txBody>
          <a:bodyPr wrap="square" lIns="0" tIns="0" rIns="0" bIns="0" rtlCol="0" anchor="t"/>
          <a:lstStyle/>
          <a:p>
            <a:pPr algn="ctr" indent="0" marL="0">
              <a:buNone/>
            </a:pPr>
            <a:r>
              <a:rPr lang="en-US" sz="1700" dirty="0">
                <a:solidFill>
                  <a:srgbClr val="FFF7E6"/>
                </a:solidFill>
                <a:latin typeface="Baloo Da 2" pitchFamily="34" charset="0"/>
                <a:ea typeface="Baloo Da 2" pitchFamily="34" charset="-122"/>
                <a:cs typeface="Baloo Da 2" pitchFamily="34" charset="-120"/>
              </a:rPr>
              <a:t>PostgreSQL</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চ্যালেঞ্জ আর সমাধান</a:t>
            </a:r>
            <a:endParaRPr lang="en-US" sz="3400" dirty="0"/>
          </a:p>
        </p:txBody>
      </p:sp>
      <p:sp>
        <p:nvSpPr>
          <p:cNvPr id="3" name="Shape 1"/>
          <p:cNvSpPr/>
          <p:nvPr/>
        </p:nvSpPr>
        <p:spPr>
          <a:xfrm>
            <a:off x="548640" y="1463040"/>
            <a:ext cx="5394960" cy="2103120"/>
          </a:xfrm>
          <a:prstGeom prst="roundRect">
            <a:avLst>
              <a:gd name="adj" fmla="val 5217"/>
            </a:avLst>
          </a:prstGeom>
          <a:solidFill>
            <a:srgbClr val="FFFBF2"/>
          </a:solidFill>
          <a:ln w="22225">
            <a:solidFill>
              <a:srgbClr val="B91C1C"/>
            </a:solidFill>
            <a:prstDash val="dash"/>
          </a:ln>
        </p:spPr>
      </p:sp>
      <p:sp>
        <p:nvSpPr>
          <p:cNvPr id="4" name="Text 2"/>
          <p:cNvSpPr txBox="1"/>
          <p:nvPr/>
        </p:nvSpPr>
        <p:spPr>
          <a:xfrm>
            <a:off x="914400" y="1737360"/>
            <a:ext cx="4663440" cy="640080"/>
          </a:xfrm>
          <a:prstGeom prst="rect">
            <a:avLst/>
          </a:prstGeom>
          <a:noFill/>
          <a:ln/>
        </p:spPr>
        <p:txBody>
          <a:bodyPr wrap="square" lIns="0" tIns="0" rIns="0" bIns="0" rtlCol="0" anchor="ctr"/>
          <a:lstStyle/>
          <a:p>
            <a:pPr indent="0" marL="0">
              <a:buNone/>
            </a:pPr>
            <a:r>
              <a:rPr lang="en-US" sz="2200" dirty="0">
                <a:solidFill>
                  <a:srgbClr val="B91C1C"/>
                </a:solidFill>
                <a:latin typeface="Baloo Da 2" pitchFamily="34" charset="0"/>
                <a:ea typeface="Baloo Da 2" pitchFamily="34" charset="-122"/>
                <a:cs typeface="Baloo Da 2" pitchFamily="34" charset="-120"/>
              </a:rPr>
              <a:t>সবখানে বাংলা সংখ্যা</a:t>
            </a:r>
            <a:endParaRPr lang="en-US" sz="2200" dirty="0"/>
          </a:p>
        </p:txBody>
      </p:sp>
      <p:pic>
        <p:nvPicPr>
          <p:cNvPr id="5" name="Image 0" descr="preencoded.png">    </p:cNvPr>
          <p:cNvPicPr>
            <a:picLocks noChangeAspect="1"/>
          </p:cNvPicPr>
          <p:nvPr/>
        </p:nvPicPr>
        <p:blipFill>
          <a:blip r:embed="rId1"/>
          <a:stretch>
            <a:fillRect/>
          </a:stretch>
        </p:blipFill>
        <p:spPr>
          <a:xfrm>
            <a:off x="914400" y="2624328"/>
            <a:ext cx="365760" cy="365760"/>
          </a:xfrm>
          <a:prstGeom prst="rect">
            <a:avLst/>
          </a:prstGeom>
        </p:spPr>
      </p:pic>
      <p:sp>
        <p:nvSpPr>
          <p:cNvPr id="6" name="Text 3"/>
          <p:cNvSpPr txBox="1"/>
          <p:nvPr/>
        </p:nvSpPr>
        <p:spPr>
          <a:xfrm>
            <a:off x="1463040" y="2487168"/>
            <a:ext cx="4206240" cy="64008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নিজেদের ছোট ফাংশন</a:t>
            </a:r>
            <a:endParaRPr lang="en-US" sz="2200" dirty="0"/>
          </a:p>
        </p:txBody>
      </p:sp>
      <p:sp>
        <p:nvSpPr>
          <p:cNvPr id="7" name="Shape 4"/>
          <p:cNvSpPr/>
          <p:nvPr/>
        </p:nvSpPr>
        <p:spPr>
          <a:xfrm>
            <a:off x="6190488" y="1463040"/>
            <a:ext cx="5394960" cy="2103120"/>
          </a:xfrm>
          <a:prstGeom prst="roundRect">
            <a:avLst>
              <a:gd name="adj" fmla="val 5217"/>
            </a:avLst>
          </a:prstGeom>
          <a:solidFill>
            <a:srgbClr val="FFFBF2"/>
          </a:solidFill>
          <a:ln w="22225">
            <a:solidFill>
              <a:srgbClr val="B91C1C"/>
            </a:solidFill>
            <a:prstDash val="dash"/>
          </a:ln>
        </p:spPr>
      </p:sp>
      <p:sp>
        <p:nvSpPr>
          <p:cNvPr id="8" name="Text 5"/>
          <p:cNvSpPr txBox="1"/>
          <p:nvPr/>
        </p:nvSpPr>
        <p:spPr>
          <a:xfrm>
            <a:off x="6556248" y="1737360"/>
            <a:ext cx="4663440" cy="640080"/>
          </a:xfrm>
          <a:prstGeom prst="rect">
            <a:avLst/>
          </a:prstGeom>
          <a:noFill/>
          <a:ln/>
        </p:spPr>
        <p:txBody>
          <a:bodyPr wrap="square" lIns="0" tIns="0" rIns="0" bIns="0" rtlCol="0" anchor="ctr"/>
          <a:lstStyle/>
          <a:p>
            <a:pPr indent="0" marL="0">
              <a:buNone/>
            </a:pPr>
            <a:r>
              <a:rPr lang="en-US" sz="2200" dirty="0">
                <a:solidFill>
                  <a:srgbClr val="B91C1C"/>
                </a:solidFill>
                <a:latin typeface="Baloo Da 2" pitchFamily="34" charset="0"/>
                <a:ea typeface="Baloo Da 2" pitchFamily="34" charset="-122"/>
                <a:cs typeface="Baloo Da 2" pitchFamily="34" charset="-120"/>
              </a:rPr>
              <a:t>কেউ দাম বদলালে</a:t>
            </a:r>
            <a:endParaRPr lang="en-US" sz="2200" dirty="0"/>
          </a:p>
        </p:txBody>
      </p:sp>
      <p:pic>
        <p:nvPicPr>
          <p:cNvPr id="9" name="Image 1" descr="preencoded.png">    </p:cNvPr>
          <p:cNvPicPr>
            <a:picLocks noChangeAspect="1"/>
          </p:cNvPicPr>
          <p:nvPr/>
        </p:nvPicPr>
        <p:blipFill>
          <a:blip r:embed="rId2"/>
          <a:stretch>
            <a:fillRect/>
          </a:stretch>
        </p:blipFill>
        <p:spPr>
          <a:xfrm>
            <a:off x="6556248" y="2624328"/>
            <a:ext cx="365760" cy="365760"/>
          </a:xfrm>
          <a:prstGeom prst="rect">
            <a:avLst/>
          </a:prstGeom>
        </p:spPr>
      </p:pic>
      <p:sp>
        <p:nvSpPr>
          <p:cNvPr id="10" name="Text 6"/>
          <p:cNvSpPr txBox="1"/>
          <p:nvPr/>
        </p:nvSpPr>
        <p:spPr>
          <a:xfrm>
            <a:off x="7104888" y="2487168"/>
            <a:ext cx="4206240" cy="64008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দাম হিসাব হয় সার্ভারে</a:t>
            </a:r>
            <a:endParaRPr lang="en-US" sz="2200" dirty="0"/>
          </a:p>
        </p:txBody>
      </p:sp>
      <p:sp>
        <p:nvSpPr>
          <p:cNvPr id="11" name="Shape 7"/>
          <p:cNvSpPr/>
          <p:nvPr/>
        </p:nvSpPr>
        <p:spPr>
          <a:xfrm>
            <a:off x="548640" y="3840480"/>
            <a:ext cx="5394960" cy="2103120"/>
          </a:xfrm>
          <a:prstGeom prst="roundRect">
            <a:avLst>
              <a:gd name="adj" fmla="val 5217"/>
            </a:avLst>
          </a:prstGeom>
          <a:solidFill>
            <a:srgbClr val="FFFBF2"/>
          </a:solidFill>
          <a:ln w="22225">
            <a:solidFill>
              <a:srgbClr val="B91C1C"/>
            </a:solidFill>
            <a:prstDash val="dash"/>
          </a:ln>
        </p:spPr>
      </p:sp>
      <p:sp>
        <p:nvSpPr>
          <p:cNvPr id="12" name="Text 8"/>
          <p:cNvSpPr txBox="1"/>
          <p:nvPr/>
        </p:nvSpPr>
        <p:spPr>
          <a:xfrm>
            <a:off x="914400" y="4114800"/>
            <a:ext cx="4663440" cy="640080"/>
          </a:xfrm>
          <a:prstGeom prst="rect">
            <a:avLst/>
          </a:prstGeom>
          <a:noFill/>
          <a:ln/>
        </p:spPr>
        <p:txBody>
          <a:bodyPr wrap="square" lIns="0" tIns="0" rIns="0" bIns="0" rtlCol="0" anchor="ctr"/>
          <a:lstStyle/>
          <a:p>
            <a:pPr indent="0" marL="0">
              <a:buNone/>
            </a:pPr>
            <a:r>
              <a:rPr lang="en-US" sz="2200" dirty="0">
                <a:solidFill>
                  <a:srgbClr val="B91C1C"/>
                </a:solidFill>
                <a:latin typeface="Baloo Da 2" pitchFamily="34" charset="0"/>
                <a:ea typeface="Baloo Da 2" pitchFamily="34" charset="-122"/>
                <a:cs typeface="Baloo Da 2" pitchFamily="34" charset="-120"/>
              </a:rPr>
              <a:t>অর্ডারের মাঝে ব্যাক বাটন</a:t>
            </a:r>
            <a:endParaRPr lang="en-US" sz="2200" dirty="0"/>
          </a:p>
        </p:txBody>
      </p:sp>
      <p:pic>
        <p:nvPicPr>
          <p:cNvPr id="13" name="Image 2" descr="preencoded.png">    </p:cNvPr>
          <p:cNvPicPr>
            <a:picLocks noChangeAspect="1"/>
          </p:cNvPicPr>
          <p:nvPr/>
        </p:nvPicPr>
        <p:blipFill>
          <a:blip r:embed="rId3"/>
          <a:stretch>
            <a:fillRect/>
          </a:stretch>
        </p:blipFill>
        <p:spPr>
          <a:xfrm>
            <a:off x="914400" y="5001768"/>
            <a:ext cx="365760" cy="365760"/>
          </a:xfrm>
          <a:prstGeom prst="rect">
            <a:avLst/>
          </a:prstGeom>
        </p:spPr>
      </p:pic>
      <p:sp>
        <p:nvSpPr>
          <p:cNvPr id="14" name="Text 9"/>
          <p:cNvSpPr txBox="1"/>
          <p:nvPr/>
        </p:nvSpPr>
        <p:spPr>
          <a:xfrm>
            <a:off x="1463040" y="4864608"/>
            <a:ext cx="4206240" cy="64008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ধাপ থাকে লিংকে</a:t>
            </a:r>
            <a:endParaRPr lang="en-US" sz="2200" dirty="0"/>
          </a:p>
        </p:txBody>
      </p:sp>
      <p:sp>
        <p:nvSpPr>
          <p:cNvPr id="15" name="Shape 10"/>
          <p:cNvSpPr/>
          <p:nvPr/>
        </p:nvSpPr>
        <p:spPr>
          <a:xfrm>
            <a:off x="6190488" y="3840480"/>
            <a:ext cx="5394960" cy="2103120"/>
          </a:xfrm>
          <a:prstGeom prst="roundRect">
            <a:avLst>
              <a:gd name="adj" fmla="val 5217"/>
            </a:avLst>
          </a:prstGeom>
          <a:solidFill>
            <a:srgbClr val="FFFBF2"/>
          </a:solidFill>
          <a:ln w="22225">
            <a:solidFill>
              <a:srgbClr val="B91C1C"/>
            </a:solidFill>
            <a:prstDash val="dash"/>
          </a:ln>
        </p:spPr>
      </p:sp>
      <p:sp>
        <p:nvSpPr>
          <p:cNvPr id="16" name="Text 11"/>
          <p:cNvSpPr txBox="1"/>
          <p:nvPr/>
        </p:nvSpPr>
        <p:spPr>
          <a:xfrm>
            <a:off x="6556248" y="4114800"/>
            <a:ext cx="4663440" cy="640080"/>
          </a:xfrm>
          <a:prstGeom prst="rect">
            <a:avLst/>
          </a:prstGeom>
          <a:noFill/>
          <a:ln/>
        </p:spPr>
        <p:txBody>
          <a:bodyPr wrap="square" lIns="0" tIns="0" rIns="0" bIns="0" rtlCol="0" anchor="ctr"/>
          <a:lstStyle/>
          <a:p>
            <a:pPr indent="0" marL="0">
              <a:buNone/>
            </a:pPr>
            <a:r>
              <a:rPr lang="en-US" sz="2200" dirty="0">
                <a:solidFill>
                  <a:srgbClr val="B91C1C"/>
                </a:solidFill>
                <a:latin typeface="Baloo Da 2" pitchFamily="34" charset="0"/>
                <a:ea typeface="Baloo Da 2" pitchFamily="34" charset="-122"/>
                <a:cs typeface="Baloo Da 2" pitchFamily="34" charset="-120"/>
              </a:rPr>
              <a:t>অনেক বিক্রেতা, এক ঝুড়ি</a:t>
            </a:r>
            <a:endParaRPr lang="en-US" sz="2200" dirty="0"/>
          </a:p>
        </p:txBody>
      </p:sp>
      <p:pic>
        <p:nvPicPr>
          <p:cNvPr id="17" name="Image 3" descr="preencoded.png">    </p:cNvPr>
          <p:cNvPicPr>
            <a:picLocks noChangeAspect="1"/>
          </p:cNvPicPr>
          <p:nvPr/>
        </p:nvPicPr>
        <p:blipFill>
          <a:blip r:embed="rId4"/>
          <a:stretch>
            <a:fillRect/>
          </a:stretch>
        </p:blipFill>
        <p:spPr>
          <a:xfrm>
            <a:off x="6556248" y="5001768"/>
            <a:ext cx="365760" cy="365760"/>
          </a:xfrm>
          <a:prstGeom prst="rect">
            <a:avLst/>
          </a:prstGeom>
        </p:spPr>
      </p:pic>
      <p:sp>
        <p:nvSpPr>
          <p:cNvPr id="18" name="Text 12"/>
          <p:cNvSpPr txBox="1"/>
          <p:nvPr/>
        </p:nvSpPr>
        <p:spPr>
          <a:xfrm>
            <a:off x="7104888" y="4864608"/>
            <a:ext cx="4206240" cy="640080"/>
          </a:xfrm>
          <a:prstGeom prst="rect">
            <a:avLst/>
          </a:prstGeom>
          <a:noFill/>
          <a:ln/>
        </p:spPr>
        <p:txBody>
          <a:bodyPr wrap="square" lIns="0" tIns="0" rIns="0" bIns="0" rtlCol="0" anchor="ctr"/>
          <a:lstStyle/>
          <a:p>
            <a:pPr indent="0" marL="0">
              <a:buNone/>
            </a:pPr>
            <a:r>
              <a:rPr lang="en-US" sz="2200" dirty="0">
                <a:solidFill>
                  <a:srgbClr val="2F6B3A"/>
                </a:solidFill>
                <a:latin typeface="Baloo Da 2" pitchFamily="34" charset="0"/>
                <a:ea typeface="Baloo Da 2" pitchFamily="34" charset="-122"/>
                <a:cs typeface="Baloo Da 2" pitchFamily="34" charset="-120"/>
              </a:rPr>
              <a:t>অর্ডার ভাগ হয়ে যায়</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FFF7E6"/>
                </a:solidFill>
                <a:latin typeface="Tiro Bangla" pitchFamily="34" charset="0"/>
                <a:ea typeface="Tiro Bangla" pitchFamily="34" charset="-122"/>
                <a:cs typeface="Tiro Bangla" pitchFamily="34" charset="-120"/>
              </a:rPr>
              <a:t>এর প্রভাব</a:t>
            </a:r>
            <a:endParaRPr lang="en-US" sz="3400" dirty="0"/>
          </a:p>
        </p:txBody>
      </p:sp>
      <p:sp>
        <p:nvSpPr>
          <p:cNvPr id="3" name="Shape 1"/>
          <p:cNvSpPr/>
          <p:nvPr/>
        </p:nvSpPr>
        <p:spPr>
          <a:xfrm>
            <a:off x="548640" y="1554480"/>
            <a:ext cx="2514600" cy="3108960"/>
          </a:xfrm>
          <a:prstGeom prst="roundRect">
            <a:avLst>
              <a:gd name="adj" fmla="val 4364"/>
            </a:avLst>
          </a:prstGeom>
          <a:solidFill>
            <a:srgbClr val="1F3B73"/>
          </a:solidFill>
          <a:ln w="22225">
            <a:solidFill>
              <a:srgbClr val="F59E0B"/>
            </a:solidFill>
            <a:prstDash val="dash"/>
          </a:ln>
        </p:spPr>
      </p:sp>
      <p:sp>
        <p:nvSpPr>
          <p:cNvPr id="4" name="Shape 2"/>
          <p:cNvSpPr/>
          <p:nvPr/>
        </p:nvSpPr>
        <p:spPr>
          <a:xfrm>
            <a:off x="1280160" y="1920240"/>
            <a:ext cx="1051560" cy="1051560"/>
          </a:xfrm>
          <a:prstGeom prst="ellipse">
            <a:avLst/>
          </a:prstGeom>
          <a:solidFill>
            <a:srgbClr val="F59E0B"/>
          </a:solidFill>
          <a:ln w="12700">
            <a:solidFill>
              <a:srgbClr val="F59E0B"/>
            </a:solidFill>
            <a:prstDash val="solid"/>
          </a:ln>
        </p:spPr>
      </p:sp>
      <p:pic>
        <p:nvPicPr>
          <p:cNvPr id="5" name="Image 0" descr="preencoded.png">    </p:cNvPr>
          <p:cNvPicPr>
            <a:picLocks noChangeAspect="1"/>
          </p:cNvPicPr>
          <p:nvPr/>
        </p:nvPicPr>
        <p:blipFill>
          <a:blip r:embed="rId1"/>
          <a:stretch>
            <a:fillRect/>
          </a:stretch>
        </p:blipFill>
        <p:spPr>
          <a:xfrm>
            <a:off x="1511503" y="2151583"/>
            <a:ext cx="588874" cy="588874"/>
          </a:xfrm>
          <a:prstGeom prst="rect">
            <a:avLst/>
          </a:prstGeom>
        </p:spPr>
      </p:pic>
      <p:sp>
        <p:nvSpPr>
          <p:cNvPr id="6" name="Text 3"/>
          <p:cNvSpPr txBox="1"/>
          <p:nvPr/>
        </p:nvSpPr>
        <p:spPr>
          <a:xfrm>
            <a:off x="731520" y="3200400"/>
            <a:ext cx="2148840" cy="1188720"/>
          </a:xfrm>
          <a:prstGeom prst="rect">
            <a:avLst/>
          </a:prstGeom>
          <a:noFill/>
          <a:ln/>
        </p:spPr>
        <p:txBody>
          <a:bodyPr wrap="square" lIns="0" tIns="0" rIns="0" bIns="0" rtlCol="0" anchor="ctr"/>
          <a:lstStyle/>
          <a:p>
            <a:pPr algn="ctr" indent="0" marL="0">
              <a:buNone/>
            </a:pPr>
            <a:r>
              <a:rPr lang="en-US" sz="2100" dirty="0">
                <a:solidFill>
                  <a:srgbClr val="FFF7E6"/>
                </a:solidFill>
                <a:latin typeface="Baloo Da 2" pitchFamily="34" charset="0"/>
                <a:ea typeface="Baloo Da 2" pitchFamily="34" charset="-122"/>
                <a:cs typeface="Baloo Da 2" pitchFamily="34" charset="-120"/>
              </a:rPr>
              <a:t>কারিগরের আয় বাড়ে</a:t>
            </a:r>
            <a:endParaRPr lang="en-US" sz="2100" dirty="0"/>
          </a:p>
        </p:txBody>
      </p:sp>
      <p:sp>
        <p:nvSpPr>
          <p:cNvPr id="7" name="Shape 4"/>
          <p:cNvSpPr/>
          <p:nvPr/>
        </p:nvSpPr>
        <p:spPr>
          <a:xfrm>
            <a:off x="3383280" y="1554480"/>
            <a:ext cx="2514600" cy="3108960"/>
          </a:xfrm>
          <a:prstGeom prst="roundRect">
            <a:avLst>
              <a:gd name="adj" fmla="val 4364"/>
            </a:avLst>
          </a:prstGeom>
          <a:solidFill>
            <a:srgbClr val="1F3B73"/>
          </a:solidFill>
          <a:ln w="22225">
            <a:solidFill>
              <a:srgbClr val="F59E0B"/>
            </a:solidFill>
            <a:prstDash val="dash"/>
          </a:ln>
        </p:spPr>
      </p:sp>
      <p:sp>
        <p:nvSpPr>
          <p:cNvPr id="8" name="Shape 5"/>
          <p:cNvSpPr/>
          <p:nvPr/>
        </p:nvSpPr>
        <p:spPr>
          <a:xfrm>
            <a:off x="4114800" y="1920240"/>
            <a:ext cx="1051560" cy="1051560"/>
          </a:xfrm>
          <a:prstGeom prst="ellipse">
            <a:avLst/>
          </a:prstGeom>
          <a:solidFill>
            <a:srgbClr val="F59E0B"/>
          </a:solidFill>
          <a:ln w="12700">
            <a:solidFill>
              <a:srgbClr val="F59E0B"/>
            </a:solidFill>
            <a:prstDash val="solid"/>
          </a:ln>
        </p:spPr>
      </p:sp>
      <p:pic>
        <p:nvPicPr>
          <p:cNvPr id="9" name="Image 1" descr="preencoded.png">    </p:cNvPr>
          <p:cNvPicPr>
            <a:picLocks noChangeAspect="1"/>
          </p:cNvPicPr>
          <p:nvPr/>
        </p:nvPicPr>
        <p:blipFill>
          <a:blip r:embed="rId2"/>
          <a:stretch>
            <a:fillRect/>
          </a:stretch>
        </p:blipFill>
        <p:spPr>
          <a:xfrm>
            <a:off x="4346143" y="2151583"/>
            <a:ext cx="588874" cy="588874"/>
          </a:xfrm>
          <a:prstGeom prst="rect">
            <a:avLst/>
          </a:prstGeom>
        </p:spPr>
      </p:pic>
      <p:sp>
        <p:nvSpPr>
          <p:cNvPr id="10" name="Text 6"/>
          <p:cNvSpPr txBox="1"/>
          <p:nvPr/>
        </p:nvSpPr>
        <p:spPr>
          <a:xfrm>
            <a:off x="3566160" y="3200400"/>
            <a:ext cx="2148840" cy="1188720"/>
          </a:xfrm>
          <a:prstGeom prst="rect">
            <a:avLst/>
          </a:prstGeom>
          <a:noFill/>
          <a:ln/>
        </p:spPr>
        <p:txBody>
          <a:bodyPr wrap="square" lIns="0" tIns="0" rIns="0" bIns="0" rtlCol="0" anchor="ctr"/>
          <a:lstStyle/>
          <a:p>
            <a:pPr algn="ctr" indent="0" marL="0">
              <a:buNone/>
            </a:pPr>
            <a:r>
              <a:rPr lang="en-US" sz="2100" dirty="0">
                <a:solidFill>
                  <a:srgbClr val="FFF7E6"/>
                </a:solidFill>
                <a:latin typeface="Baloo Da 2" pitchFamily="34" charset="0"/>
                <a:ea typeface="Baloo Da 2" pitchFamily="34" charset="-122"/>
                <a:cs typeface="Baloo Da 2" pitchFamily="34" charset="-120"/>
              </a:rPr>
              <a:t>নারীরা ঘরে বসে আয় করেন</a:t>
            </a:r>
            <a:endParaRPr lang="en-US" sz="2100" dirty="0"/>
          </a:p>
        </p:txBody>
      </p:sp>
      <p:sp>
        <p:nvSpPr>
          <p:cNvPr id="11" name="Shape 7"/>
          <p:cNvSpPr/>
          <p:nvPr/>
        </p:nvSpPr>
        <p:spPr>
          <a:xfrm>
            <a:off x="6217920" y="1554480"/>
            <a:ext cx="2514600" cy="3108960"/>
          </a:xfrm>
          <a:prstGeom prst="roundRect">
            <a:avLst>
              <a:gd name="adj" fmla="val 4364"/>
            </a:avLst>
          </a:prstGeom>
          <a:solidFill>
            <a:srgbClr val="1F3B73"/>
          </a:solidFill>
          <a:ln w="22225">
            <a:solidFill>
              <a:srgbClr val="F59E0B"/>
            </a:solidFill>
            <a:prstDash val="dash"/>
          </a:ln>
        </p:spPr>
      </p:sp>
      <p:sp>
        <p:nvSpPr>
          <p:cNvPr id="12" name="Shape 8"/>
          <p:cNvSpPr/>
          <p:nvPr/>
        </p:nvSpPr>
        <p:spPr>
          <a:xfrm>
            <a:off x="6949440" y="1920240"/>
            <a:ext cx="1051560" cy="1051560"/>
          </a:xfrm>
          <a:prstGeom prst="ellipse">
            <a:avLst/>
          </a:prstGeom>
          <a:solidFill>
            <a:srgbClr val="F59E0B"/>
          </a:solidFill>
          <a:ln w="12700">
            <a:solidFill>
              <a:srgbClr val="F59E0B"/>
            </a:solidFill>
            <a:prstDash val="solid"/>
          </a:ln>
        </p:spPr>
      </p:sp>
      <p:pic>
        <p:nvPicPr>
          <p:cNvPr id="13" name="Image 2" descr="preencoded.png">    </p:cNvPr>
          <p:cNvPicPr>
            <a:picLocks noChangeAspect="1"/>
          </p:cNvPicPr>
          <p:nvPr/>
        </p:nvPicPr>
        <p:blipFill>
          <a:blip r:embed="rId3"/>
          <a:stretch>
            <a:fillRect/>
          </a:stretch>
        </p:blipFill>
        <p:spPr>
          <a:xfrm>
            <a:off x="7180783" y="2151583"/>
            <a:ext cx="588874" cy="588874"/>
          </a:xfrm>
          <a:prstGeom prst="rect">
            <a:avLst/>
          </a:prstGeom>
        </p:spPr>
      </p:pic>
      <p:sp>
        <p:nvSpPr>
          <p:cNvPr id="14" name="Text 9"/>
          <p:cNvSpPr txBox="1"/>
          <p:nvPr/>
        </p:nvSpPr>
        <p:spPr>
          <a:xfrm>
            <a:off x="6400800" y="3200400"/>
            <a:ext cx="2148840" cy="1188720"/>
          </a:xfrm>
          <a:prstGeom prst="rect">
            <a:avLst/>
          </a:prstGeom>
          <a:noFill/>
          <a:ln/>
        </p:spPr>
        <p:txBody>
          <a:bodyPr wrap="square" lIns="0" tIns="0" rIns="0" bIns="0" rtlCol="0" anchor="ctr"/>
          <a:lstStyle/>
          <a:p>
            <a:pPr algn="ctr" indent="0" marL="0">
              <a:buNone/>
            </a:pPr>
            <a:r>
              <a:rPr lang="en-US" sz="2100" dirty="0">
                <a:solidFill>
                  <a:srgbClr val="FFF7E6"/>
                </a:solidFill>
                <a:latin typeface="Baloo Da 2" pitchFamily="34" charset="0"/>
                <a:ea typeface="Baloo Da 2" pitchFamily="34" charset="-122"/>
                <a:cs typeface="Baloo Da 2" pitchFamily="34" charset="-120"/>
              </a:rPr>
              <a:t>হাতের কাজের ঐতিহ্য বাঁচে</a:t>
            </a:r>
            <a:endParaRPr lang="en-US" sz="2100" dirty="0"/>
          </a:p>
        </p:txBody>
      </p:sp>
      <p:sp>
        <p:nvSpPr>
          <p:cNvPr id="15" name="Shape 10"/>
          <p:cNvSpPr/>
          <p:nvPr/>
        </p:nvSpPr>
        <p:spPr>
          <a:xfrm>
            <a:off x="9052560" y="1554480"/>
            <a:ext cx="2514600" cy="3108960"/>
          </a:xfrm>
          <a:prstGeom prst="roundRect">
            <a:avLst>
              <a:gd name="adj" fmla="val 4364"/>
            </a:avLst>
          </a:prstGeom>
          <a:solidFill>
            <a:srgbClr val="1F3B73"/>
          </a:solidFill>
          <a:ln w="22225">
            <a:solidFill>
              <a:srgbClr val="F59E0B"/>
            </a:solidFill>
            <a:prstDash val="dash"/>
          </a:ln>
        </p:spPr>
      </p:sp>
      <p:sp>
        <p:nvSpPr>
          <p:cNvPr id="16" name="Shape 11"/>
          <p:cNvSpPr/>
          <p:nvPr/>
        </p:nvSpPr>
        <p:spPr>
          <a:xfrm>
            <a:off x="9784080" y="1920240"/>
            <a:ext cx="1051560" cy="1051560"/>
          </a:xfrm>
          <a:prstGeom prst="ellipse">
            <a:avLst/>
          </a:prstGeom>
          <a:solidFill>
            <a:srgbClr val="F59E0B"/>
          </a:solidFill>
          <a:ln w="12700">
            <a:solidFill>
              <a:srgbClr val="F59E0B"/>
            </a:solidFill>
            <a:prstDash val="solid"/>
          </a:ln>
        </p:spPr>
      </p:sp>
      <p:pic>
        <p:nvPicPr>
          <p:cNvPr id="17" name="Image 3" descr="preencoded.png">    </p:cNvPr>
          <p:cNvPicPr>
            <a:picLocks noChangeAspect="1"/>
          </p:cNvPicPr>
          <p:nvPr/>
        </p:nvPicPr>
        <p:blipFill>
          <a:blip r:embed="rId4"/>
          <a:stretch>
            <a:fillRect/>
          </a:stretch>
        </p:blipFill>
        <p:spPr>
          <a:xfrm>
            <a:off x="10015423" y="2151583"/>
            <a:ext cx="588874" cy="588874"/>
          </a:xfrm>
          <a:prstGeom prst="rect">
            <a:avLst/>
          </a:prstGeom>
        </p:spPr>
      </p:pic>
      <p:sp>
        <p:nvSpPr>
          <p:cNvPr id="18" name="Text 12"/>
          <p:cNvSpPr txBox="1"/>
          <p:nvPr/>
        </p:nvSpPr>
        <p:spPr>
          <a:xfrm>
            <a:off x="9235440" y="3200400"/>
            <a:ext cx="2148840" cy="1188720"/>
          </a:xfrm>
          <a:prstGeom prst="rect">
            <a:avLst/>
          </a:prstGeom>
          <a:noFill/>
          <a:ln/>
        </p:spPr>
        <p:txBody>
          <a:bodyPr wrap="square" lIns="0" tIns="0" rIns="0" bIns="0" rtlCol="0" anchor="ctr"/>
          <a:lstStyle/>
          <a:p>
            <a:pPr algn="ctr" indent="0" marL="0">
              <a:buNone/>
            </a:pPr>
            <a:r>
              <a:rPr lang="en-US" sz="2100" dirty="0">
                <a:solidFill>
                  <a:srgbClr val="FFF7E6"/>
                </a:solidFill>
                <a:latin typeface="Baloo Da 2" pitchFamily="34" charset="0"/>
                <a:ea typeface="Baloo Da 2" pitchFamily="34" charset="-122"/>
                <a:cs typeface="Baloo Da 2" pitchFamily="34" charset="-120"/>
              </a:rPr>
              <a:t>টাকা যায় গ্রামে</a:t>
            </a:r>
            <a:endParaRPr lang="en-US" sz="2100" dirty="0"/>
          </a:p>
        </p:txBody>
      </p:sp>
      <p:sp>
        <p:nvSpPr>
          <p:cNvPr id="19" name="Shape 13"/>
          <p:cNvSpPr/>
          <p:nvPr/>
        </p:nvSpPr>
        <p:spPr>
          <a:xfrm>
            <a:off x="548640" y="5029200"/>
            <a:ext cx="11036808" cy="1051560"/>
          </a:xfrm>
          <a:prstGeom prst="roundRect">
            <a:avLst>
              <a:gd name="adj" fmla="val 10435"/>
            </a:avLst>
          </a:prstGeom>
          <a:solidFill>
            <a:srgbClr val="F59E0B"/>
          </a:solidFill>
          <a:ln w="22225">
            <a:solidFill>
              <a:srgbClr val="FFF7E6"/>
            </a:solidFill>
            <a:prstDash val="dash"/>
          </a:ln>
        </p:spPr>
      </p:sp>
      <p:sp>
        <p:nvSpPr>
          <p:cNvPr id="20" name="Text 14"/>
          <p:cNvSpPr txBox="1"/>
          <p:nvPr/>
        </p:nvSpPr>
        <p:spPr>
          <a:xfrm>
            <a:off x="548640" y="5029200"/>
            <a:ext cx="11036808" cy="1051560"/>
          </a:xfrm>
          <a:prstGeom prst="rect">
            <a:avLst/>
          </a:prstGeom>
          <a:noFill/>
          <a:ln/>
        </p:spPr>
        <p:txBody>
          <a:bodyPr wrap="square" lIns="0" tIns="0" rIns="0" bIns="0" rtlCol="0" anchor="ctr"/>
          <a:lstStyle/>
          <a:p>
            <a:pPr algn="ctr" indent="0" marL="0">
              <a:buNone/>
            </a:pPr>
            <a:r>
              <a:rPr lang="en-US" sz="2400" dirty="0">
                <a:solidFill>
                  <a:srgbClr val="1F3B73"/>
                </a:solidFill>
                <a:latin typeface="Baloo Da 2" pitchFamily="34" charset="0"/>
                <a:ea typeface="Baloo Da 2" pitchFamily="34" charset="-122"/>
                <a:cs typeface="Baloo Da 2" pitchFamily="34" charset="-120"/>
              </a:rPr>
              <a:t>একটা কেনা মানে একজন কারিগরের পাশে দাঁড়ানো</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2" type="title" hasCustomPrompt="1"/>
          </p:nvPr>
        </p:nvSpPr>
        <p:spPr>
          <a:xfrm>
            <a:off x="1188720" y="320040"/>
            <a:ext cx="10424160" cy="777240"/>
          </a:xfrm>
          <a:prstGeom prst="rect">
            <a:avLst/>
          </a:prstGeom>
          <a:noFill/>
          <a:ln/>
        </p:spPr>
        <p:txBody>
          <a:bodyPr wrap="square" lIns="0" tIns="0" rIns="0" bIns="0" rtlCol="0" anchor="ctr"/>
          <a:lstStyle/>
          <a:p>
            <a:pPr algn="l" indent="0" marL="0">
              <a:buNone/>
            </a:pPr>
            <a:r>
              <a:rPr lang="en-US" sz="3400" dirty="0">
                <a:solidFill>
                  <a:srgbClr val="7F1D1D"/>
                </a:solidFill>
                <a:latin typeface="Tiro Bangla" pitchFamily="34" charset="0"/>
                <a:ea typeface="Tiro Bangla" pitchFamily="34" charset="-122"/>
                <a:cs typeface="Tiro Bangla" pitchFamily="34" charset="-120"/>
              </a:rPr>
              <a:t>সামনের পরিকল্পনা</a:t>
            </a:r>
            <a:endParaRPr lang="en-US" sz="3400" dirty="0"/>
          </a:p>
        </p:txBody>
      </p:sp>
      <p:sp>
        <p:nvSpPr>
          <p:cNvPr id="3" name="Shape 1"/>
          <p:cNvSpPr/>
          <p:nvPr/>
        </p:nvSpPr>
        <p:spPr>
          <a:xfrm>
            <a:off x="685800" y="1554480"/>
            <a:ext cx="457200" cy="457200"/>
          </a:xfrm>
          <a:prstGeom prst="ellipse">
            <a:avLst/>
          </a:prstGeom>
          <a:solidFill>
            <a:srgbClr val="B91C1C"/>
          </a:solidFill>
          <a:ln w="38100">
            <a:solidFill>
              <a:srgbClr val="FFF7E6"/>
            </a:solidFill>
            <a:prstDash val="solid"/>
          </a:ln>
        </p:spPr>
      </p:sp>
      <p:sp>
        <p:nvSpPr>
          <p:cNvPr id="4" name="Text 2"/>
          <p:cNvSpPr txBox="1"/>
          <p:nvPr/>
        </p:nvSpPr>
        <p:spPr>
          <a:xfrm>
            <a:off x="1280160" y="1508760"/>
            <a:ext cx="2743200" cy="548640"/>
          </a:xfrm>
          <a:prstGeom prst="rect">
            <a:avLst/>
          </a:prstGeom>
          <a:noFill/>
          <a:ln/>
        </p:spPr>
        <p:txBody>
          <a:bodyPr wrap="square" lIns="0" tIns="0" rIns="0" bIns="0" rtlCol="0" anchor="ctr"/>
          <a:lstStyle/>
          <a:p>
            <a:pPr indent="0" marL="0">
              <a:buNone/>
            </a:pPr>
            <a:r>
              <a:rPr lang="en-US" sz="2600" dirty="0">
                <a:solidFill>
                  <a:srgbClr val="7F1D1D"/>
                </a:solidFill>
                <a:latin typeface="Tiro Bangla" pitchFamily="34" charset="0"/>
                <a:ea typeface="Tiro Bangla" pitchFamily="34" charset="-122"/>
                <a:cs typeface="Tiro Bangla" pitchFamily="34" charset="-120"/>
              </a:rPr>
              <a:t>শীঘ্রই</a:t>
            </a:r>
            <a:endParaRPr lang="en-US" sz="2600" dirty="0"/>
          </a:p>
        </p:txBody>
      </p:sp>
      <p:sp>
        <p:nvSpPr>
          <p:cNvPr id="5" name="Shape 3"/>
          <p:cNvSpPr/>
          <p:nvPr/>
        </p:nvSpPr>
        <p:spPr>
          <a:xfrm>
            <a:off x="548640" y="2331720"/>
            <a:ext cx="3520440" cy="3749040"/>
          </a:xfrm>
          <a:prstGeom prst="roundRect">
            <a:avLst>
              <a:gd name="adj" fmla="val 3117"/>
            </a:avLst>
          </a:prstGeom>
          <a:solidFill>
            <a:srgbClr val="FFFBF2"/>
          </a:solidFill>
          <a:ln w="22225">
            <a:solidFill>
              <a:srgbClr val="B91C1C"/>
            </a:solidFill>
            <a:prstDash val="dash"/>
          </a:ln>
        </p:spPr>
      </p:sp>
      <p:sp>
        <p:nvSpPr>
          <p:cNvPr id="6" name="Shape 4"/>
          <p:cNvSpPr/>
          <p:nvPr/>
        </p:nvSpPr>
        <p:spPr>
          <a:xfrm>
            <a:off x="822960" y="2606040"/>
            <a:ext cx="685800" cy="685800"/>
          </a:xfrm>
          <a:prstGeom prst="ellipse">
            <a:avLst/>
          </a:prstGeom>
          <a:solidFill>
            <a:srgbClr val="FDEECB"/>
          </a:solidFill>
          <a:ln w="12700">
            <a:solidFill>
              <a:srgbClr val="FDEECB"/>
            </a:solidFill>
            <a:prstDash val="solid"/>
          </a:ln>
        </p:spPr>
      </p:sp>
      <p:pic>
        <p:nvPicPr>
          <p:cNvPr id="7" name="Image 0" descr="preencoded.png">    </p:cNvPr>
          <p:cNvPicPr>
            <a:picLocks noChangeAspect="1"/>
          </p:cNvPicPr>
          <p:nvPr/>
        </p:nvPicPr>
        <p:blipFill>
          <a:blip r:embed="rId1"/>
          <a:stretch>
            <a:fillRect/>
          </a:stretch>
        </p:blipFill>
        <p:spPr>
          <a:xfrm>
            <a:off x="973836" y="2756916"/>
            <a:ext cx="384048" cy="384048"/>
          </a:xfrm>
          <a:prstGeom prst="rect">
            <a:avLst/>
          </a:prstGeom>
        </p:spPr>
      </p:pic>
      <p:sp>
        <p:nvSpPr>
          <p:cNvPr id="8" name="Text 5"/>
          <p:cNvSpPr txBox="1"/>
          <p:nvPr/>
        </p:nvSpPr>
        <p:spPr>
          <a:xfrm>
            <a:off x="1645920" y="2606040"/>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SMS-এ অর্ডারের খবর</a:t>
            </a:r>
            <a:endParaRPr lang="en-US" sz="1900" dirty="0"/>
          </a:p>
        </p:txBody>
      </p:sp>
      <p:sp>
        <p:nvSpPr>
          <p:cNvPr id="9" name="Shape 6"/>
          <p:cNvSpPr/>
          <p:nvPr/>
        </p:nvSpPr>
        <p:spPr>
          <a:xfrm>
            <a:off x="822960" y="3721608"/>
            <a:ext cx="685800" cy="685800"/>
          </a:xfrm>
          <a:prstGeom prst="ellipse">
            <a:avLst/>
          </a:prstGeom>
          <a:solidFill>
            <a:srgbClr val="FDEECB"/>
          </a:solidFill>
          <a:ln w="12700">
            <a:solidFill>
              <a:srgbClr val="FDEECB"/>
            </a:solidFill>
            <a:prstDash val="solid"/>
          </a:ln>
        </p:spPr>
      </p:sp>
      <p:pic>
        <p:nvPicPr>
          <p:cNvPr id="10" name="Image 1" descr="preencoded.png">    </p:cNvPr>
          <p:cNvPicPr>
            <a:picLocks noChangeAspect="1"/>
          </p:cNvPicPr>
          <p:nvPr/>
        </p:nvPicPr>
        <p:blipFill>
          <a:blip r:embed="rId2"/>
          <a:stretch>
            <a:fillRect/>
          </a:stretch>
        </p:blipFill>
        <p:spPr>
          <a:xfrm>
            <a:off x="973836" y="3872484"/>
            <a:ext cx="384048" cy="384048"/>
          </a:xfrm>
          <a:prstGeom prst="rect">
            <a:avLst/>
          </a:prstGeom>
        </p:spPr>
      </p:pic>
      <p:sp>
        <p:nvSpPr>
          <p:cNvPr id="11" name="Text 7"/>
          <p:cNvSpPr txBox="1"/>
          <p:nvPr/>
        </p:nvSpPr>
        <p:spPr>
          <a:xfrm>
            <a:off x="1645920" y="3721608"/>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রিভিউ ও রেটিং</a:t>
            </a:r>
            <a:endParaRPr lang="en-US" sz="1900" dirty="0"/>
          </a:p>
        </p:txBody>
      </p:sp>
      <p:sp>
        <p:nvSpPr>
          <p:cNvPr id="12" name="Shape 8"/>
          <p:cNvSpPr/>
          <p:nvPr/>
        </p:nvSpPr>
        <p:spPr>
          <a:xfrm>
            <a:off x="822960" y="4837176"/>
            <a:ext cx="685800" cy="685800"/>
          </a:xfrm>
          <a:prstGeom prst="ellipse">
            <a:avLst/>
          </a:prstGeom>
          <a:solidFill>
            <a:srgbClr val="FDEECB"/>
          </a:solidFill>
          <a:ln w="12700">
            <a:solidFill>
              <a:srgbClr val="FDEECB"/>
            </a:solidFill>
            <a:prstDash val="solid"/>
          </a:ln>
        </p:spPr>
      </p:sp>
      <p:pic>
        <p:nvPicPr>
          <p:cNvPr id="13" name="Image 2" descr="preencoded.png">    </p:cNvPr>
          <p:cNvPicPr>
            <a:picLocks noChangeAspect="1"/>
          </p:cNvPicPr>
          <p:nvPr/>
        </p:nvPicPr>
        <p:blipFill>
          <a:blip r:embed="rId3"/>
          <a:stretch>
            <a:fillRect/>
          </a:stretch>
        </p:blipFill>
        <p:spPr>
          <a:xfrm>
            <a:off x="973836" y="4988052"/>
            <a:ext cx="384048" cy="384048"/>
          </a:xfrm>
          <a:prstGeom prst="rect">
            <a:avLst/>
          </a:prstGeom>
        </p:spPr>
      </p:pic>
      <p:sp>
        <p:nvSpPr>
          <p:cNvPr id="14" name="Text 9"/>
          <p:cNvSpPr txBox="1"/>
          <p:nvPr/>
        </p:nvSpPr>
        <p:spPr>
          <a:xfrm>
            <a:off x="1645920" y="4837176"/>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জেলার মানচিত্র</a:t>
            </a:r>
            <a:endParaRPr lang="en-US" sz="1900" dirty="0"/>
          </a:p>
        </p:txBody>
      </p:sp>
      <p:sp>
        <p:nvSpPr>
          <p:cNvPr id="15" name="Shape 10"/>
          <p:cNvSpPr/>
          <p:nvPr/>
        </p:nvSpPr>
        <p:spPr>
          <a:xfrm>
            <a:off x="4443984" y="1554480"/>
            <a:ext cx="457200" cy="457200"/>
          </a:xfrm>
          <a:prstGeom prst="ellipse">
            <a:avLst/>
          </a:prstGeom>
          <a:solidFill>
            <a:srgbClr val="F59E0B"/>
          </a:solidFill>
          <a:ln w="38100">
            <a:solidFill>
              <a:srgbClr val="FFF7E6"/>
            </a:solidFill>
            <a:prstDash val="solid"/>
          </a:ln>
        </p:spPr>
      </p:sp>
      <p:sp>
        <p:nvSpPr>
          <p:cNvPr id="16" name="Text 11"/>
          <p:cNvSpPr txBox="1"/>
          <p:nvPr/>
        </p:nvSpPr>
        <p:spPr>
          <a:xfrm>
            <a:off x="5038344" y="1508760"/>
            <a:ext cx="2743200" cy="548640"/>
          </a:xfrm>
          <a:prstGeom prst="rect">
            <a:avLst/>
          </a:prstGeom>
          <a:noFill/>
          <a:ln/>
        </p:spPr>
        <p:txBody>
          <a:bodyPr wrap="square" lIns="0" tIns="0" rIns="0" bIns="0" rtlCol="0" anchor="ctr"/>
          <a:lstStyle/>
          <a:p>
            <a:pPr indent="0" marL="0">
              <a:buNone/>
            </a:pPr>
            <a:r>
              <a:rPr lang="en-US" sz="2600" dirty="0">
                <a:solidFill>
                  <a:srgbClr val="7F1D1D"/>
                </a:solidFill>
                <a:latin typeface="Tiro Bangla" pitchFamily="34" charset="0"/>
                <a:ea typeface="Tiro Bangla" pitchFamily="34" charset="-122"/>
                <a:cs typeface="Tiro Bangla" pitchFamily="34" charset="-120"/>
              </a:rPr>
              <a:t>পরের ধাপ</a:t>
            </a:r>
            <a:endParaRPr lang="en-US" sz="2600" dirty="0"/>
          </a:p>
        </p:txBody>
      </p:sp>
      <p:sp>
        <p:nvSpPr>
          <p:cNvPr id="17" name="Shape 12"/>
          <p:cNvSpPr/>
          <p:nvPr/>
        </p:nvSpPr>
        <p:spPr>
          <a:xfrm>
            <a:off x="4306824" y="2331720"/>
            <a:ext cx="3520440" cy="3749040"/>
          </a:xfrm>
          <a:prstGeom prst="roundRect">
            <a:avLst>
              <a:gd name="adj" fmla="val 3117"/>
            </a:avLst>
          </a:prstGeom>
          <a:solidFill>
            <a:srgbClr val="FFFBF2"/>
          </a:solidFill>
          <a:ln w="22225">
            <a:solidFill>
              <a:srgbClr val="F59E0B"/>
            </a:solidFill>
            <a:prstDash val="dash"/>
          </a:ln>
        </p:spPr>
      </p:sp>
      <p:sp>
        <p:nvSpPr>
          <p:cNvPr id="18" name="Shape 13"/>
          <p:cNvSpPr/>
          <p:nvPr/>
        </p:nvSpPr>
        <p:spPr>
          <a:xfrm>
            <a:off x="4581144" y="2606040"/>
            <a:ext cx="685800" cy="685800"/>
          </a:xfrm>
          <a:prstGeom prst="ellipse">
            <a:avLst/>
          </a:prstGeom>
          <a:solidFill>
            <a:srgbClr val="FDEECB"/>
          </a:solidFill>
          <a:ln w="12700">
            <a:solidFill>
              <a:srgbClr val="FDEECB"/>
            </a:solidFill>
            <a:prstDash val="solid"/>
          </a:ln>
        </p:spPr>
      </p:sp>
      <p:pic>
        <p:nvPicPr>
          <p:cNvPr id="19" name="Image 3" descr="preencoded.png">    </p:cNvPr>
          <p:cNvPicPr>
            <a:picLocks noChangeAspect="1"/>
          </p:cNvPicPr>
          <p:nvPr/>
        </p:nvPicPr>
        <p:blipFill>
          <a:blip r:embed="rId4"/>
          <a:stretch>
            <a:fillRect/>
          </a:stretch>
        </p:blipFill>
        <p:spPr>
          <a:xfrm>
            <a:off x="4732020" y="2756916"/>
            <a:ext cx="384048" cy="384048"/>
          </a:xfrm>
          <a:prstGeom prst="rect">
            <a:avLst/>
          </a:prstGeom>
        </p:spPr>
      </p:pic>
      <p:sp>
        <p:nvSpPr>
          <p:cNvPr id="20" name="Text 14"/>
          <p:cNvSpPr txBox="1"/>
          <p:nvPr/>
        </p:nvSpPr>
        <p:spPr>
          <a:xfrm>
            <a:off x="5404104" y="2606040"/>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উৎসবের সাজ</a:t>
            </a:r>
            <a:endParaRPr lang="en-US" sz="1900" dirty="0"/>
          </a:p>
        </p:txBody>
      </p:sp>
      <p:sp>
        <p:nvSpPr>
          <p:cNvPr id="21" name="Shape 15"/>
          <p:cNvSpPr/>
          <p:nvPr/>
        </p:nvSpPr>
        <p:spPr>
          <a:xfrm>
            <a:off x="4581144" y="3721608"/>
            <a:ext cx="685800" cy="685800"/>
          </a:xfrm>
          <a:prstGeom prst="ellipse">
            <a:avLst/>
          </a:prstGeom>
          <a:solidFill>
            <a:srgbClr val="FDEECB"/>
          </a:solidFill>
          <a:ln w="12700">
            <a:solidFill>
              <a:srgbClr val="FDEECB"/>
            </a:solidFill>
            <a:prstDash val="solid"/>
          </a:ln>
        </p:spPr>
      </p:sp>
      <p:pic>
        <p:nvPicPr>
          <p:cNvPr id="22" name="Image 4" descr="preencoded.png">    </p:cNvPr>
          <p:cNvPicPr>
            <a:picLocks noChangeAspect="1"/>
          </p:cNvPicPr>
          <p:nvPr/>
        </p:nvPicPr>
        <p:blipFill>
          <a:blip r:embed="rId5"/>
          <a:stretch>
            <a:fillRect/>
          </a:stretch>
        </p:blipFill>
        <p:spPr>
          <a:xfrm>
            <a:off x="4732020" y="3872484"/>
            <a:ext cx="384048" cy="384048"/>
          </a:xfrm>
          <a:prstGeom prst="rect">
            <a:avLst/>
          </a:prstGeom>
        </p:spPr>
      </p:pic>
      <p:sp>
        <p:nvSpPr>
          <p:cNvPr id="23" name="Text 16"/>
          <p:cNvSpPr txBox="1"/>
          <p:nvPr/>
        </p:nvSpPr>
        <p:spPr>
          <a:xfrm>
            <a:off x="5404104" y="3721608"/>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হাটের মতো দরদাম</a:t>
            </a:r>
            <a:endParaRPr lang="en-US" sz="1900" dirty="0"/>
          </a:p>
        </p:txBody>
      </p:sp>
      <p:sp>
        <p:nvSpPr>
          <p:cNvPr id="24" name="Shape 17"/>
          <p:cNvSpPr/>
          <p:nvPr/>
        </p:nvSpPr>
        <p:spPr>
          <a:xfrm>
            <a:off x="4581144" y="4837176"/>
            <a:ext cx="685800" cy="685800"/>
          </a:xfrm>
          <a:prstGeom prst="ellipse">
            <a:avLst/>
          </a:prstGeom>
          <a:solidFill>
            <a:srgbClr val="FDEECB"/>
          </a:solidFill>
          <a:ln w="12700">
            <a:solidFill>
              <a:srgbClr val="FDEECB"/>
            </a:solidFill>
            <a:prstDash val="solid"/>
          </a:ln>
        </p:spPr>
      </p:sp>
      <p:pic>
        <p:nvPicPr>
          <p:cNvPr id="25" name="Image 5" descr="preencoded.png">    </p:cNvPr>
          <p:cNvPicPr>
            <a:picLocks noChangeAspect="1"/>
          </p:cNvPicPr>
          <p:nvPr/>
        </p:nvPicPr>
        <p:blipFill>
          <a:blip r:embed="rId6"/>
          <a:stretch>
            <a:fillRect/>
          </a:stretch>
        </p:blipFill>
        <p:spPr>
          <a:xfrm>
            <a:off x="4732020" y="4988052"/>
            <a:ext cx="384048" cy="384048"/>
          </a:xfrm>
          <a:prstGeom prst="rect">
            <a:avLst/>
          </a:prstGeom>
        </p:spPr>
      </p:pic>
      <p:sp>
        <p:nvSpPr>
          <p:cNvPr id="26" name="Text 18"/>
          <p:cNvSpPr txBox="1"/>
          <p:nvPr/>
        </p:nvSpPr>
        <p:spPr>
          <a:xfrm>
            <a:off x="5404104" y="4837176"/>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ইংরেজি ভাষা</a:t>
            </a:r>
            <a:endParaRPr lang="en-US" sz="1900" dirty="0"/>
          </a:p>
        </p:txBody>
      </p:sp>
      <p:sp>
        <p:nvSpPr>
          <p:cNvPr id="27" name="Shape 19"/>
          <p:cNvSpPr/>
          <p:nvPr/>
        </p:nvSpPr>
        <p:spPr>
          <a:xfrm>
            <a:off x="8202168" y="1554480"/>
            <a:ext cx="457200" cy="457200"/>
          </a:xfrm>
          <a:prstGeom prst="ellipse">
            <a:avLst/>
          </a:prstGeom>
          <a:solidFill>
            <a:srgbClr val="2F6B3A"/>
          </a:solidFill>
          <a:ln w="38100">
            <a:solidFill>
              <a:srgbClr val="FFF7E6"/>
            </a:solidFill>
            <a:prstDash val="solid"/>
          </a:ln>
        </p:spPr>
      </p:sp>
      <p:sp>
        <p:nvSpPr>
          <p:cNvPr id="28" name="Text 20"/>
          <p:cNvSpPr txBox="1"/>
          <p:nvPr/>
        </p:nvSpPr>
        <p:spPr>
          <a:xfrm>
            <a:off x="8796528" y="1508760"/>
            <a:ext cx="2743200" cy="548640"/>
          </a:xfrm>
          <a:prstGeom prst="rect">
            <a:avLst/>
          </a:prstGeom>
          <a:noFill/>
          <a:ln/>
        </p:spPr>
        <p:txBody>
          <a:bodyPr wrap="square" lIns="0" tIns="0" rIns="0" bIns="0" rtlCol="0" anchor="ctr"/>
          <a:lstStyle/>
          <a:p>
            <a:pPr indent="0" marL="0">
              <a:buNone/>
            </a:pPr>
            <a:r>
              <a:rPr lang="en-US" sz="2600" dirty="0">
                <a:solidFill>
                  <a:srgbClr val="7F1D1D"/>
                </a:solidFill>
                <a:latin typeface="Tiro Bangla" pitchFamily="34" charset="0"/>
                <a:ea typeface="Tiro Bangla" pitchFamily="34" charset="-122"/>
                <a:cs typeface="Tiro Bangla" pitchFamily="34" charset="-120"/>
              </a:rPr>
              <a:t>বড় স্বপ্ন</a:t>
            </a:r>
            <a:endParaRPr lang="en-US" sz="2600" dirty="0"/>
          </a:p>
        </p:txBody>
      </p:sp>
      <p:sp>
        <p:nvSpPr>
          <p:cNvPr id="29" name="Shape 21"/>
          <p:cNvSpPr/>
          <p:nvPr/>
        </p:nvSpPr>
        <p:spPr>
          <a:xfrm>
            <a:off x="8065008" y="2331720"/>
            <a:ext cx="3520440" cy="3749040"/>
          </a:xfrm>
          <a:prstGeom prst="roundRect">
            <a:avLst>
              <a:gd name="adj" fmla="val 3117"/>
            </a:avLst>
          </a:prstGeom>
          <a:solidFill>
            <a:srgbClr val="FFFBF2"/>
          </a:solidFill>
          <a:ln w="22225">
            <a:solidFill>
              <a:srgbClr val="2F6B3A"/>
            </a:solidFill>
            <a:prstDash val="dash"/>
          </a:ln>
        </p:spPr>
      </p:sp>
      <p:sp>
        <p:nvSpPr>
          <p:cNvPr id="30" name="Shape 22"/>
          <p:cNvSpPr/>
          <p:nvPr/>
        </p:nvSpPr>
        <p:spPr>
          <a:xfrm>
            <a:off x="8339328" y="2606040"/>
            <a:ext cx="685800" cy="685800"/>
          </a:xfrm>
          <a:prstGeom prst="ellipse">
            <a:avLst/>
          </a:prstGeom>
          <a:solidFill>
            <a:srgbClr val="FDEECB"/>
          </a:solidFill>
          <a:ln w="12700">
            <a:solidFill>
              <a:srgbClr val="FDEECB"/>
            </a:solidFill>
            <a:prstDash val="solid"/>
          </a:ln>
        </p:spPr>
      </p:sp>
      <p:pic>
        <p:nvPicPr>
          <p:cNvPr id="31" name="Image 6" descr="preencoded.png">    </p:cNvPr>
          <p:cNvPicPr>
            <a:picLocks noChangeAspect="1"/>
          </p:cNvPicPr>
          <p:nvPr/>
        </p:nvPicPr>
        <p:blipFill>
          <a:blip r:embed="rId7"/>
          <a:stretch>
            <a:fillRect/>
          </a:stretch>
        </p:blipFill>
        <p:spPr>
          <a:xfrm>
            <a:off x="8490204" y="2756916"/>
            <a:ext cx="384048" cy="384048"/>
          </a:xfrm>
          <a:prstGeom prst="rect">
            <a:avLst/>
          </a:prstGeom>
        </p:spPr>
      </p:pic>
      <p:sp>
        <p:nvSpPr>
          <p:cNvPr id="32" name="Text 23"/>
          <p:cNvSpPr txBox="1"/>
          <p:nvPr/>
        </p:nvSpPr>
        <p:spPr>
          <a:xfrm>
            <a:off x="9162288" y="2606040"/>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মোবাইল অ্যাপ</a:t>
            </a:r>
            <a:endParaRPr lang="en-US" sz="1900" dirty="0"/>
          </a:p>
        </p:txBody>
      </p:sp>
      <p:sp>
        <p:nvSpPr>
          <p:cNvPr id="33" name="Shape 24"/>
          <p:cNvSpPr/>
          <p:nvPr/>
        </p:nvSpPr>
        <p:spPr>
          <a:xfrm>
            <a:off x="8339328" y="3721608"/>
            <a:ext cx="685800" cy="685800"/>
          </a:xfrm>
          <a:prstGeom prst="ellipse">
            <a:avLst/>
          </a:prstGeom>
          <a:solidFill>
            <a:srgbClr val="FDEECB"/>
          </a:solidFill>
          <a:ln w="12700">
            <a:solidFill>
              <a:srgbClr val="FDEECB"/>
            </a:solidFill>
            <a:prstDash val="solid"/>
          </a:ln>
        </p:spPr>
      </p:sp>
      <p:pic>
        <p:nvPicPr>
          <p:cNvPr id="34" name="Image 7" descr="preencoded.png">    </p:cNvPr>
          <p:cNvPicPr>
            <a:picLocks noChangeAspect="1"/>
          </p:cNvPicPr>
          <p:nvPr/>
        </p:nvPicPr>
        <p:blipFill>
          <a:blip r:embed="rId8"/>
          <a:stretch>
            <a:fillRect/>
          </a:stretch>
        </p:blipFill>
        <p:spPr>
          <a:xfrm>
            <a:off x="8490204" y="3872484"/>
            <a:ext cx="384048" cy="384048"/>
          </a:xfrm>
          <a:prstGeom prst="rect">
            <a:avLst/>
          </a:prstGeom>
        </p:spPr>
      </p:pic>
      <p:sp>
        <p:nvSpPr>
          <p:cNvPr id="35" name="Text 25"/>
          <p:cNvSpPr txBox="1"/>
          <p:nvPr/>
        </p:nvSpPr>
        <p:spPr>
          <a:xfrm>
            <a:off x="9162288" y="3721608"/>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কারিগরদের প্রশিক্ষণ</a:t>
            </a:r>
            <a:endParaRPr lang="en-US" sz="1900" dirty="0"/>
          </a:p>
        </p:txBody>
      </p:sp>
      <p:sp>
        <p:nvSpPr>
          <p:cNvPr id="36" name="Shape 26"/>
          <p:cNvSpPr/>
          <p:nvPr/>
        </p:nvSpPr>
        <p:spPr>
          <a:xfrm>
            <a:off x="8339328" y="4837176"/>
            <a:ext cx="685800" cy="685800"/>
          </a:xfrm>
          <a:prstGeom prst="ellipse">
            <a:avLst/>
          </a:prstGeom>
          <a:solidFill>
            <a:srgbClr val="FDEECB"/>
          </a:solidFill>
          <a:ln w="12700">
            <a:solidFill>
              <a:srgbClr val="FDEECB"/>
            </a:solidFill>
            <a:prstDash val="solid"/>
          </a:ln>
        </p:spPr>
      </p:sp>
      <p:pic>
        <p:nvPicPr>
          <p:cNvPr id="37" name="Image 8" descr="preencoded.png">    </p:cNvPr>
          <p:cNvPicPr>
            <a:picLocks noChangeAspect="1"/>
          </p:cNvPicPr>
          <p:nvPr/>
        </p:nvPicPr>
        <p:blipFill>
          <a:blip r:embed="rId9"/>
          <a:stretch>
            <a:fillRect/>
          </a:stretch>
        </p:blipFill>
        <p:spPr>
          <a:xfrm>
            <a:off x="8490204" y="4988052"/>
            <a:ext cx="384048" cy="384048"/>
          </a:xfrm>
          <a:prstGeom prst="rect">
            <a:avLst/>
          </a:prstGeom>
        </p:spPr>
      </p:pic>
      <p:sp>
        <p:nvSpPr>
          <p:cNvPr id="38" name="Text 27"/>
          <p:cNvSpPr txBox="1"/>
          <p:nvPr/>
        </p:nvSpPr>
        <p:spPr>
          <a:xfrm>
            <a:off x="9162288" y="4837176"/>
            <a:ext cx="2286000" cy="685800"/>
          </a:xfrm>
          <a:prstGeom prst="rect">
            <a:avLst/>
          </a:prstGeom>
          <a:noFill/>
          <a:ln/>
        </p:spPr>
        <p:txBody>
          <a:bodyPr wrap="square" lIns="0" tIns="0" rIns="0" bIns="0" rtlCol="0" anchor="ctr"/>
          <a:lstStyle/>
          <a:p>
            <a:pPr indent="0" marL="0">
              <a:buNone/>
            </a:pPr>
            <a:r>
              <a:rPr lang="en-US" sz="1900" dirty="0">
                <a:solidFill>
                  <a:srgbClr val="2A1A14"/>
                </a:solidFill>
                <a:latin typeface="Baloo Da 2" pitchFamily="34" charset="0"/>
                <a:ea typeface="Baloo Da 2" pitchFamily="34" charset="-122"/>
                <a:cs typeface="Baloo Da 2" pitchFamily="34" charset="-120"/>
              </a:rPr>
              <a:t>বিদেশে পাঠানো</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 y="1143000"/>
            <a:ext cx="868680" cy="868680"/>
          </a:xfrm>
          <a:prstGeom prst="rect">
            <a:avLst/>
          </a:prstGeom>
        </p:spPr>
      </p:pic>
      <p:sp>
        <p:nvSpPr>
          <p:cNvPr id="3" name="Text 0"/>
          <p:cNvSpPr txBox="1"/>
          <p:nvPr/>
        </p:nvSpPr>
        <p:spPr>
          <a:xfrm>
            <a:off x="1938528" y="1371600"/>
            <a:ext cx="5029200" cy="411480"/>
          </a:xfrm>
          <a:prstGeom prst="rect">
            <a:avLst/>
          </a:prstGeom>
          <a:noFill/>
          <a:ln/>
        </p:spPr>
        <p:txBody>
          <a:bodyPr wrap="square" lIns="0" tIns="0" rIns="0" bIns="0" rtlCol="0" anchor="t"/>
          <a:lstStyle/>
          <a:p>
            <a:pPr indent="0" marL="0">
              <a:buNone/>
            </a:pPr>
            <a:r>
              <a:rPr lang="en-US" sz="1800" spc="300" kern="0" dirty="0">
                <a:solidFill>
                  <a:srgbClr val="F59E0B"/>
                </a:solidFill>
                <a:latin typeface="Baloo Da 2" pitchFamily="34" charset="0"/>
                <a:ea typeface="Baloo Da 2" pitchFamily="34" charset="-122"/>
                <a:cs typeface="Baloo Da 2" pitchFamily="34" charset="-120"/>
              </a:rPr>
              <a:t>Bangaliyana Bazar</a:t>
            </a:r>
            <a:endParaRPr lang="en-US" sz="1800" dirty="0"/>
          </a:p>
        </p:txBody>
      </p:sp>
      <p:sp>
        <p:nvSpPr>
          <p:cNvPr id="4" name="Text 1"/>
          <p:cNvSpPr txBox="1"/>
          <p:nvPr/>
        </p:nvSpPr>
        <p:spPr>
          <a:xfrm>
            <a:off x="914400" y="2194560"/>
            <a:ext cx="6583680" cy="1463040"/>
          </a:xfrm>
          <a:prstGeom prst="rect">
            <a:avLst/>
          </a:prstGeom>
          <a:noFill/>
          <a:ln/>
        </p:spPr>
        <p:txBody>
          <a:bodyPr wrap="square" lIns="0" tIns="0" rIns="0" bIns="0" rtlCol="0" anchor="ctr"/>
          <a:lstStyle/>
          <a:p>
            <a:pPr indent="0" marL="0">
              <a:buNone/>
            </a:pPr>
            <a:r>
              <a:rPr lang="en-US" sz="8000" dirty="0">
                <a:solidFill>
                  <a:srgbClr val="FFF7E6"/>
                </a:solidFill>
                <a:latin typeface="Tiro Bangla" pitchFamily="34" charset="0"/>
                <a:ea typeface="Tiro Bangla" pitchFamily="34" charset="-122"/>
                <a:cs typeface="Tiro Bangla" pitchFamily="34" charset="-120"/>
              </a:rPr>
              <a:t>ধন্যবাদ</a:t>
            </a:r>
            <a:endParaRPr lang="en-US" sz="8000" dirty="0"/>
          </a:p>
        </p:txBody>
      </p:sp>
      <p:sp>
        <p:nvSpPr>
          <p:cNvPr id="5" name="Shape 2"/>
          <p:cNvSpPr/>
          <p:nvPr/>
        </p:nvSpPr>
        <p:spPr>
          <a:xfrm>
            <a:off x="914400" y="3931920"/>
            <a:ext cx="6217920" cy="0"/>
          </a:xfrm>
          <a:prstGeom prst="line">
            <a:avLst/>
          </a:prstGeom>
          <a:noFill/>
          <a:ln w="25400">
            <a:solidFill>
              <a:srgbClr val="F59E0B"/>
            </a:solidFill>
            <a:prstDash val="dash"/>
          </a:ln>
        </p:spPr>
      </p:sp>
      <p:sp>
        <p:nvSpPr>
          <p:cNvPr id="6" name="Shape 3"/>
          <p:cNvSpPr/>
          <p:nvPr/>
        </p:nvSpPr>
        <p:spPr>
          <a:xfrm>
            <a:off x="987552" y="4014216"/>
            <a:ext cx="6144768" cy="0"/>
          </a:xfrm>
          <a:prstGeom prst="line">
            <a:avLst/>
          </a:prstGeom>
          <a:noFill/>
          <a:ln w="25400">
            <a:solidFill>
              <a:srgbClr val="FFF7E6"/>
            </a:solidFill>
            <a:prstDash val="dash"/>
          </a:ln>
        </p:spPr>
      </p:sp>
      <p:sp>
        <p:nvSpPr>
          <p:cNvPr id="7" name="Text 4"/>
          <p:cNvSpPr txBox="1"/>
          <p:nvPr/>
        </p:nvSpPr>
        <p:spPr>
          <a:xfrm>
            <a:off x="914400" y="4251960"/>
            <a:ext cx="6583680" cy="640080"/>
          </a:xfrm>
          <a:prstGeom prst="rect">
            <a:avLst/>
          </a:prstGeom>
          <a:noFill/>
          <a:ln/>
        </p:spPr>
        <p:txBody>
          <a:bodyPr wrap="square" lIns="0" tIns="0" rIns="0" bIns="0" rtlCol="0" anchor="t"/>
          <a:lstStyle/>
          <a:p>
            <a:pPr indent="0" marL="0">
              <a:buNone/>
            </a:pPr>
            <a:r>
              <a:rPr lang="en-US" sz="2600" dirty="0">
                <a:solidFill>
                  <a:srgbClr val="FDE68A"/>
                </a:solidFill>
                <a:latin typeface="Baloo Da 2" pitchFamily="34" charset="0"/>
                <a:ea typeface="Baloo Da 2" pitchFamily="34" charset="-122"/>
                <a:cs typeface="Baloo Da 2" pitchFamily="34" charset="-120"/>
              </a:rPr>
              <a:t>কোনো প্রশ্ন থাকলে নির্দ্বিধায় জিজ্ঞেস করুন।</a:t>
            </a:r>
            <a:endParaRPr lang="en-US" sz="2600" dirty="0"/>
          </a:p>
        </p:txBody>
      </p:sp>
      <p:pic>
        <p:nvPicPr>
          <p:cNvPr id="8" name="Image 1" descr="preencoded.png">    </p:cNvPr>
          <p:cNvPicPr>
            <a:picLocks noChangeAspect="1"/>
          </p:cNvPicPr>
          <p:nvPr/>
        </p:nvPicPr>
        <p:blipFill>
          <a:blip r:embed="rId2">
            <a:alphaModFix amt="90000"/>
          </a:blip>
          <a:stretch>
            <a:fillRect/>
          </a:stretch>
        </p:blipFill>
        <p:spPr>
          <a:xfrm>
            <a:off x="7543800" y="640080"/>
            <a:ext cx="3566160" cy="3566160"/>
          </a:xfrm>
          <a:prstGeom prst="rect">
            <a:avLst/>
          </a:prstGeom>
        </p:spPr>
      </p:pic>
      <p:pic>
        <p:nvPicPr>
          <p:cNvPr id="9" name="Image 2" descr="/home/naseem/projects/bangaliyana-bazar/presentation/shots/mascot.png">    </p:cNvPr>
          <p:cNvPicPr>
            <a:picLocks noChangeAspect="1"/>
          </p:cNvPicPr>
          <p:nvPr/>
        </p:nvPicPr>
        <p:blipFill>
          <a:blip r:embed="rId3"/>
          <a:stretch>
            <a:fillRect/>
          </a:stretch>
        </p:blipFill>
        <p:spPr>
          <a:xfrm>
            <a:off x="8366760" y="1417320"/>
            <a:ext cx="2462035" cy="5120640"/>
          </a:xfrm>
          <a:prstGeom prst="rect">
            <a:avLst/>
          </a:prstGeom>
        </p:spPr>
      </p:pic>
    </p:spTree>
  </p:cSld>
  <p:clrMapOvr>
    <a:masterClrMapping/>
  </p:clrMapOvr>
</p:sld>
</file>

<file path=ppt/theme/theme1.xml><?xml version="1.0" encoding="utf-8"?>
<a:theme xmlns:a="http://schemas.openxmlformats.org/drawingml/2006/main" name="Bangaliyana Bazar">
  <a:themeElements>
    <a:clrScheme name="Bangaliyana Bazar">
      <a:dk1>
        <a:srgbClr val="2A1A14"/>
      </a:dk1>
      <a:lt1>
        <a:srgbClr val="FFFBF2"/>
      </a:lt1>
      <a:dk2>
        <a:srgbClr val="7F1D1D"/>
      </a:dk2>
      <a:lt2>
        <a:srgbClr val="FFF7E6"/>
      </a:lt2>
      <a:accent1>
        <a:srgbClr val="B91C1C"/>
      </a:accent1>
      <a:accent2>
        <a:srgbClr val="F59E0B"/>
      </a:accent2>
      <a:accent3>
        <a:srgbClr val="1F3B73"/>
      </a:accent3>
      <a:accent4>
        <a:srgbClr val="2F6B3A"/>
      </a:accent4>
      <a:accent5>
        <a:srgbClr val="BE185D"/>
      </a:accent5>
      <a:accent6>
        <a:srgbClr val="C2410C"/>
      </a:accent6>
      <a:hlink>
        <a:srgbClr val="1F3B73"/>
      </a:hlink>
      <a:folHlink>
        <a:srgbClr val="BE185D"/>
      </a:folHlink>
    </a:clrScheme>
    <a:fontScheme name="Bangaliyana Bazar">
      <a:majorFont>
        <a:latin typeface="Tiro Bangla"/>
        <a:ea typeface=""/>
        <a:cs typeface="Tiro Bangla"/>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Tiro Bangl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loo Da 2"/>
        <a:ea typeface=""/>
        <a:cs typeface="Baloo Da 2"/>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Baloo Da 2"/>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Bangaliyana Bazar</dc:title>
  <dc:subject>PptxGenJS Presentation</dc:subject>
  <dc:creator>Bangaliyana Bazar team</dc:creator>
  <cp:lastModifiedBy>Bangaliyana Bazar team</cp:lastModifiedBy>
  <cp:revision>1</cp:revision>
  <dcterms:created xsi:type="dcterms:W3CDTF">2026-10-28T22:00:36Z</dcterms:created>
  <dcterms:modified xsi:type="dcterms:W3CDTF">2026-10-28T22:00:36Z</dcterms:modified>
</cp:coreProperties>
</file>